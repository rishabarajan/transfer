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going into the complete architecture, I was also introduced to the basics of Guidewire. Guidewire is an insurance-focused platform that supports different core areas of an insurance business. The three products I understood at a high level are PolicyCenter, ClaimCenter and BillingCenter. PolicyCenter deals with policy management, ClaimCenter focuses on claims, and BillingCenter handles billing and payments. Since our KT is mainly focused on the policy side, PolicyCenter is the most relevant part from our perspective. With that basic understanding of Guidewire, we can now connect the different components we discussed and look at the overall end-to-end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is how I connected the different topics covered in the KT. We start with the motor insurance products and the customer channel, move through the quotation and pricing process using CRS with SSP's ML-based support, and then proceed towards policy creation and issuance. Once the policy is active, different transactions such as MTA, Pre-Renewal and Renewal can take place. So rather than looking at these as individual components, I understood them as different stages and supporting systems within the overall insurance policy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7863840" y="-2194560"/>
            <a:ext cx="6400800" cy="6400800"/>
          </a:xfrm>
          <a:prstGeom prst="ellipse">
            <a:avLst/>
          </a:prstGeom>
          <a:solidFill>
            <a:srgbClr val="2DD4BF">
              <a:alpha val="10000"/>
            </a:srgbClr>
          </a:solidFill>
          <a:ln/>
        </p:spPr>
      </p:sp>
      <p:sp>
        <p:nvSpPr>
          <p:cNvPr id="3" name="Shape 1"/>
          <p:cNvSpPr/>
          <p:nvPr/>
        </p:nvSpPr>
        <p:spPr>
          <a:xfrm>
            <a:off x="-2377440" y="3291840"/>
            <a:ext cx="5486400" cy="5486400"/>
          </a:xfrm>
          <a:prstGeom prst="ellipse">
            <a:avLst/>
          </a:prstGeom>
          <a:solidFill>
            <a:srgbClr val="5FA8F5">
              <a:alpha val="9000"/>
            </a:srgbClr>
          </a:solidFill>
          <a:ln/>
        </p:spPr>
      </p:sp>
      <p:sp>
        <p:nvSpPr>
          <p:cNvPr id="4" name="Shape 2"/>
          <p:cNvSpPr/>
          <p:nvPr/>
        </p:nvSpPr>
        <p:spPr>
          <a:xfrm>
            <a:off x="9692640" y="4206240"/>
            <a:ext cx="3657600" cy="3657600"/>
          </a:xfrm>
          <a:prstGeom prst="ellipse">
            <a:avLst/>
          </a:prstGeom>
          <a:solidFill>
            <a:srgbClr val="B18CF5">
              <a:alpha val="10000"/>
            </a:srgbClr>
          </a:solidFill>
          <a:ln/>
        </p:spPr>
      </p:sp>
      <p:sp>
        <p:nvSpPr>
          <p:cNvPr id="5" name="Shape 3"/>
          <p:cNvSpPr/>
          <p:nvPr/>
        </p:nvSpPr>
        <p:spPr>
          <a:xfrm>
            <a:off x="457200" y="4892040"/>
            <a:ext cx="128016" cy="128016"/>
          </a:xfrm>
          <a:prstGeom prst="roundRect">
            <a:avLst>
              <a:gd name="adj" fmla="val 50000"/>
            </a:avLst>
          </a:prstGeom>
          <a:solidFill>
            <a:srgbClr val="5FA8F5"/>
          </a:solidFill>
          <a:ln/>
        </p:spPr>
      </p:sp>
      <p:sp>
        <p:nvSpPr>
          <p:cNvPr id="6" name="Text 4"/>
          <p:cNvSpPr/>
          <p:nvPr/>
        </p:nvSpPr>
        <p:spPr>
          <a:xfrm>
            <a:off x="676656" y="4818888"/>
            <a:ext cx="1554480" cy="274320"/>
          </a:xfrm>
          <a:prstGeom prst="rect">
            <a:avLst/>
          </a:prstGeom>
          <a:noFill/>
          <a:ln/>
        </p:spPr>
        <p:txBody>
          <a:bodyPr wrap="square" rtlCol="0" anchor="ctr"/>
          <a:lstStyle/>
          <a:p>
            <a:pPr indent="0" marL="0">
              <a:buNone/>
            </a:pPr>
            <a:r>
              <a:rPr lang="en-US" sz="950" spc="100" kern="0" dirty="0">
                <a:solidFill>
                  <a:srgbClr val="97A3BE"/>
                </a:solidFill>
                <a:latin typeface="Calibri" pitchFamily="34" charset="0"/>
                <a:ea typeface="Calibri" pitchFamily="34" charset="-122"/>
                <a:cs typeface="Calibri" pitchFamily="34" charset="-120"/>
              </a:rPr>
              <a:t>LV LEGACY</a:t>
            </a:r>
            <a:endParaRPr lang="en-US" sz="950" dirty="0"/>
          </a:p>
        </p:txBody>
      </p:sp>
      <p:sp>
        <p:nvSpPr>
          <p:cNvPr id="7" name="Shape 5"/>
          <p:cNvSpPr/>
          <p:nvPr/>
        </p:nvSpPr>
        <p:spPr>
          <a:xfrm>
            <a:off x="2057400" y="4892040"/>
            <a:ext cx="128016" cy="128016"/>
          </a:xfrm>
          <a:prstGeom prst="roundRect">
            <a:avLst>
              <a:gd name="adj" fmla="val 50000"/>
            </a:avLst>
          </a:prstGeom>
          <a:solidFill>
            <a:srgbClr val="2DD4BF"/>
          </a:solidFill>
          <a:ln/>
        </p:spPr>
      </p:sp>
      <p:sp>
        <p:nvSpPr>
          <p:cNvPr id="8" name="Text 6"/>
          <p:cNvSpPr/>
          <p:nvPr/>
        </p:nvSpPr>
        <p:spPr>
          <a:xfrm>
            <a:off x="2276856" y="4818888"/>
            <a:ext cx="1554480" cy="274320"/>
          </a:xfrm>
          <a:prstGeom prst="rect">
            <a:avLst/>
          </a:prstGeom>
          <a:noFill/>
          <a:ln/>
        </p:spPr>
        <p:txBody>
          <a:bodyPr wrap="square" rtlCol="0" anchor="ctr"/>
          <a:lstStyle/>
          <a:p>
            <a:pPr indent="0" marL="0">
              <a:buNone/>
            </a:pPr>
            <a:r>
              <a:rPr lang="en-US" sz="950" spc="100" kern="0" dirty="0">
                <a:solidFill>
                  <a:srgbClr val="97A3BE"/>
                </a:solidFill>
                <a:latin typeface="Calibri" pitchFamily="34" charset="0"/>
                <a:ea typeface="Calibri" pitchFamily="34" charset="-122"/>
                <a:cs typeface="Calibri" pitchFamily="34" charset="-120"/>
              </a:rPr>
              <a:t>ALLIANZ HOME</a:t>
            </a:r>
            <a:endParaRPr lang="en-US" sz="950" dirty="0"/>
          </a:p>
        </p:txBody>
      </p:sp>
      <p:sp>
        <p:nvSpPr>
          <p:cNvPr id="9" name="Shape 7"/>
          <p:cNvSpPr/>
          <p:nvPr/>
        </p:nvSpPr>
        <p:spPr>
          <a:xfrm>
            <a:off x="3657600" y="4892040"/>
            <a:ext cx="128016" cy="128016"/>
          </a:xfrm>
          <a:prstGeom prst="roundRect">
            <a:avLst>
              <a:gd name="adj" fmla="val 50000"/>
            </a:avLst>
          </a:prstGeom>
          <a:solidFill>
            <a:srgbClr val="FB923C"/>
          </a:solidFill>
          <a:ln/>
        </p:spPr>
      </p:sp>
      <p:sp>
        <p:nvSpPr>
          <p:cNvPr id="10" name="Text 8"/>
          <p:cNvSpPr/>
          <p:nvPr/>
        </p:nvSpPr>
        <p:spPr>
          <a:xfrm>
            <a:off x="3877056" y="4818888"/>
            <a:ext cx="1554480" cy="274320"/>
          </a:xfrm>
          <a:prstGeom prst="rect">
            <a:avLst/>
          </a:prstGeom>
          <a:noFill/>
          <a:ln/>
        </p:spPr>
        <p:txBody>
          <a:bodyPr wrap="square" rtlCol="0" anchor="ctr"/>
          <a:lstStyle/>
          <a:p>
            <a:pPr indent="0" marL="0">
              <a:buNone/>
            </a:pPr>
            <a:r>
              <a:rPr lang="en-US" sz="950" spc="100" kern="0" dirty="0">
                <a:solidFill>
                  <a:srgbClr val="97A3BE"/>
                </a:solidFill>
                <a:latin typeface="Calibri" pitchFamily="34" charset="0"/>
                <a:ea typeface="Calibri" pitchFamily="34" charset="-122"/>
                <a:cs typeface="Calibri" pitchFamily="34" charset="-120"/>
              </a:rPr>
              <a:t>ALLIANZ MOTOR</a:t>
            </a:r>
            <a:endParaRPr lang="en-US" sz="950" dirty="0"/>
          </a:p>
        </p:txBody>
      </p:sp>
      <p:sp>
        <p:nvSpPr>
          <p:cNvPr id="11" name="Shape 9"/>
          <p:cNvSpPr/>
          <p:nvPr/>
        </p:nvSpPr>
        <p:spPr>
          <a:xfrm>
            <a:off x="5257800" y="4892040"/>
            <a:ext cx="128016" cy="128016"/>
          </a:xfrm>
          <a:prstGeom prst="roundRect">
            <a:avLst>
              <a:gd name="adj" fmla="val 50000"/>
            </a:avLst>
          </a:prstGeom>
          <a:solidFill>
            <a:srgbClr val="B18CF5"/>
          </a:solidFill>
          <a:ln/>
        </p:spPr>
      </p:sp>
      <p:sp>
        <p:nvSpPr>
          <p:cNvPr id="12" name="Text 10"/>
          <p:cNvSpPr/>
          <p:nvPr/>
        </p:nvSpPr>
        <p:spPr>
          <a:xfrm>
            <a:off x="5477256" y="4818888"/>
            <a:ext cx="1554480" cy="274320"/>
          </a:xfrm>
          <a:prstGeom prst="rect">
            <a:avLst/>
          </a:prstGeom>
          <a:noFill/>
          <a:ln/>
        </p:spPr>
        <p:txBody>
          <a:bodyPr wrap="square" rtlCol="0" anchor="ctr"/>
          <a:lstStyle/>
          <a:p>
            <a:pPr indent="0" marL="0">
              <a:buNone/>
            </a:pPr>
            <a:r>
              <a:rPr lang="en-US" sz="950" spc="100" kern="0" dirty="0">
                <a:solidFill>
                  <a:srgbClr val="97A3BE"/>
                </a:solidFill>
                <a:latin typeface="Calibri" pitchFamily="34" charset="0"/>
                <a:ea typeface="Calibri" pitchFamily="34" charset="-122"/>
                <a:cs typeface="Calibri" pitchFamily="34" charset="-120"/>
              </a:rPr>
              <a:t>AUTOMATION &amp; AI</a:t>
            </a:r>
            <a:endParaRPr lang="en-US" sz="950" dirty="0"/>
          </a:p>
        </p:txBody>
      </p:sp>
      <p:sp>
        <p:nvSpPr>
          <p:cNvPr id="13" name="Text 11"/>
          <p:cNvSpPr/>
          <p:nvPr/>
        </p:nvSpPr>
        <p:spPr>
          <a:xfrm>
            <a:off x="457200" y="1965960"/>
            <a:ext cx="8229600" cy="365760"/>
          </a:xfrm>
          <a:prstGeom prst="rect">
            <a:avLst/>
          </a:prstGeom>
          <a:noFill/>
          <a:ln/>
        </p:spPr>
        <p:txBody>
          <a:bodyPr wrap="square" rtlCol="0" anchor="ctr"/>
          <a:lstStyle/>
          <a:p>
            <a:pPr indent="0" marL="0">
              <a:buNone/>
            </a:pPr>
            <a:r>
              <a:rPr lang="en-US" sz="1400" b="1" spc="300" kern="0" dirty="0">
                <a:solidFill>
                  <a:srgbClr val="2DD4BF"/>
                </a:solidFill>
                <a:latin typeface="Calibri" pitchFamily="34" charset="0"/>
                <a:ea typeface="Calibri" pitchFamily="34" charset="-122"/>
                <a:cs typeface="Calibri" pitchFamily="34" charset="-120"/>
              </a:rPr>
              <a:t>GI PRICING  •  KNOWLEDGE TRANSFER</a:t>
            </a:r>
            <a:endParaRPr lang="en-US" sz="1400" dirty="0"/>
          </a:p>
        </p:txBody>
      </p:sp>
      <p:sp>
        <p:nvSpPr>
          <p:cNvPr id="14" name="Text 12"/>
          <p:cNvSpPr/>
          <p:nvPr/>
        </p:nvSpPr>
        <p:spPr>
          <a:xfrm>
            <a:off x="457200" y="2331720"/>
            <a:ext cx="10515600" cy="914400"/>
          </a:xfrm>
          <a:prstGeom prst="rect">
            <a:avLst/>
          </a:prstGeom>
          <a:noFill/>
          <a:ln/>
        </p:spPr>
        <p:txBody>
          <a:bodyPr wrap="square" rtlCol="0" anchor="ctr"/>
          <a:lstStyle/>
          <a:p>
            <a:pPr indent="0" marL="0">
              <a:buNone/>
            </a:pPr>
            <a:r>
              <a:rPr lang="en-US" sz="4600" b="1" dirty="0">
                <a:solidFill>
                  <a:srgbClr val="F3F6FB"/>
                </a:solidFill>
                <a:latin typeface="Cambria" pitchFamily="34" charset="0"/>
                <a:ea typeface="Cambria" pitchFamily="34" charset="-122"/>
                <a:cs typeface="Cambria" pitchFamily="34" charset="-120"/>
              </a:rPr>
              <a:t>Allianz UK Insurance</a:t>
            </a:r>
            <a:endParaRPr lang="en-US" sz="4600" dirty="0"/>
          </a:p>
        </p:txBody>
      </p:sp>
      <p:sp>
        <p:nvSpPr>
          <p:cNvPr id="15" name="Text 13"/>
          <p:cNvSpPr/>
          <p:nvPr/>
        </p:nvSpPr>
        <p:spPr>
          <a:xfrm>
            <a:off x="457200" y="3154680"/>
            <a:ext cx="10515600" cy="640080"/>
          </a:xfrm>
          <a:prstGeom prst="rect">
            <a:avLst/>
          </a:prstGeom>
          <a:noFill/>
          <a:ln/>
        </p:spPr>
        <p:txBody>
          <a:bodyPr wrap="square" rtlCol="0" anchor="ctr"/>
          <a:lstStyle/>
          <a:p>
            <a:pPr indent="0" marL="0">
              <a:buNone/>
            </a:pPr>
            <a:r>
              <a:rPr lang="en-US" sz="2600" i="1" dirty="0">
                <a:solidFill>
                  <a:srgbClr val="97A3BE"/>
                </a:solidFill>
                <a:latin typeface="Cambria" pitchFamily="34" charset="0"/>
                <a:ea typeface="Cambria" pitchFamily="34" charset="-122"/>
                <a:cs typeface="Cambria" pitchFamily="34" charset="-120"/>
              </a:rPr>
              <a:t>Reverse Knowledge Transfer</a:t>
            </a:r>
            <a:endParaRPr lang="en-US" sz="2600" dirty="0"/>
          </a:p>
        </p:txBody>
      </p:sp>
      <p:sp>
        <p:nvSpPr>
          <p:cNvPr id="16" name="Shape 14"/>
          <p:cNvSpPr/>
          <p:nvPr/>
        </p:nvSpPr>
        <p:spPr>
          <a:xfrm>
            <a:off x="475488" y="3977640"/>
            <a:ext cx="2926080" cy="0"/>
          </a:xfrm>
          <a:prstGeom prst="line">
            <a:avLst/>
          </a:prstGeom>
          <a:noFill/>
          <a:ln w="19050">
            <a:solidFill>
              <a:srgbClr val="26324E"/>
            </a:solidFill>
            <a:prstDash val="solid"/>
          </a:ln>
        </p:spPr>
      </p:sp>
      <p:sp>
        <p:nvSpPr>
          <p:cNvPr id="17" name="Text 15"/>
          <p:cNvSpPr/>
          <p:nvPr/>
        </p:nvSpPr>
        <p:spPr>
          <a:xfrm>
            <a:off x="457200" y="4160520"/>
            <a:ext cx="7315200" cy="365760"/>
          </a:xfrm>
          <a:prstGeom prst="rect">
            <a:avLst/>
          </a:prstGeom>
          <a:noFill/>
          <a:ln/>
        </p:spPr>
        <p:txBody>
          <a:bodyPr wrap="square" rtlCol="0" anchor="ctr"/>
          <a:lstStyle/>
          <a:p>
            <a:pPr indent="0" marL="0">
              <a:buNone/>
            </a:pPr>
            <a:r>
              <a:rPr lang="en-US" sz="1300" dirty="0">
                <a:solidFill>
                  <a:srgbClr val="6B7690"/>
                </a:solidFill>
                <a:latin typeface="Calibri" pitchFamily="34" charset="0"/>
                <a:ea typeface="Calibri" pitchFamily="34" charset="-122"/>
                <a:cs typeface="Calibri" pitchFamily="34" charset="-120"/>
              </a:rPr>
              <a:t>Pricing  •  Testing  •  Architecture  •  Automation</a:t>
            </a:r>
            <a:endParaRPr lang="en-US" sz="1300" dirty="0"/>
          </a:p>
        </p:txBody>
      </p:sp>
      <p:sp>
        <p:nvSpPr>
          <p:cNvPr id="18" name="Text 16"/>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PROGRAM OVERVIEW</a:t>
            </a:r>
            <a:endParaRPr lang="en-US" sz="900" dirty="0"/>
          </a:p>
        </p:txBody>
      </p:sp>
      <p:sp>
        <p:nvSpPr>
          <p:cNvPr id="19" name="Text 17"/>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20" name="Text 18"/>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5FA8F5">
              <a:alpha val="12000"/>
            </a:srgbClr>
          </a:solidFill>
          <a:ln/>
        </p:spPr>
      </p:sp>
      <p:sp>
        <p:nvSpPr>
          <p:cNvPr id="3" name="Shape 1"/>
          <p:cNvSpPr/>
          <p:nvPr/>
        </p:nvSpPr>
        <p:spPr>
          <a:xfrm>
            <a:off x="-1280160" y="6035040"/>
            <a:ext cx="2377440" cy="2377440"/>
          </a:xfrm>
          <a:prstGeom prst="ellipse">
            <a:avLst/>
          </a:prstGeom>
          <a:solidFill>
            <a:srgbClr val="5FA8F5">
              <a:alpha val="8000"/>
            </a:srgbClr>
          </a:solidFill>
          <a:ln/>
        </p:spPr>
      </p:sp>
      <p:sp>
        <p:nvSpPr>
          <p:cNvPr id="4" name="Shape 2"/>
          <p:cNvSpPr/>
          <p:nvPr/>
        </p:nvSpPr>
        <p:spPr>
          <a:xfrm>
            <a:off x="457200" y="384048"/>
            <a:ext cx="146304" cy="146304"/>
          </a:xfrm>
          <a:prstGeom prst="roundRect">
            <a:avLst>
              <a:gd name="adj" fmla="val 50000"/>
            </a:avLst>
          </a:prstGeom>
          <a:solidFill>
            <a:srgbClr val="5FA8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5FA8F5"/>
                </a:solidFill>
                <a:latin typeface="Calibri" pitchFamily="34" charset="0"/>
                <a:ea typeface="Calibri" pitchFamily="34" charset="-122"/>
                <a:cs typeface="Calibri" pitchFamily="34" charset="-120"/>
              </a:rPr>
              <a:t>PROGRAM OVERVIEW</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Allianz UK — Pricing Project Overview</a:t>
            </a:r>
            <a:endParaRPr lang="en-US" sz="3000" dirty="0"/>
          </a:p>
        </p:txBody>
      </p:sp>
      <p:sp>
        <p:nvSpPr>
          <p:cNvPr id="7" name="Shape 5"/>
          <p:cNvSpPr/>
          <p:nvPr/>
        </p:nvSpPr>
        <p:spPr>
          <a:xfrm>
            <a:off x="457200" y="1645920"/>
            <a:ext cx="5394960" cy="3246120"/>
          </a:xfrm>
          <a:prstGeom prst="roundRect">
            <a:avLst>
              <a:gd name="adj" fmla="val 2254"/>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874520"/>
            <a:ext cx="91440" cy="91440"/>
          </a:xfrm>
          <a:prstGeom prst="roundRect">
            <a:avLst>
              <a:gd name="adj" fmla="val 50000"/>
            </a:avLst>
          </a:prstGeom>
          <a:solidFill>
            <a:srgbClr val="5FA8F5"/>
          </a:solidFill>
          <a:ln/>
        </p:spPr>
      </p:sp>
      <p:sp>
        <p:nvSpPr>
          <p:cNvPr id="9" name="Text 7"/>
          <p:cNvSpPr/>
          <p:nvPr/>
        </p:nvSpPr>
        <p:spPr>
          <a:xfrm>
            <a:off x="868680" y="1792224"/>
            <a:ext cx="4754880" cy="292608"/>
          </a:xfrm>
          <a:prstGeom prst="rect">
            <a:avLst/>
          </a:prstGeom>
          <a:noFill/>
          <a:ln/>
        </p:spPr>
        <p:txBody>
          <a:bodyPr wrap="square" rtlCol="0" anchor="ctr"/>
          <a:lstStyle/>
          <a:p>
            <a:pPr indent="0" marL="0">
              <a:buNone/>
            </a:pPr>
            <a:r>
              <a:rPr lang="en-US" sz="1400" b="1" dirty="0">
                <a:solidFill>
                  <a:srgbClr val="5FA8F5"/>
                </a:solidFill>
                <a:latin typeface="Calibri" pitchFamily="34" charset="0"/>
                <a:ea typeface="Calibri" pitchFamily="34" charset="-122"/>
                <a:cs typeface="Calibri" pitchFamily="34" charset="-120"/>
              </a:rPr>
              <a:t>Project Snapshot</a:t>
            </a:r>
            <a:endParaRPr lang="en-US" sz="1400" dirty="0"/>
          </a:p>
        </p:txBody>
      </p:sp>
      <p:sp>
        <p:nvSpPr>
          <p:cNvPr id="10" name="Text 8"/>
          <p:cNvSpPr/>
          <p:nvPr/>
        </p:nvSpPr>
        <p:spPr>
          <a:xfrm>
            <a:off x="731520" y="2231136"/>
            <a:ext cx="4846320" cy="2478024"/>
          </a:xfrm>
          <a:prstGeom prst="rect">
            <a:avLst/>
          </a:prstGeom>
          <a:noFill/>
          <a:ln/>
        </p:spPr>
        <p:txBody>
          <a:bodyPr wrap="square" rtlCol="0" anchor="t"/>
          <a:lstStyle/>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Domain: UK Insurance</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Primary Focus: Insurance Pricing</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Key Business Areas: Motor Insurance, Home Insurance</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Objective: support the quotation &amp; pricing journey — processing customer, vehicle/property and other data to generate the right premium.</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Testing Focus: validate pricing flows, integrations, ML-driven predictions and overall premium generation.</a:t>
            </a:r>
            <a:endParaRPr lang="en-US" sz="1150" dirty="0"/>
          </a:p>
        </p:txBody>
      </p:sp>
      <p:sp>
        <p:nvSpPr>
          <p:cNvPr id="11" name="Shape 9"/>
          <p:cNvSpPr/>
          <p:nvPr/>
        </p:nvSpPr>
        <p:spPr>
          <a:xfrm>
            <a:off x="457200" y="5074920"/>
            <a:ext cx="5394960" cy="960120"/>
          </a:xfrm>
          <a:prstGeom prst="roundRect">
            <a:avLst>
              <a:gd name="adj" fmla="val 7619"/>
            </a:avLst>
          </a:prstGeom>
          <a:solidFill>
            <a:srgbClr val="101A30"/>
          </a:solidFill>
          <a:ln w="12700">
            <a:solidFill>
              <a:srgbClr val="5FA8F5"/>
            </a:solidFill>
            <a:prstDash val="solid"/>
          </a:ln>
        </p:spPr>
      </p:sp>
      <p:sp>
        <p:nvSpPr>
          <p:cNvPr id="12" name="Text 10"/>
          <p:cNvSpPr/>
          <p:nvPr/>
        </p:nvSpPr>
        <p:spPr>
          <a:xfrm>
            <a:off x="640080" y="5074920"/>
            <a:ext cx="5029200" cy="960120"/>
          </a:xfrm>
          <a:prstGeom prst="rect">
            <a:avLst/>
          </a:prstGeom>
          <a:noFill/>
          <a:ln/>
        </p:spPr>
        <p:txBody>
          <a:bodyPr wrap="square" rtlCol="0" anchor="ctr"/>
          <a:lstStyle/>
          <a:p>
            <a:pPr indent="0" marL="0">
              <a:buNone/>
            </a:pPr>
            <a:r>
              <a:rPr lang="en-US" sz="1050" i="1" dirty="0">
                <a:solidFill>
                  <a:srgbClr val="97A3BE"/>
                </a:solidFill>
                <a:latin typeface="Calibri" pitchFamily="34" charset="0"/>
                <a:ea typeface="Calibri" pitchFamily="34" charset="-122"/>
                <a:cs typeface="Calibri" pitchFamily="34" charset="-120"/>
              </a:rPr>
              <a:t>Pricing Streams:  Retail Motor  |  Retail Home  |  Allianz Home  |  Allianz Motor (Future)</a:t>
            </a:r>
            <a:endParaRPr lang="en-US" sz="1050" dirty="0"/>
          </a:p>
        </p:txBody>
      </p:sp>
      <p:sp>
        <p:nvSpPr>
          <p:cNvPr id="13" name="Shape 11"/>
          <p:cNvSpPr/>
          <p:nvPr/>
        </p:nvSpPr>
        <p:spPr>
          <a:xfrm>
            <a:off x="7315200" y="1600200"/>
            <a:ext cx="2926080" cy="438912"/>
          </a:xfrm>
          <a:prstGeom prst="roundRect">
            <a:avLst>
              <a:gd name="adj" fmla="val 16667"/>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7360920" y="1600200"/>
            <a:ext cx="2834640" cy="438912"/>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ALLIANZ UK</a:t>
            </a:r>
            <a:endParaRPr lang="en-US" sz="1200" dirty="0"/>
          </a:p>
        </p:txBody>
      </p:sp>
      <p:sp>
        <p:nvSpPr>
          <p:cNvPr id="15" name="Shape 13"/>
          <p:cNvSpPr/>
          <p:nvPr/>
        </p:nvSpPr>
        <p:spPr>
          <a:xfrm>
            <a:off x="8778240" y="2039112"/>
            <a:ext cx="914" cy="182880"/>
          </a:xfrm>
          <a:prstGeom prst="line">
            <a:avLst/>
          </a:prstGeom>
          <a:noFill/>
          <a:ln w="25400">
            <a:solidFill>
              <a:srgbClr val="5FA8F5"/>
            </a:solidFill>
            <a:prstDash val="solid"/>
            <a:tailEnd type="triangle"/>
          </a:ln>
        </p:spPr>
      </p:sp>
      <p:sp>
        <p:nvSpPr>
          <p:cNvPr id="16" name="Shape 14"/>
          <p:cNvSpPr/>
          <p:nvPr/>
        </p:nvSpPr>
        <p:spPr>
          <a:xfrm>
            <a:off x="6858000" y="2221992"/>
            <a:ext cx="3840480" cy="438912"/>
          </a:xfrm>
          <a:prstGeom prst="roundRect">
            <a:avLst>
              <a:gd name="adj" fmla="val 16667"/>
            </a:avLst>
          </a:prstGeom>
          <a:solidFill>
            <a:srgbClr val="18233F"/>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6903720" y="2221992"/>
            <a:ext cx="3749040" cy="438912"/>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INSURANCE PRICING</a:t>
            </a:r>
            <a:endParaRPr lang="en-US" sz="1200" dirty="0"/>
          </a:p>
        </p:txBody>
      </p:sp>
      <p:sp>
        <p:nvSpPr>
          <p:cNvPr id="18" name="Shape 16"/>
          <p:cNvSpPr/>
          <p:nvPr/>
        </p:nvSpPr>
        <p:spPr>
          <a:xfrm>
            <a:off x="8778240" y="2660904"/>
            <a:ext cx="914" cy="201168"/>
          </a:xfrm>
          <a:prstGeom prst="line">
            <a:avLst/>
          </a:prstGeom>
          <a:noFill/>
          <a:ln w="25400">
            <a:solidFill>
              <a:srgbClr val="5FA8F5"/>
            </a:solidFill>
            <a:prstDash val="solid"/>
            <a:tailEnd type="triangle"/>
          </a:ln>
        </p:spPr>
      </p:sp>
      <p:sp>
        <p:nvSpPr>
          <p:cNvPr id="19" name="Shape 17"/>
          <p:cNvSpPr/>
          <p:nvPr/>
        </p:nvSpPr>
        <p:spPr>
          <a:xfrm>
            <a:off x="6720840" y="2862072"/>
            <a:ext cx="1828800" cy="822960"/>
          </a:xfrm>
          <a:prstGeom prst="roundRect">
            <a:avLst>
              <a:gd name="adj" fmla="val 8889"/>
            </a:avLst>
          </a:prstGeom>
          <a:solidFill>
            <a:srgbClr val="3A2414"/>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6766560" y="2862072"/>
            <a:ext cx="1737360" cy="822960"/>
          </a:xfrm>
          <a:prstGeom prst="rect">
            <a:avLst/>
          </a:prstGeom>
          <a:noFill/>
          <a:ln/>
        </p:spPr>
        <p:txBody>
          <a:bodyPr wrap="square" rtlCol="0" anchor="ctr"/>
          <a:lstStyle/>
          <a:p>
            <a:pPr algn="ctr" indent="0" marL="0">
              <a:buNone/>
            </a:pPr>
            <a:r>
              <a:rPr lang="en-US" sz="1150" b="1" dirty="0">
                <a:solidFill>
                  <a:srgbClr val="FB923C"/>
                </a:solidFill>
                <a:latin typeface="Calibri" pitchFamily="34" charset="0"/>
                <a:ea typeface="Calibri" pitchFamily="34" charset="-122"/>
                <a:cs typeface="Calibri" pitchFamily="34" charset="-120"/>
              </a:rPr>
              <a:t>MOTOR</a:t>
            </a:r>
            <a:endParaRPr lang="en-US" sz="1150" dirty="0"/>
          </a:p>
          <a:p>
            <a:pPr algn="ctr" indent="0" marL="0">
              <a:buNone/>
            </a:pPr>
            <a:endParaRPr lang="en-US" sz="1150" dirty="0"/>
          </a:p>
          <a:p>
            <a:pPr algn="ctr" indent="0" marL="0">
              <a:buNone/>
            </a:pPr>
            <a:r>
              <a:rPr lang="en-US" sz="1150" b="1" dirty="0">
                <a:solidFill>
                  <a:srgbClr val="FB923C"/>
                </a:solidFill>
                <a:latin typeface="Calibri" pitchFamily="34" charset="0"/>
                <a:ea typeface="Calibri" pitchFamily="34" charset="-122"/>
                <a:cs typeface="Calibri" pitchFamily="34" charset="-120"/>
              </a:rPr>
              <a:t>CRS + ML Models</a:t>
            </a:r>
            <a:endParaRPr lang="en-US" sz="1150" dirty="0"/>
          </a:p>
        </p:txBody>
      </p:sp>
      <p:sp>
        <p:nvSpPr>
          <p:cNvPr id="21" name="Shape 19"/>
          <p:cNvSpPr/>
          <p:nvPr/>
        </p:nvSpPr>
        <p:spPr>
          <a:xfrm>
            <a:off x="9006840" y="2862072"/>
            <a:ext cx="1828800" cy="822960"/>
          </a:xfrm>
          <a:prstGeom prst="roundRect">
            <a:avLst>
              <a:gd name="adj" fmla="val 8889"/>
            </a:avLst>
          </a:prstGeom>
          <a:solidFill>
            <a:srgbClr val="0F3D3A"/>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2" name="Text 20"/>
          <p:cNvSpPr/>
          <p:nvPr/>
        </p:nvSpPr>
        <p:spPr>
          <a:xfrm>
            <a:off x="9052560" y="2862072"/>
            <a:ext cx="1737360" cy="822960"/>
          </a:xfrm>
          <a:prstGeom prst="rect">
            <a:avLst/>
          </a:prstGeom>
          <a:noFill/>
          <a:ln/>
        </p:spPr>
        <p:txBody>
          <a:bodyPr wrap="square" rtlCol="0" anchor="ctr"/>
          <a:lstStyle/>
          <a:p>
            <a:pPr algn="ctr" indent="0" marL="0">
              <a:buNone/>
            </a:pPr>
            <a:r>
              <a:rPr lang="en-US" sz="1150" b="1" dirty="0">
                <a:solidFill>
                  <a:srgbClr val="2DD4BF"/>
                </a:solidFill>
                <a:latin typeface="Calibri" pitchFamily="34" charset="0"/>
                <a:ea typeface="Calibri" pitchFamily="34" charset="-122"/>
                <a:cs typeface="Calibri" pitchFamily="34" charset="-120"/>
              </a:rPr>
              <a:t>HOME</a:t>
            </a:r>
            <a:endParaRPr lang="en-US" sz="1150" dirty="0"/>
          </a:p>
          <a:p>
            <a:pPr algn="ctr" indent="0" marL="0">
              <a:buNone/>
            </a:pPr>
            <a:endParaRPr lang="en-US" sz="1150" dirty="0"/>
          </a:p>
          <a:p>
            <a:pPr algn="ctr" indent="0" marL="0">
              <a:buNone/>
            </a:pPr>
            <a:r>
              <a:rPr lang="en-US" sz="1150" b="1" dirty="0">
                <a:solidFill>
                  <a:srgbClr val="2DD4BF"/>
                </a:solidFill>
                <a:latin typeface="Calibri" pitchFamily="34" charset="0"/>
                <a:ea typeface="Calibri" pitchFamily="34" charset="-122"/>
                <a:cs typeface="Calibri" pitchFamily="34" charset="-120"/>
              </a:rPr>
              <a:t>Athena</a:t>
            </a:r>
            <a:endParaRPr lang="en-US" sz="1150" dirty="0"/>
          </a:p>
        </p:txBody>
      </p:sp>
      <p:sp>
        <p:nvSpPr>
          <p:cNvPr id="23" name="Shape 21"/>
          <p:cNvSpPr/>
          <p:nvPr/>
        </p:nvSpPr>
        <p:spPr>
          <a:xfrm>
            <a:off x="7635240" y="2862072"/>
            <a:ext cx="1143000" cy="0"/>
          </a:xfrm>
          <a:prstGeom prst="line">
            <a:avLst/>
          </a:prstGeom>
          <a:noFill/>
          <a:ln w="16510">
            <a:solidFill>
              <a:srgbClr val="5FA8F5"/>
            </a:solidFill>
            <a:prstDash val="solid"/>
          </a:ln>
        </p:spPr>
      </p:sp>
      <p:sp>
        <p:nvSpPr>
          <p:cNvPr id="24" name="Shape 22"/>
          <p:cNvSpPr/>
          <p:nvPr/>
        </p:nvSpPr>
        <p:spPr>
          <a:xfrm>
            <a:off x="8778240" y="2862072"/>
            <a:ext cx="1143000" cy="0"/>
          </a:xfrm>
          <a:prstGeom prst="line">
            <a:avLst/>
          </a:prstGeom>
          <a:noFill/>
          <a:ln w="16510">
            <a:solidFill>
              <a:srgbClr val="5FA8F5"/>
            </a:solidFill>
            <a:prstDash val="solid"/>
          </a:ln>
        </p:spPr>
      </p:sp>
      <p:sp>
        <p:nvSpPr>
          <p:cNvPr id="25" name="Shape 23"/>
          <p:cNvSpPr/>
          <p:nvPr/>
        </p:nvSpPr>
        <p:spPr>
          <a:xfrm>
            <a:off x="8778240" y="3703320"/>
            <a:ext cx="914" cy="256032"/>
          </a:xfrm>
          <a:prstGeom prst="line">
            <a:avLst/>
          </a:prstGeom>
          <a:noFill/>
          <a:ln w="25400">
            <a:solidFill>
              <a:srgbClr val="5FA8F5"/>
            </a:solidFill>
            <a:prstDash val="solid"/>
            <a:tailEnd type="triangle"/>
          </a:ln>
        </p:spPr>
      </p:sp>
      <p:sp>
        <p:nvSpPr>
          <p:cNvPr id="26" name="Shape 24"/>
          <p:cNvSpPr/>
          <p:nvPr/>
        </p:nvSpPr>
        <p:spPr>
          <a:xfrm>
            <a:off x="6949440" y="3977640"/>
            <a:ext cx="3657600" cy="502920"/>
          </a:xfrm>
          <a:prstGeom prst="roundRect">
            <a:avLst>
              <a:gd name="adj" fmla="val 14545"/>
            </a:avLst>
          </a:prstGeom>
          <a:solidFill>
            <a:srgbClr val="3D3117"/>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6995160" y="3977640"/>
            <a:ext cx="3566160" cy="502920"/>
          </a:xfrm>
          <a:prstGeom prst="rect">
            <a:avLst/>
          </a:prstGeom>
          <a:noFill/>
          <a:ln/>
        </p:spPr>
        <p:txBody>
          <a:bodyPr wrap="square" rtlCol="0" anchor="ctr"/>
          <a:lstStyle/>
          <a:p>
            <a:pPr algn="ctr" indent="0" marL="0">
              <a:buNone/>
            </a:pPr>
            <a:r>
              <a:rPr lang="en-US" sz="1300" b="1" dirty="0">
                <a:solidFill>
                  <a:srgbClr val="F5B942"/>
                </a:solidFill>
                <a:latin typeface="Calibri" pitchFamily="34" charset="0"/>
                <a:ea typeface="Calibri" pitchFamily="34" charset="-122"/>
                <a:cs typeface="Calibri" pitchFamily="34" charset="-120"/>
              </a:rPr>
              <a:t>PREMIUM / QUOTE</a:t>
            </a:r>
            <a:endParaRPr lang="en-US" sz="1300" dirty="0"/>
          </a:p>
        </p:txBody>
      </p:sp>
      <p:sp>
        <p:nvSpPr>
          <p:cNvPr id="28" name="Text 26"/>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PROGRAM OVERVIEW</a:t>
            </a:r>
            <a:endParaRPr lang="en-US" sz="900" dirty="0"/>
          </a:p>
        </p:txBody>
      </p:sp>
      <p:sp>
        <p:nvSpPr>
          <p:cNvPr id="29" name="Text 27"/>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0" name="Text 28"/>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5FA8F5">
              <a:alpha val="12000"/>
            </a:srgbClr>
          </a:solidFill>
          <a:ln/>
        </p:spPr>
      </p:sp>
      <p:sp>
        <p:nvSpPr>
          <p:cNvPr id="3" name="Shape 1"/>
          <p:cNvSpPr/>
          <p:nvPr/>
        </p:nvSpPr>
        <p:spPr>
          <a:xfrm>
            <a:off x="-1280160" y="6035040"/>
            <a:ext cx="2377440" cy="2377440"/>
          </a:xfrm>
          <a:prstGeom prst="ellipse">
            <a:avLst/>
          </a:prstGeom>
          <a:solidFill>
            <a:srgbClr val="5FA8F5">
              <a:alpha val="8000"/>
            </a:srgbClr>
          </a:solidFill>
          <a:ln/>
        </p:spPr>
      </p:sp>
      <p:sp>
        <p:nvSpPr>
          <p:cNvPr id="4" name="Text 2"/>
          <p:cNvSpPr/>
          <p:nvPr/>
        </p:nvSpPr>
        <p:spPr>
          <a:xfrm>
            <a:off x="8869680" y="182880"/>
            <a:ext cx="2834640" cy="1463040"/>
          </a:xfrm>
          <a:prstGeom prst="rect">
            <a:avLst/>
          </a:prstGeom>
          <a:noFill/>
          <a:ln/>
        </p:spPr>
        <p:txBody>
          <a:bodyPr wrap="square" rtlCol="0" anchor="ctr"/>
          <a:lstStyle/>
          <a:p>
            <a:pPr algn="r" indent="0" marL="0">
              <a:buNone/>
            </a:pPr>
            <a:r>
              <a:rPr lang="en-US" sz="9000" b="1" dirty="0">
                <a:solidFill>
                  <a:srgbClr val="5FA8F5">
                    <a:alpha val="18000"/>
                  </a:srgbClr>
                </a:solidFill>
                <a:latin typeface="Cambria" pitchFamily="34" charset="0"/>
                <a:ea typeface="Cambria" pitchFamily="34" charset="-122"/>
                <a:cs typeface="Cambria" pitchFamily="34" charset="-120"/>
              </a:rPr>
              <a:t>01</a:t>
            </a:r>
            <a:endParaRPr lang="en-US" sz="9000" dirty="0"/>
          </a:p>
        </p:txBody>
      </p:sp>
      <p:sp>
        <p:nvSpPr>
          <p:cNvPr id="5" name="Shape 3"/>
          <p:cNvSpPr/>
          <p:nvPr/>
        </p:nvSpPr>
        <p:spPr>
          <a:xfrm>
            <a:off x="457200" y="384048"/>
            <a:ext cx="146304" cy="146304"/>
          </a:xfrm>
          <a:prstGeom prst="roundRect">
            <a:avLst>
              <a:gd name="adj" fmla="val 50000"/>
            </a:avLst>
          </a:prstGeom>
          <a:solidFill>
            <a:srgbClr val="5FA8F5"/>
          </a:solidFill>
          <a:ln/>
        </p:spPr>
      </p:sp>
      <p:sp>
        <p:nvSpPr>
          <p:cNvPr id="6" name="Text 4"/>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5FA8F5"/>
                </a:solidFill>
                <a:latin typeface="Calibri" pitchFamily="34" charset="0"/>
                <a:ea typeface="Calibri" pitchFamily="34" charset="-122"/>
                <a:cs typeface="Calibri" pitchFamily="34" charset="-120"/>
              </a:rPr>
              <a:t>SECTION 01</a:t>
            </a:r>
            <a:endParaRPr lang="en-US" sz="1250" dirty="0"/>
          </a:p>
        </p:txBody>
      </p:sp>
      <p:sp>
        <p:nvSpPr>
          <p:cNvPr id="7" name="Text 5"/>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LV Legacy Systems — Introduction</a:t>
            </a:r>
            <a:endParaRPr lang="en-US" sz="3000" dirty="0"/>
          </a:p>
        </p:txBody>
      </p:sp>
      <p:sp>
        <p:nvSpPr>
          <p:cNvPr id="8" name="Shape 6"/>
          <p:cNvSpPr/>
          <p:nvPr/>
        </p:nvSpPr>
        <p:spPr>
          <a:xfrm>
            <a:off x="457200" y="1600200"/>
            <a:ext cx="5394960" cy="4389120"/>
          </a:xfrm>
          <a:prstGeom prst="roundRect">
            <a:avLst>
              <a:gd name="adj" fmla="val 1667"/>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9" name="Shape 7"/>
          <p:cNvSpPr/>
          <p:nvPr/>
        </p:nvSpPr>
        <p:spPr>
          <a:xfrm>
            <a:off x="685800" y="1828800"/>
            <a:ext cx="91440" cy="91440"/>
          </a:xfrm>
          <a:prstGeom prst="roundRect">
            <a:avLst>
              <a:gd name="adj" fmla="val 50000"/>
            </a:avLst>
          </a:prstGeom>
          <a:solidFill>
            <a:srgbClr val="5FA8F5"/>
          </a:solidFill>
          <a:ln/>
        </p:spPr>
      </p:sp>
      <p:sp>
        <p:nvSpPr>
          <p:cNvPr id="10" name="Text 8"/>
          <p:cNvSpPr/>
          <p:nvPr/>
        </p:nvSpPr>
        <p:spPr>
          <a:xfrm>
            <a:off x="868680" y="1746504"/>
            <a:ext cx="4754880" cy="292608"/>
          </a:xfrm>
          <a:prstGeom prst="rect">
            <a:avLst/>
          </a:prstGeom>
          <a:noFill/>
          <a:ln/>
        </p:spPr>
        <p:txBody>
          <a:bodyPr wrap="square" rtlCol="0" anchor="ctr"/>
          <a:lstStyle/>
          <a:p>
            <a:pPr indent="0" marL="0">
              <a:buNone/>
            </a:pPr>
            <a:r>
              <a:rPr lang="en-US" sz="1400" b="1" dirty="0">
                <a:solidFill>
                  <a:srgbClr val="5FA8F5"/>
                </a:solidFill>
                <a:latin typeface="Calibri" pitchFamily="34" charset="0"/>
                <a:ea typeface="Calibri" pitchFamily="34" charset="-122"/>
                <a:cs typeface="Calibri" pitchFamily="34" charset="-120"/>
              </a:rPr>
              <a:t>Business &amp; System Context</a:t>
            </a:r>
            <a:endParaRPr lang="en-US" sz="1400" dirty="0"/>
          </a:p>
        </p:txBody>
      </p:sp>
      <p:sp>
        <p:nvSpPr>
          <p:cNvPr id="11" name="Text 9"/>
          <p:cNvSpPr/>
          <p:nvPr/>
        </p:nvSpPr>
        <p:spPr>
          <a:xfrm>
            <a:off x="731520" y="2185416"/>
            <a:ext cx="4846320" cy="3621024"/>
          </a:xfrm>
          <a:prstGeom prst="rect">
            <a:avLst/>
          </a:prstGeom>
          <a:noFill/>
          <a:ln/>
        </p:spPr>
        <p:txBody>
          <a:bodyPr wrap="square" rtlCol="0" anchor="t"/>
          <a:lstStyle/>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Business Area: UK Motor Insurance</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Key Products: Car, Classic Car, Motorbike</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Core Pricing System: CRS — Customer Rating System</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Pricing Support: SSP — third-party platform integrated with CRS for ML-based predictions</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Key ML Models: Motor MP (Market Pricing), Motor Risk, Motor PE (Payment Eligibility)</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Key Channels: Call Centre, Quote &amp; Buy (Web), Aggregator</a:t>
            </a:r>
            <a:endParaRPr lang="en-US" sz="1150" dirty="0"/>
          </a:p>
        </p:txBody>
      </p:sp>
      <p:sp>
        <p:nvSpPr>
          <p:cNvPr id="12" name="Shape 10"/>
          <p:cNvSpPr/>
          <p:nvPr/>
        </p:nvSpPr>
        <p:spPr>
          <a:xfrm>
            <a:off x="6309360" y="1600200"/>
            <a:ext cx="5394960" cy="457200"/>
          </a:xfrm>
          <a:prstGeom prst="roundRect">
            <a:avLst>
              <a:gd name="adj" fmla="val 16000"/>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3" name="Text 11"/>
          <p:cNvSpPr/>
          <p:nvPr/>
        </p:nvSpPr>
        <p:spPr>
          <a:xfrm>
            <a:off x="6446520" y="1600200"/>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LV LEGACY</a:t>
            </a:r>
            <a:endParaRPr lang="en-US" sz="1250" dirty="0"/>
          </a:p>
        </p:txBody>
      </p:sp>
      <p:sp>
        <p:nvSpPr>
          <p:cNvPr id="14" name="Shape 12"/>
          <p:cNvSpPr/>
          <p:nvPr/>
        </p:nvSpPr>
        <p:spPr>
          <a:xfrm>
            <a:off x="9006840" y="2084832"/>
            <a:ext cx="914" cy="82296"/>
          </a:xfrm>
          <a:prstGeom prst="line">
            <a:avLst/>
          </a:prstGeom>
          <a:noFill/>
          <a:ln w="25400">
            <a:solidFill>
              <a:srgbClr val="5FA8F5"/>
            </a:solidFill>
            <a:prstDash val="solid"/>
            <a:tailEnd type="triangle"/>
          </a:ln>
        </p:spPr>
      </p:sp>
      <p:sp>
        <p:nvSpPr>
          <p:cNvPr id="15" name="Shape 13"/>
          <p:cNvSpPr/>
          <p:nvPr/>
        </p:nvSpPr>
        <p:spPr>
          <a:xfrm>
            <a:off x="6309360" y="2194560"/>
            <a:ext cx="5394960" cy="457200"/>
          </a:xfrm>
          <a:prstGeom prst="roundRect">
            <a:avLst>
              <a:gd name="adj" fmla="val 16000"/>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6" name="Text 14"/>
          <p:cNvSpPr/>
          <p:nvPr/>
        </p:nvSpPr>
        <p:spPr>
          <a:xfrm>
            <a:off x="6446520" y="2194560"/>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MOTOR INSURANCE</a:t>
            </a:r>
            <a:endParaRPr lang="en-US" sz="1250" dirty="0"/>
          </a:p>
        </p:txBody>
      </p:sp>
      <p:sp>
        <p:nvSpPr>
          <p:cNvPr id="17" name="Shape 15"/>
          <p:cNvSpPr/>
          <p:nvPr/>
        </p:nvSpPr>
        <p:spPr>
          <a:xfrm>
            <a:off x="6377940" y="2834640"/>
            <a:ext cx="1600200" cy="457200"/>
          </a:xfrm>
          <a:prstGeom prst="roundRect">
            <a:avLst>
              <a:gd name="adj" fmla="val 16000"/>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8" name="Text 16"/>
          <p:cNvSpPr/>
          <p:nvPr/>
        </p:nvSpPr>
        <p:spPr>
          <a:xfrm>
            <a:off x="6423660" y="2834640"/>
            <a:ext cx="1508760" cy="457200"/>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CAR</a:t>
            </a:r>
            <a:endParaRPr lang="en-US" sz="1000" dirty="0"/>
          </a:p>
        </p:txBody>
      </p:sp>
      <p:sp>
        <p:nvSpPr>
          <p:cNvPr id="19" name="Shape 17"/>
          <p:cNvSpPr/>
          <p:nvPr/>
        </p:nvSpPr>
        <p:spPr>
          <a:xfrm>
            <a:off x="9006840" y="2697480"/>
            <a:ext cx="-1828800" cy="137160"/>
          </a:xfrm>
          <a:prstGeom prst="line">
            <a:avLst/>
          </a:prstGeom>
          <a:noFill/>
          <a:ln w="16510">
            <a:solidFill>
              <a:srgbClr val="5FA8F5"/>
            </a:solidFill>
            <a:prstDash val="solid"/>
          </a:ln>
        </p:spPr>
      </p:sp>
      <p:sp>
        <p:nvSpPr>
          <p:cNvPr id="20" name="Shape 18"/>
          <p:cNvSpPr/>
          <p:nvPr/>
        </p:nvSpPr>
        <p:spPr>
          <a:xfrm>
            <a:off x="8206740" y="2834640"/>
            <a:ext cx="1600200" cy="457200"/>
          </a:xfrm>
          <a:prstGeom prst="roundRect">
            <a:avLst>
              <a:gd name="adj" fmla="val 16000"/>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1" name="Text 19"/>
          <p:cNvSpPr/>
          <p:nvPr/>
        </p:nvSpPr>
        <p:spPr>
          <a:xfrm>
            <a:off x="8252460" y="2834640"/>
            <a:ext cx="1508760" cy="457200"/>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CLASSIC CAR</a:t>
            </a:r>
            <a:endParaRPr lang="en-US" sz="1000" dirty="0"/>
          </a:p>
        </p:txBody>
      </p:sp>
      <p:sp>
        <p:nvSpPr>
          <p:cNvPr id="22" name="Shape 20"/>
          <p:cNvSpPr/>
          <p:nvPr/>
        </p:nvSpPr>
        <p:spPr>
          <a:xfrm>
            <a:off x="9006840" y="2697480"/>
            <a:ext cx="0" cy="137160"/>
          </a:xfrm>
          <a:prstGeom prst="line">
            <a:avLst/>
          </a:prstGeom>
          <a:noFill/>
          <a:ln w="16510">
            <a:solidFill>
              <a:srgbClr val="5FA8F5"/>
            </a:solidFill>
            <a:prstDash val="solid"/>
          </a:ln>
        </p:spPr>
      </p:sp>
      <p:sp>
        <p:nvSpPr>
          <p:cNvPr id="23" name="Shape 21"/>
          <p:cNvSpPr/>
          <p:nvPr/>
        </p:nvSpPr>
        <p:spPr>
          <a:xfrm>
            <a:off x="10035540" y="2834640"/>
            <a:ext cx="1600200" cy="457200"/>
          </a:xfrm>
          <a:prstGeom prst="roundRect">
            <a:avLst>
              <a:gd name="adj" fmla="val 16000"/>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10081260" y="2834640"/>
            <a:ext cx="1508760" cy="457200"/>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MOTORBIKE</a:t>
            </a:r>
            <a:endParaRPr lang="en-US" sz="1000" dirty="0"/>
          </a:p>
        </p:txBody>
      </p:sp>
      <p:sp>
        <p:nvSpPr>
          <p:cNvPr id="25" name="Shape 23"/>
          <p:cNvSpPr/>
          <p:nvPr/>
        </p:nvSpPr>
        <p:spPr>
          <a:xfrm>
            <a:off x="9006840" y="2697480"/>
            <a:ext cx="1828800" cy="137160"/>
          </a:xfrm>
          <a:prstGeom prst="line">
            <a:avLst/>
          </a:prstGeom>
          <a:noFill/>
          <a:ln w="16510">
            <a:solidFill>
              <a:srgbClr val="5FA8F5"/>
            </a:solidFill>
            <a:prstDash val="solid"/>
          </a:ln>
        </p:spPr>
      </p:sp>
      <p:sp>
        <p:nvSpPr>
          <p:cNvPr id="26" name="Shape 24"/>
          <p:cNvSpPr/>
          <p:nvPr/>
        </p:nvSpPr>
        <p:spPr>
          <a:xfrm>
            <a:off x="9006840" y="3310128"/>
            <a:ext cx="914" cy="201168"/>
          </a:xfrm>
          <a:prstGeom prst="line">
            <a:avLst/>
          </a:prstGeom>
          <a:noFill/>
          <a:ln w="25400">
            <a:solidFill>
              <a:srgbClr val="5FA8F5"/>
            </a:solidFill>
            <a:prstDash val="solid"/>
            <a:tailEnd type="triangle"/>
          </a:ln>
        </p:spPr>
      </p:sp>
      <p:sp>
        <p:nvSpPr>
          <p:cNvPr id="27" name="Shape 25"/>
          <p:cNvSpPr/>
          <p:nvPr/>
        </p:nvSpPr>
        <p:spPr>
          <a:xfrm>
            <a:off x="6720840" y="3529584"/>
            <a:ext cx="4572000" cy="438912"/>
          </a:xfrm>
          <a:prstGeom prst="roundRect">
            <a:avLst>
              <a:gd name="adj" fmla="val 16667"/>
            </a:avLst>
          </a:prstGeom>
          <a:solidFill>
            <a:srgbClr val="18233F"/>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8" name="Text 26"/>
          <p:cNvSpPr/>
          <p:nvPr/>
        </p:nvSpPr>
        <p:spPr>
          <a:xfrm>
            <a:off x="6766560" y="3529584"/>
            <a:ext cx="448056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CRS</a:t>
            </a:r>
            <a:endParaRPr lang="en-US" sz="1250" dirty="0"/>
          </a:p>
        </p:txBody>
      </p:sp>
      <p:sp>
        <p:nvSpPr>
          <p:cNvPr id="29" name="Shape 27"/>
          <p:cNvSpPr/>
          <p:nvPr/>
        </p:nvSpPr>
        <p:spPr>
          <a:xfrm>
            <a:off x="9006840" y="3986784"/>
            <a:ext cx="914" cy="182880"/>
          </a:xfrm>
          <a:prstGeom prst="line">
            <a:avLst/>
          </a:prstGeom>
          <a:noFill/>
          <a:ln w="25400">
            <a:solidFill>
              <a:srgbClr val="5FA8F5"/>
            </a:solidFill>
            <a:prstDash val="solid"/>
            <a:tailEnd type="triangle"/>
          </a:ln>
        </p:spPr>
      </p:sp>
      <p:sp>
        <p:nvSpPr>
          <p:cNvPr id="30" name="Shape 28"/>
          <p:cNvSpPr/>
          <p:nvPr/>
        </p:nvSpPr>
        <p:spPr>
          <a:xfrm>
            <a:off x="6720840" y="4187952"/>
            <a:ext cx="4572000" cy="438912"/>
          </a:xfrm>
          <a:prstGeom prst="roundRect">
            <a:avLst>
              <a:gd name="adj" fmla="val 16667"/>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31" name="Text 29"/>
          <p:cNvSpPr/>
          <p:nvPr/>
        </p:nvSpPr>
        <p:spPr>
          <a:xfrm>
            <a:off x="6766560" y="4187952"/>
            <a:ext cx="4480560" cy="438912"/>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SSP</a:t>
            </a:r>
            <a:endParaRPr lang="en-US" sz="1200" dirty="0"/>
          </a:p>
        </p:txBody>
      </p:sp>
      <p:sp>
        <p:nvSpPr>
          <p:cNvPr id="32" name="Shape 30"/>
          <p:cNvSpPr/>
          <p:nvPr/>
        </p:nvSpPr>
        <p:spPr>
          <a:xfrm>
            <a:off x="9006840" y="4645152"/>
            <a:ext cx="914" cy="182880"/>
          </a:xfrm>
          <a:prstGeom prst="line">
            <a:avLst/>
          </a:prstGeom>
          <a:noFill/>
          <a:ln w="25400">
            <a:solidFill>
              <a:srgbClr val="5FA8F5"/>
            </a:solidFill>
            <a:prstDash val="solid"/>
            <a:tailEnd type="triangle"/>
          </a:ln>
        </p:spPr>
      </p:sp>
      <p:sp>
        <p:nvSpPr>
          <p:cNvPr id="33" name="Shape 31"/>
          <p:cNvSpPr/>
          <p:nvPr/>
        </p:nvSpPr>
        <p:spPr>
          <a:xfrm>
            <a:off x="6309360" y="4846320"/>
            <a:ext cx="5394960" cy="502920"/>
          </a:xfrm>
          <a:prstGeom prst="roundRect">
            <a:avLst>
              <a:gd name="adj" fmla="val 14545"/>
            </a:avLst>
          </a:prstGeom>
          <a:solidFill>
            <a:srgbClr val="3D3117"/>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34" name="Text 32"/>
          <p:cNvSpPr/>
          <p:nvPr/>
        </p:nvSpPr>
        <p:spPr>
          <a:xfrm>
            <a:off x="6355080" y="4846320"/>
            <a:ext cx="5303520" cy="502920"/>
          </a:xfrm>
          <a:prstGeom prst="rect">
            <a:avLst/>
          </a:prstGeom>
          <a:noFill/>
          <a:ln/>
        </p:spPr>
        <p:txBody>
          <a:bodyPr wrap="square" rtlCol="0" anchor="ctr"/>
          <a:lstStyle/>
          <a:p>
            <a:pPr algn="ctr" indent="0" marL="0">
              <a:buNone/>
            </a:pPr>
            <a:r>
              <a:rPr lang="en-US" sz="1200" b="1" dirty="0">
                <a:solidFill>
                  <a:srgbClr val="F5B942"/>
                </a:solidFill>
                <a:latin typeface="Calibri" pitchFamily="34" charset="0"/>
                <a:ea typeface="Calibri" pitchFamily="34" charset="-122"/>
                <a:cs typeface="Calibri" pitchFamily="34" charset="-120"/>
              </a:rPr>
              <a:t>ML-Based Predictions</a:t>
            </a:r>
            <a:endParaRPr lang="en-US" sz="1200" dirty="0"/>
          </a:p>
        </p:txBody>
      </p:sp>
      <p:sp>
        <p:nvSpPr>
          <p:cNvPr id="35" name="Text 33"/>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LV LEGACY</a:t>
            </a:r>
            <a:endParaRPr lang="en-US" sz="900" dirty="0"/>
          </a:p>
        </p:txBody>
      </p:sp>
      <p:sp>
        <p:nvSpPr>
          <p:cNvPr id="36" name="Text 34"/>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7" name="Text 35"/>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5FA8F5">
              <a:alpha val="12000"/>
            </a:srgbClr>
          </a:solidFill>
          <a:ln/>
        </p:spPr>
      </p:sp>
      <p:sp>
        <p:nvSpPr>
          <p:cNvPr id="3" name="Shape 1"/>
          <p:cNvSpPr/>
          <p:nvPr/>
        </p:nvSpPr>
        <p:spPr>
          <a:xfrm>
            <a:off x="-1280160" y="6035040"/>
            <a:ext cx="2377440" cy="2377440"/>
          </a:xfrm>
          <a:prstGeom prst="ellipse">
            <a:avLst/>
          </a:prstGeom>
          <a:solidFill>
            <a:srgbClr val="5FA8F5">
              <a:alpha val="8000"/>
            </a:srgbClr>
          </a:solidFill>
          <a:ln/>
        </p:spPr>
      </p:sp>
      <p:sp>
        <p:nvSpPr>
          <p:cNvPr id="4" name="Shape 2"/>
          <p:cNvSpPr/>
          <p:nvPr/>
        </p:nvSpPr>
        <p:spPr>
          <a:xfrm>
            <a:off x="457200" y="384048"/>
            <a:ext cx="146304" cy="146304"/>
          </a:xfrm>
          <a:prstGeom prst="roundRect">
            <a:avLst>
              <a:gd name="adj" fmla="val 50000"/>
            </a:avLst>
          </a:prstGeom>
          <a:solidFill>
            <a:srgbClr val="5FA8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5FA8F5"/>
                </a:solidFill>
                <a:latin typeface="Calibri" pitchFamily="34" charset="0"/>
                <a:ea typeface="Calibri" pitchFamily="34" charset="-122"/>
                <a:cs typeface="Calibri" pitchFamily="34" charset="-120"/>
              </a:rPr>
              <a:t>SECTION 01</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Policy Creation &amp; Quotation Flow</a:t>
            </a:r>
            <a:endParaRPr lang="en-US" sz="3000" dirty="0"/>
          </a:p>
        </p:txBody>
      </p:sp>
      <p:sp>
        <p:nvSpPr>
          <p:cNvPr id="7" name="Shape 5"/>
          <p:cNvSpPr/>
          <p:nvPr/>
        </p:nvSpPr>
        <p:spPr>
          <a:xfrm>
            <a:off x="2194560" y="1554480"/>
            <a:ext cx="6858000" cy="402336"/>
          </a:xfrm>
          <a:prstGeom prst="roundRect">
            <a:avLst>
              <a:gd name="adj" fmla="val 1818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2331720" y="1554480"/>
            <a:ext cx="658368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Customer</a:t>
            </a:r>
            <a:endParaRPr lang="en-US" sz="1250" dirty="0"/>
          </a:p>
        </p:txBody>
      </p:sp>
      <p:sp>
        <p:nvSpPr>
          <p:cNvPr id="9" name="Shape 7"/>
          <p:cNvSpPr/>
          <p:nvPr/>
        </p:nvSpPr>
        <p:spPr>
          <a:xfrm>
            <a:off x="5623560" y="1984248"/>
            <a:ext cx="914" cy="36576"/>
          </a:xfrm>
          <a:prstGeom prst="line">
            <a:avLst/>
          </a:prstGeom>
          <a:noFill/>
          <a:ln w="25400">
            <a:solidFill>
              <a:srgbClr val="5FA8F5"/>
            </a:solidFill>
            <a:prstDash val="solid"/>
            <a:tailEnd type="triangle"/>
          </a:ln>
        </p:spPr>
      </p:sp>
      <p:sp>
        <p:nvSpPr>
          <p:cNvPr id="10" name="Shape 8"/>
          <p:cNvSpPr/>
          <p:nvPr/>
        </p:nvSpPr>
        <p:spPr>
          <a:xfrm>
            <a:off x="2194560" y="2048256"/>
            <a:ext cx="6858000" cy="402336"/>
          </a:xfrm>
          <a:prstGeom prst="roundRect">
            <a:avLst>
              <a:gd name="adj" fmla="val 1818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1" name="Text 9"/>
          <p:cNvSpPr/>
          <p:nvPr/>
        </p:nvSpPr>
        <p:spPr>
          <a:xfrm>
            <a:off x="2331720" y="2048256"/>
            <a:ext cx="658368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Channel (Call Centre / Quote &amp; Buy / Aggregator)</a:t>
            </a:r>
            <a:endParaRPr lang="en-US" sz="1250" dirty="0"/>
          </a:p>
        </p:txBody>
      </p:sp>
      <p:sp>
        <p:nvSpPr>
          <p:cNvPr id="12" name="Shape 10"/>
          <p:cNvSpPr/>
          <p:nvPr/>
        </p:nvSpPr>
        <p:spPr>
          <a:xfrm>
            <a:off x="5623560" y="2478024"/>
            <a:ext cx="914" cy="36576"/>
          </a:xfrm>
          <a:prstGeom prst="line">
            <a:avLst/>
          </a:prstGeom>
          <a:noFill/>
          <a:ln w="25400">
            <a:solidFill>
              <a:srgbClr val="5FA8F5"/>
            </a:solidFill>
            <a:prstDash val="solid"/>
            <a:tailEnd type="triangle"/>
          </a:ln>
        </p:spPr>
      </p:sp>
      <p:sp>
        <p:nvSpPr>
          <p:cNvPr id="13" name="Shape 11"/>
          <p:cNvSpPr/>
          <p:nvPr/>
        </p:nvSpPr>
        <p:spPr>
          <a:xfrm>
            <a:off x="2194560" y="2542032"/>
            <a:ext cx="6858000" cy="402336"/>
          </a:xfrm>
          <a:prstGeom prst="roundRect">
            <a:avLst>
              <a:gd name="adj" fmla="val 1818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2331720" y="2542032"/>
            <a:ext cx="658368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Consolidated Quotation System</a:t>
            </a:r>
            <a:endParaRPr lang="en-US" sz="1250" dirty="0"/>
          </a:p>
        </p:txBody>
      </p:sp>
      <p:sp>
        <p:nvSpPr>
          <p:cNvPr id="15" name="Shape 13"/>
          <p:cNvSpPr/>
          <p:nvPr/>
        </p:nvSpPr>
        <p:spPr>
          <a:xfrm>
            <a:off x="5623560" y="2971800"/>
            <a:ext cx="914" cy="36576"/>
          </a:xfrm>
          <a:prstGeom prst="line">
            <a:avLst/>
          </a:prstGeom>
          <a:noFill/>
          <a:ln w="25400">
            <a:solidFill>
              <a:srgbClr val="5FA8F5"/>
            </a:solidFill>
            <a:prstDash val="solid"/>
            <a:tailEnd type="triangle"/>
          </a:ln>
        </p:spPr>
      </p:sp>
      <p:sp>
        <p:nvSpPr>
          <p:cNvPr id="16" name="Shape 14"/>
          <p:cNvSpPr/>
          <p:nvPr/>
        </p:nvSpPr>
        <p:spPr>
          <a:xfrm>
            <a:off x="2194560" y="3035808"/>
            <a:ext cx="6858000" cy="402336"/>
          </a:xfrm>
          <a:prstGeom prst="roundRect">
            <a:avLst>
              <a:gd name="adj" fmla="val 1818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2331720" y="3035808"/>
            <a:ext cx="658368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Product &amp; Customer Details</a:t>
            </a:r>
            <a:endParaRPr lang="en-US" sz="1250" dirty="0"/>
          </a:p>
        </p:txBody>
      </p:sp>
      <p:sp>
        <p:nvSpPr>
          <p:cNvPr id="18" name="Shape 16"/>
          <p:cNvSpPr/>
          <p:nvPr/>
        </p:nvSpPr>
        <p:spPr>
          <a:xfrm>
            <a:off x="5623560" y="3465576"/>
            <a:ext cx="914" cy="36576"/>
          </a:xfrm>
          <a:prstGeom prst="line">
            <a:avLst/>
          </a:prstGeom>
          <a:noFill/>
          <a:ln w="25400">
            <a:solidFill>
              <a:srgbClr val="5FA8F5"/>
            </a:solidFill>
            <a:prstDash val="solid"/>
            <a:tailEnd type="triangle"/>
          </a:ln>
        </p:spPr>
      </p:sp>
      <p:sp>
        <p:nvSpPr>
          <p:cNvPr id="19" name="Shape 17"/>
          <p:cNvSpPr/>
          <p:nvPr/>
        </p:nvSpPr>
        <p:spPr>
          <a:xfrm>
            <a:off x="2194560" y="3529584"/>
            <a:ext cx="6858000" cy="402336"/>
          </a:xfrm>
          <a:prstGeom prst="roundRect">
            <a:avLst>
              <a:gd name="adj" fmla="val 1818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2331720" y="3529584"/>
            <a:ext cx="658368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CRS — Customer Rating System</a:t>
            </a:r>
            <a:endParaRPr lang="en-US" sz="1250" dirty="0"/>
          </a:p>
        </p:txBody>
      </p:sp>
      <p:sp>
        <p:nvSpPr>
          <p:cNvPr id="21" name="Shape 19"/>
          <p:cNvSpPr/>
          <p:nvPr/>
        </p:nvSpPr>
        <p:spPr>
          <a:xfrm>
            <a:off x="5623560" y="3959352"/>
            <a:ext cx="914" cy="36576"/>
          </a:xfrm>
          <a:prstGeom prst="line">
            <a:avLst/>
          </a:prstGeom>
          <a:noFill/>
          <a:ln w="25400">
            <a:solidFill>
              <a:srgbClr val="5FA8F5"/>
            </a:solidFill>
            <a:prstDash val="solid"/>
            <a:tailEnd type="triangle"/>
          </a:ln>
        </p:spPr>
      </p:sp>
      <p:sp>
        <p:nvSpPr>
          <p:cNvPr id="22" name="Shape 20"/>
          <p:cNvSpPr/>
          <p:nvPr/>
        </p:nvSpPr>
        <p:spPr>
          <a:xfrm>
            <a:off x="2194560" y="4023360"/>
            <a:ext cx="6858000" cy="402336"/>
          </a:xfrm>
          <a:prstGeom prst="roundRect">
            <a:avLst>
              <a:gd name="adj" fmla="val 1818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2331720" y="4023360"/>
            <a:ext cx="658368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SSP — ML Prediction Support</a:t>
            </a:r>
            <a:endParaRPr lang="en-US" sz="1250" dirty="0"/>
          </a:p>
        </p:txBody>
      </p:sp>
      <p:sp>
        <p:nvSpPr>
          <p:cNvPr id="24" name="Shape 22"/>
          <p:cNvSpPr/>
          <p:nvPr/>
        </p:nvSpPr>
        <p:spPr>
          <a:xfrm>
            <a:off x="5623560" y="4453128"/>
            <a:ext cx="914" cy="36576"/>
          </a:xfrm>
          <a:prstGeom prst="line">
            <a:avLst/>
          </a:prstGeom>
          <a:noFill/>
          <a:ln w="25400">
            <a:solidFill>
              <a:srgbClr val="5FA8F5"/>
            </a:solidFill>
            <a:prstDash val="solid"/>
            <a:tailEnd type="triangle"/>
          </a:ln>
        </p:spPr>
      </p:sp>
      <p:sp>
        <p:nvSpPr>
          <p:cNvPr id="25" name="Shape 23"/>
          <p:cNvSpPr/>
          <p:nvPr/>
        </p:nvSpPr>
        <p:spPr>
          <a:xfrm>
            <a:off x="2194560" y="4517136"/>
            <a:ext cx="6858000" cy="402336"/>
          </a:xfrm>
          <a:prstGeom prst="roundRect">
            <a:avLst>
              <a:gd name="adj" fmla="val 1818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2331720" y="4517136"/>
            <a:ext cx="658368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Premium / Quote</a:t>
            </a:r>
            <a:endParaRPr lang="en-US" sz="1250" dirty="0"/>
          </a:p>
        </p:txBody>
      </p:sp>
      <p:sp>
        <p:nvSpPr>
          <p:cNvPr id="27" name="Shape 25"/>
          <p:cNvSpPr/>
          <p:nvPr/>
        </p:nvSpPr>
        <p:spPr>
          <a:xfrm>
            <a:off x="5623560" y="4946904"/>
            <a:ext cx="914" cy="36576"/>
          </a:xfrm>
          <a:prstGeom prst="line">
            <a:avLst/>
          </a:prstGeom>
          <a:noFill/>
          <a:ln w="25400">
            <a:solidFill>
              <a:srgbClr val="5FA8F5"/>
            </a:solidFill>
            <a:prstDash val="solid"/>
            <a:tailEnd type="triangle"/>
          </a:ln>
        </p:spPr>
      </p:sp>
      <p:sp>
        <p:nvSpPr>
          <p:cNvPr id="28" name="Shape 26"/>
          <p:cNvSpPr/>
          <p:nvPr/>
        </p:nvSpPr>
        <p:spPr>
          <a:xfrm>
            <a:off x="2194560" y="5010912"/>
            <a:ext cx="6858000" cy="402336"/>
          </a:xfrm>
          <a:prstGeom prst="roundRect">
            <a:avLst>
              <a:gd name="adj" fmla="val 1818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9" name="Text 27"/>
          <p:cNvSpPr/>
          <p:nvPr/>
        </p:nvSpPr>
        <p:spPr>
          <a:xfrm>
            <a:off x="2331720" y="5010912"/>
            <a:ext cx="658368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Customer Acceptance</a:t>
            </a:r>
            <a:endParaRPr lang="en-US" sz="1250" dirty="0"/>
          </a:p>
        </p:txBody>
      </p:sp>
      <p:sp>
        <p:nvSpPr>
          <p:cNvPr id="30" name="Shape 28"/>
          <p:cNvSpPr/>
          <p:nvPr/>
        </p:nvSpPr>
        <p:spPr>
          <a:xfrm>
            <a:off x="5623560" y="5440680"/>
            <a:ext cx="914" cy="36576"/>
          </a:xfrm>
          <a:prstGeom prst="line">
            <a:avLst/>
          </a:prstGeom>
          <a:noFill/>
          <a:ln w="25400">
            <a:solidFill>
              <a:srgbClr val="5FA8F5"/>
            </a:solidFill>
            <a:prstDash val="solid"/>
            <a:tailEnd type="triangle"/>
          </a:ln>
        </p:spPr>
      </p:sp>
      <p:sp>
        <p:nvSpPr>
          <p:cNvPr id="31" name="Shape 29"/>
          <p:cNvSpPr/>
          <p:nvPr/>
        </p:nvSpPr>
        <p:spPr>
          <a:xfrm>
            <a:off x="2194560" y="5504688"/>
            <a:ext cx="6858000" cy="402336"/>
          </a:xfrm>
          <a:prstGeom prst="roundRect">
            <a:avLst>
              <a:gd name="adj" fmla="val 1818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32" name="Text 30"/>
          <p:cNvSpPr/>
          <p:nvPr/>
        </p:nvSpPr>
        <p:spPr>
          <a:xfrm>
            <a:off x="2331720" y="5504688"/>
            <a:ext cx="658368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Policy Creation</a:t>
            </a:r>
            <a:endParaRPr lang="en-US" sz="1250" dirty="0"/>
          </a:p>
        </p:txBody>
      </p:sp>
      <p:sp>
        <p:nvSpPr>
          <p:cNvPr id="33" name="Shape 31"/>
          <p:cNvSpPr/>
          <p:nvPr/>
        </p:nvSpPr>
        <p:spPr>
          <a:xfrm>
            <a:off x="5623560" y="5934456"/>
            <a:ext cx="914" cy="36576"/>
          </a:xfrm>
          <a:prstGeom prst="line">
            <a:avLst/>
          </a:prstGeom>
          <a:noFill/>
          <a:ln w="25400">
            <a:solidFill>
              <a:srgbClr val="5FA8F5"/>
            </a:solidFill>
            <a:prstDash val="solid"/>
            <a:tailEnd type="triangle"/>
          </a:ln>
        </p:spPr>
      </p:sp>
      <p:sp>
        <p:nvSpPr>
          <p:cNvPr id="34" name="Shape 32"/>
          <p:cNvSpPr/>
          <p:nvPr/>
        </p:nvSpPr>
        <p:spPr>
          <a:xfrm>
            <a:off x="2194560" y="5998464"/>
            <a:ext cx="6858000" cy="402336"/>
          </a:xfrm>
          <a:prstGeom prst="roundRect">
            <a:avLst>
              <a:gd name="adj" fmla="val 1818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35" name="Text 33"/>
          <p:cNvSpPr/>
          <p:nvPr/>
        </p:nvSpPr>
        <p:spPr>
          <a:xfrm>
            <a:off x="2331720" y="5998464"/>
            <a:ext cx="658368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Policy Issued</a:t>
            </a:r>
            <a:endParaRPr lang="en-US" sz="1250" dirty="0"/>
          </a:p>
        </p:txBody>
      </p:sp>
      <p:sp>
        <p:nvSpPr>
          <p:cNvPr id="36" name="Shape 34"/>
          <p:cNvSpPr/>
          <p:nvPr/>
        </p:nvSpPr>
        <p:spPr>
          <a:xfrm>
            <a:off x="9281160" y="2450592"/>
            <a:ext cx="2423160" cy="1234440"/>
          </a:xfrm>
          <a:prstGeom prst="roundRect">
            <a:avLst>
              <a:gd name="adj" fmla="val 5926"/>
            </a:avLst>
          </a:prstGeom>
          <a:solidFill>
            <a:srgbClr val="3D3117"/>
          </a:solidFill>
          <a:ln w="16510">
            <a:solidFill>
              <a:srgbClr val="F5B942"/>
            </a:solidFill>
            <a:prstDash val="solid"/>
          </a:ln>
          <a:effectLst>
            <a:outerShdw sx="100000" sy="100000" kx="0" ky="0" algn="bl" rotWithShape="0" blurRad="101600" dist="38100" dir="5400000">
              <a:srgbClr val="000000">
                <a:alpha val="45000"/>
              </a:srgbClr>
            </a:outerShdw>
          </a:effectLst>
        </p:spPr>
      </p:sp>
      <p:sp>
        <p:nvSpPr>
          <p:cNvPr id="37" name="Text 35"/>
          <p:cNvSpPr/>
          <p:nvPr/>
        </p:nvSpPr>
        <p:spPr>
          <a:xfrm>
            <a:off x="9418320" y="2542032"/>
            <a:ext cx="2148840" cy="256032"/>
          </a:xfrm>
          <a:prstGeom prst="rect">
            <a:avLst/>
          </a:prstGeom>
          <a:noFill/>
          <a:ln/>
        </p:spPr>
        <p:txBody>
          <a:bodyPr wrap="square" rtlCol="0" anchor="ctr"/>
          <a:lstStyle/>
          <a:p>
            <a:pPr indent="0" marL="0">
              <a:buNone/>
            </a:pPr>
            <a:r>
              <a:rPr lang="en-US" sz="1050" b="1" spc="100" kern="0" dirty="0">
                <a:solidFill>
                  <a:srgbClr val="F5B942"/>
                </a:solidFill>
                <a:latin typeface="Calibri" pitchFamily="34" charset="0"/>
                <a:ea typeface="Calibri" pitchFamily="34" charset="-122"/>
                <a:cs typeface="Calibri" pitchFamily="34" charset="-120"/>
              </a:rPr>
              <a:t>KEY POINT</a:t>
            </a:r>
            <a:endParaRPr lang="en-US" sz="1050" dirty="0"/>
          </a:p>
        </p:txBody>
      </p:sp>
      <p:sp>
        <p:nvSpPr>
          <p:cNvPr id="38" name="Text 36"/>
          <p:cNvSpPr/>
          <p:nvPr/>
        </p:nvSpPr>
        <p:spPr>
          <a:xfrm>
            <a:off x="9418320" y="2798064"/>
            <a:ext cx="2148840" cy="868680"/>
          </a:xfrm>
          <a:prstGeom prst="rect">
            <a:avLst/>
          </a:prstGeom>
          <a:noFill/>
          <a:ln/>
        </p:spPr>
        <p:txBody>
          <a:bodyPr wrap="square" rtlCol="0" anchor="t"/>
          <a:lstStyle/>
          <a:p>
            <a:pPr indent="0" marL="0">
              <a:lnSpc>
                <a:spcPct val="115000"/>
              </a:lnSpc>
              <a:buNone/>
            </a:pPr>
            <a:r>
              <a:rPr lang="en-US" sz="950" i="1" dirty="0">
                <a:solidFill>
                  <a:srgbClr val="F5B942"/>
                </a:solidFill>
                <a:latin typeface="Calibri" pitchFamily="34" charset="0"/>
                <a:ea typeface="Calibri" pitchFamily="34" charset="-122"/>
                <a:cs typeface="Calibri" pitchFamily="34" charset="-120"/>
              </a:rPr>
              <a:t>Connects the quotation journey with the pricing process.</a:t>
            </a:r>
            <a:endParaRPr lang="en-US" sz="950" dirty="0"/>
          </a:p>
        </p:txBody>
      </p:sp>
      <p:sp>
        <p:nvSpPr>
          <p:cNvPr id="39" name="Shape 37"/>
          <p:cNvSpPr/>
          <p:nvPr/>
        </p:nvSpPr>
        <p:spPr>
          <a:xfrm>
            <a:off x="9052560" y="2889504"/>
            <a:ext cx="228600" cy="91"/>
          </a:xfrm>
          <a:prstGeom prst="line">
            <a:avLst/>
          </a:prstGeom>
          <a:noFill/>
          <a:ln w="16510">
            <a:solidFill>
              <a:srgbClr val="F5B942"/>
            </a:solidFill>
            <a:prstDash val="solid"/>
            <a:tailEnd type="triangle"/>
          </a:ln>
        </p:spPr>
      </p:sp>
      <p:sp>
        <p:nvSpPr>
          <p:cNvPr id="40" name="Text 38"/>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LV LEGACY</a:t>
            </a:r>
            <a:endParaRPr lang="en-US" sz="900" dirty="0"/>
          </a:p>
        </p:txBody>
      </p:sp>
      <p:sp>
        <p:nvSpPr>
          <p:cNvPr id="41" name="Text 39"/>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42" name="Text 40"/>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5FA8F5">
              <a:alpha val="12000"/>
            </a:srgbClr>
          </a:solidFill>
          <a:ln/>
        </p:spPr>
      </p:sp>
      <p:sp>
        <p:nvSpPr>
          <p:cNvPr id="3" name="Shape 1"/>
          <p:cNvSpPr/>
          <p:nvPr/>
        </p:nvSpPr>
        <p:spPr>
          <a:xfrm>
            <a:off x="-1280160" y="6035040"/>
            <a:ext cx="2377440" cy="2377440"/>
          </a:xfrm>
          <a:prstGeom prst="ellipse">
            <a:avLst/>
          </a:prstGeom>
          <a:solidFill>
            <a:srgbClr val="5FA8F5">
              <a:alpha val="8000"/>
            </a:srgbClr>
          </a:solidFill>
          <a:ln/>
        </p:spPr>
      </p:sp>
      <p:sp>
        <p:nvSpPr>
          <p:cNvPr id="4" name="Shape 2"/>
          <p:cNvSpPr/>
          <p:nvPr/>
        </p:nvSpPr>
        <p:spPr>
          <a:xfrm>
            <a:off x="457200" y="384048"/>
            <a:ext cx="146304" cy="146304"/>
          </a:xfrm>
          <a:prstGeom prst="roundRect">
            <a:avLst>
              <a:gd name="adj" fmla="val 50000"/>
            </a:avLst>
          </a:prstGeom>
          <a:solidFill>
            <a:srgbClr val="5FA8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5FA8F5"/>
                </a:solidFill>
                <a:latin typeface="Calibri" pitchFamily="34" charset="0"/>
                <a:ea typeface="Calibri" pitchFamily="34" charset="-122"/>
                <a:cs typeface="Calibri" pitchFamily="34" charset="-120"/>
              </a:rPr>
              <a:t>SECTION 01</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Product Offerings &amp; Transactions</a:t>
            </a:r>
            <a:endParaRPr lang="en-US" sz="3000" dirty="0"/>
          </a:p>
        </p:txBody>
      </p:sp>
      <p:sp>
        <p:nvSpPr>
          <p:cNvPr id="7" name="Shape 5"/>
          <p:cNvSpPr/>
          <p:nvPr/>
        </p:nvSpPr>
        <p:spPr>
          <a:xfrm>
            <a:off x="457200" y="1645920"/>
            <a:ext cx="3578352" cy="1554480"/>
          </a:xfrm>
          <a:prstGeom prst="roundRect">
            <a:avLst>
              <a:gd name="adj" fmla="val 4706"/>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21792" y="1792224"/>
            <a:ext cx="109728" cy="109728"/>
          </a:xfrm>
          <a:prstGeom prst="roundRect">
            <a:avLst>
              <a:gd name="adj" fmla="val 50000"/>
            </a:avLst>
          </a:prstGeom>
          <a:solidFill>
            <a:srgbClr val="5FA8F5"/>
          </a:solidFill>
          <a:ln/>
        </p:spPr>
      </p:sp>
      <p:sp>
        <p:nvSpPr>
          <p:cNvPr id="9" name="Text 7"/>
          <p:cNvSpPr/>
          <p:nvPr/>
        </p:nvSpPr>
        <p:spPr>
          <a:xfrm>
            <a:off x="822960" y="171907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Car</a:t>
            </a:r>
            <a:endParaRPr lang="en-US" sz="1300" dirty="0"/>
          </a:p>
        </p:txBody>
      </p:sp>
      <p:sp>
        <p:nvSpPr>
          <p:cNvPr id="10" name="Text 8"/>
          <p:cNvSpPr/>
          <p:nvPr/>
        </p:nvSpPr>
        <p:spPr>
          <a:xfrm>
            <a:off x="640080" y="2066544"/>
            <a:ext cx="3212592" cy="102412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Standard motor car policies.</a:t>
            </a:r>
            <a:endParaRPr lang="en-US" sz="1080" dirty="0"/>
          </a:p>
        </p:txBody>
      </p:sp>
      <p:sp>
        <p:nvSpPr>
          <p:cNvPr id="11" name="Shape 9"/>
          <p:cNvSpPr/>
          <p:nvPr/>
        </p:nvSpPr>
        <p:spPr>
          <a:xfrm>
            <a:off x="4291584" y="1645920"/>
            <a:ext cx="3578352" cy="1554480"/>
          </a:xfrm>
          <a:prstGeom prst="roundRect">
            <a:avLst>
              <a:gd name="adj" fmla="val 4706"/>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2" name="Shape 10"/>
          <p:cNvSpPr/>
          <p:nvPr/>
        </p:nvSpPr>
        <p:spPr>
          <a:xfrm>
            <a:off x="4456176" y="1792224"/>
            <a:ext cx="109728" cy="109728"/>
          </a:xfrm>
          <a:prstGeom prst="roundRect">
            <a:avLst>
              <a:gd name="adj" fmla="val 50000"/>
            </a:avLst>
          </a:prstGeom>
          <a:solidFill>
            <a:srgbClr val="5FA8F5"/>
          </a:solidFill>
          <a:ln/>
        </p:spPr>
      </p:sp>
      <p:sp>
        <p:nvSpPr>
          <p:cNvPr id="13" name="Text 11"/>
          <p:cNvSpPr/>
          <p:nvPr/>
        </p:nvSpPr>
        <p:spPr>
          <a:xfrm>
            <a:off x="4657344" y="171907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Classic Car</a:t>
            </a:r>
            <a:endParaRPr lang="en-US" sz="1300" dirty="0"/>
          </a:p>
        </p:txBody>
      </p:sp>
      <p:sp>
        <p:nvSpPr>
          <p:cNvPr id="14" name="Text 12"/>
          <p:cNvSpPr/>
          <p:nvPr/>
        </p:nvSpPr>
        <p:spPr>
          <a:xfrm>
            <a:off x="4474464" y="2066544"/>
            <a:ext cx="3212592" cy="102412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Specialist cover for classic vehicles.</a:t>
            </a:r>
            <a:endParaRPr lang="en-US" sz="1080" dirty="0"/>
          </a:p>
        </p:txBody>
      </p:sp>
      <p:sp>
        <p:nvSpPr>
          <p:cNvPr id="15" name="Shape 13"/>
          <p:cNvSpPr/>
          <p:nvPr/>
        </p:nvSpPr>
        <p:spPr>
          <a:xfrm>
            <a:off x="8125968" y="1645920"/>
            <a:ext cx="3578352" cy="1554480"/>
          </a:xfrm>
          <a:prstGeom prst="roundRect">
            <a:avLst>
              <a:gd name="adj" fmla="val 4706"/>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6" name="Shape 14"/>
          <p:cNvSpPr/>
          <p:nvPr/>
        </p:nvSpPr>
        <p:spPr>
          <a:xfrm>
            <a:off x="8290560" y="1792224"/>
            <a:ext cx="109728" cy="109728"/>
          </a:xfrm>
          <a:prstGeom prst="roundRect">
            <a:avLst>
              <a:gd name="adj" fmla="val 50000"/>
            </a:avLst>
          </a:prstGeom>
          <a:solidFill>
            <a:srgbClr val="5FA8F5"/>
          </a:solidFill>
          <a:ln/>
        </p:spPr>
      </p:sp>
      <p:sp>
        <p:nvSpPr>
          <p:cNvPr id="17" name="Text 15"/>
          <p:cNvSpPr/>
          <p:nvPr/>
        </p:nvSpPr>
        <p:spPr>
          <a:xfrm>
            <a:off x="8491728" y="171907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Motorbike</a:t>
            </a:r>
            <a:endParaRPr lang="en-US" sz="1300" dirty="0"/>
          </a:p>
        </p:txBody>
      </p:sp>
      <p:sp>
        <p:nvSpPr>
          <p:cNvPr id="18" name="Text 16"/>
          <p:cNvSpPr/>
          <p:nvPr/>
        </p:nvSpPr>
        <p:spPr>
          <a:xfrm>
            <a:off x="8308848" y="2066544"/>
            <a:ext cx="3212592" cy="102412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Two-wheeler motor policies.</a:t>
            </a:r>
            <a:endParaRPr lang="en-US" sz="1080" dirty="0"/>
          </a:p>
        </p:txBody>
      </p:sp>
      <p:sp>
        <p:nvSpPr>
          <p:cNvPr id="19" name="Text 17"/>
          <p:cNvSpPr/>
          <p:nvPr/>
        </p:nvSpPr>
        <p:spPr>
          <a:xfrm>
            <a:off x="457200" y="3383280"/>
            <a:ext cx="5486400" cy="292608"/>
          </a:xfrm>
          <a:prstGeom prst="rect">
            <a:avLst/>
          </a:prstGeom>
          <a:noFill/>
          <a:ln/>
        </p:spPr>
        <p:txBody>
          <a:bodyPr wrap="square" rtlCol="0" anchor="ctr"/>
          <a:lstStyle/>
          <a:p>
            <a:pPr indent="0" marL="0">
              <a:buNone/>
            </a:pPr>
            <a:r>
              <a:rPr lang="en-US" sz="1200" b="1" spc="100" kern="0" dirty="0">
                <a:solidFill>
                  <a:srgbClr val="5FA8F5"/>
                </a:solidFill>
                <a:latin typeface="Calibri" pitchFamily="34" charset="0"/>
                <a:ea typeface="Calibri" pitchFamily="34" charset="-122"/>
                <a:cs typeface="Calibri" pitchFamily="34" charset="-120"/>
              </a:rPr>
              <a:t>BUSINESS TRANSACTIONS</a:t>
            </a:r>
            <a:endParaRPr lang="en-US" sz="1200" dirty="0"/>
          </a:p>
        </p:txBody>
      </p:sp>
      <p:sp>
        <p:nvSpPr>
          <p:cNvPr id="20" name="Shape 18"/>
          <p:cNvSpPr/>
          <p:nvPr/>
        </p:nvSpPr>
        <p:spPr>
          <a:xfrm>
            <a:off x="457200" y="3703320"/>
            <a:ext cx="2619756" cy="1051560"/>
          </a:xfrm>
          <a:prstGeom prst="roundRect">
            <a:avLst>
              <a:gd name="adj" fmla="val 6957"/>
            </a:avLst>
          </a:prstGeom>
          <a:solidFill>
            <a:srgbClr val="141F38"/>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21" name="Shape 19"/>
          <p:cNvSpPr/>
          <p:nvPr/>
        </p:nvSpPr>
        <p:spPr>
          <a:xfrm>
            <a:off x="621792" y="3849624"/>
            <a:ext cx="109728" cy="109728"/>
          </a:xfrm>
          <a:prstGeom prst="roundRect">
            <a:avLst>
              <a:gd name="adj" fmla="val 50000"/>
            </a:avLst>
          </a:prstGeom>
          <a:solidFill>
            <a:srgbClr val="F5B942"/>
          </a:solidFill>
          <a:ln/>
        </p:spPr>
      </p:sp>
      <p:sp>
        <p:nvSpPr>
          <p:cNvPr id="22" name="Text 20"/>
          <p:cNvSpPr/>
          <p:nvPr/>
        </p:nvSpPr>
        <p:spPr>
          <a:xfrm>
            <a:off x="822960" y="3776472"/>
            <a:ext cx="2116836"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New Business (PoQ)</a:t>
            </a:r>
            <a:endParaRPr lang="en-US" sz="1300" dirty="0"/>
          </a:p>
        </p:txBody>
      </p:sp>
      <p:sp>
        <p:nvSpPr>
          <p:cNvPr id="23" name="Text 21"/>
          <p:cNvSpPr/>
          <p:nvPr/>
        </p:nvSpPr>
        <p:spPr>
          <a:xfrm>
            <a:off x="640080" y="4123944"/>
            <a:ext cx="2253996" cy="521208"/>
          </a:xfrm>
          <a:prstGeom prst="rect">
            <a:avLst/>
          </a:prstGeom>
          <a:noFill/>
          <a:ln/>
        </p:spPr>
        <p:txBody>
          <a:bodyPr wrap="square" rtlCol="0" anchor="t"/>
          <a:lstStyle/>
          <a:p>
            <a:pPr indent="0" marL="0">
              <a:lnSpc>
                <a:spcPct val="110000"/>
              </a:lnSpc>
              <a:buNone/>
            </a:pPr>
            <a:endParaRPr lang="en-US" sz="1080" dirty="0"/>
          </a:p>
        </p:txBody>
      </p:sp>
      <p:sp>
        <p:nvSpPr>
          <p:cNvPr id="24" name="Shape 22"/>
          <p:cNvSpPr/>
          <p:nvPr/>
        </p:nvSpPr>
        <p:spPr>
          <a:xfrm>
            <a:off x="3332988" y="3703320"/>
            <a:ext cx="2619756" cy="1051560"/>
          </a:xfrm>
          <a:prstGeom prst="roundRect">
            <a:avLst>
              <a:gd name="adj" fmla="val 6957"/>
            </a:avLst>
          </a:prstGeom>
          <a:solidFill>
            <a:srgbClr val="141F38"/>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25" name="Shape 23"/>
          <p:cNvSpPr/>
          <p:nvPr/>
        </p:nvSpPr>
        <p:spPr>
          <a:xfrm>
            <a:off x="3497580" y="3849624"/>
            <a:ext cx="109728" cy="109728"/>
          </a:xfrm>
          <a:prstGeom prst="roundRect">
            <a:avLst>
              <a:gd name="adj" fmla="val 50000"/>
            </a:avLst>
          </a:prstGeom>
          <a:solidFill>
            <a:srgbClr val="F5B942"/>
          </a:solidFill>
          <a:ln/>
        </p:spPr>
      </p:sp>
      <p:sp>
        <p:nvSpPr>
          <p:cNvPr id="26" name="Text 24"/>
          <p:cNvSpPr/>
          <p:nvPr/>
        </p:nvSpPr>
        <p:spPr>
          <a:xfrm>
            <a:off x="3698748" y="3776472"/>
            <a:ext cx="2116836"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MTA</a:t>
            </a:r>
            <a:endParaRPr lang="en-US" sz="1300" dirty="0"/>
          </a:p>
        </p:txBody>
      </p:sp>
      <p:sp>
        <p:nvSpPr>
          <p:cNvPr id="27" name="Text 25"/>
          <p:cNvSpPr/>
          <p:nvPr/>
        </p:nvSpPr>
        <p:spPr>
          <a:xfrm>
            <a:off x="3515868" y="4123944"/>
            <a:ext cx="2253996" cy="521208"/>
          </a:xfrm>
          <a:prstGeom prst="rect">
            <a:avLst/>
          </a:prstGeom>
          <a:noFill/>
          <a:ln/>
        </p:spPr>
        <p:txBody>
          <a:bodyPr wrap="square" rtlCol="0" anchor="t"/>
          <a:lstStyle/>
          <a:p>
            <a:pPr indent="0" marL="0">
              <a:lnSpc>
                <a:spcPct val="110000"/>
              </a:lnSpc>
              <a:buNone/>
            </a:pPr>
            <a:endParaRPr lang="en-US" sz="1080" dirty="0"/>
          </a:p>
        </p:txBody>
      </p:sp>
      <p:sp>
        <p:nvSpPr>
          <p:cNvPr id="28" name="Shape 26"/>
          <p:cNvSpPr/>
          <p:nvPr/>
        </p:nvSpPr>
        <p:spPr>
          <a:xfrm>
            <a:off x="6208776" y="3703320"/>
            <a:ext cx="2619756" cy="1051560"/>
          </a:xfrm>
          <a:prstGeom prst="roundRect">
            <a:avLst>
              <a:gd name="adj" fmla="val 6957"/>
            </a:avLst>
          </a:prstGeom>
          <a:solidFill>
            <a:srgbClr val="141F38"/>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29" name="Shape 27"/>
          <p:cNvSpPr/>
          <p:nvPr/>
        </p:nvSpPr>
        <p:spPr>
          <a:xfrm>
            <a:off x="6373368" y="3849624"/>
            <a:ext cx="109728" cy="109728"/>
          </a:xfrm>
          <a:prstGeom prst="roundRect">
            <a:avLst>
              <a:gd name="adj" fmla="val 50000"/>
            </a:avLst>
          </a:prstGeom>
          <a:solidFill>
            <a:srgbClr val="F5B942"/>
          </a:solidFill>
          <a:ln/>
        </p:spPr>
      </p:sp>
      <p:sp>
        <p:nvSpPr>
          <p:cNvPr id="30" name="Text 28"/>
          <p:cNvSpPr/>
          <p:nvPr/>
        </p:nvSpPr>
        <p:spPr>
          <a:xfrm>
            <a:off x="6574536" y="3776472"/>
            <a:ext cx="2116836"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Pre-Renewal</a:t>
            </a:r>
            <a:endParaRPr lang="en-US" sz="1300" dirty="0"/>
          </a:p>
        </p:txBody>
      </p:sp>
      <p:sp>
        <p:nvSpPr>
          <p:cNvPr id="31" name="Text 29"/>
          <p:cNvSpPr/>
          <p:nvPr/>
        </p:nvSpPr>
        <p:spPr>
          <a:xfrm>
            <a:off x="6391656" y="4123944"/>
            <a:ext cx="2253996" cy="521208"/>
          </a:xfrm>
          <a:prstGeom prst="rect">
            <a:avLst/>
          </a:prstGeom>
          <a:noFill/>
          <a:ln/>
        </p:spPr>
        <p:txBody>
          <a:bodyPr wrap="square" rtlCol="0" anchor="t"/>
          <a:lstStyle/>
          <a:p>
            <a:pPr indent="0" marL="0">
              <a:lnSpc>
                <a:spcPct val="110000"/>
              </a:lnSpc>
              <a:buNone/>
            </a:pPr>
            <a:endParaRPr lang="en-US" sz="1080" dirty="0"/>
          </a:p>
        </p:txBody>
      </p:sp>
      <p:sp>
        <p:nvSpPr>
          <p:cNvPr id="32" name="Shape 30"/>
          <p:cNvSpPr/>
          <p:nvPr/>
        </p:nvSpPr>
        <p:spPr>
          <a:xfrm>
            <a:off x="9084564" y="3703320"/>
            <a:ext cx="2619756" cy="1051560"/>
          </a:xfrm>
          <a:prstGeom prst="roundRect">
            <a:avLst>
              <a:gd name="adj" fmla="val 6957"/>
            </a:avLst>
          </a:prstGeom>
          <a:solidFill>
            <a:srgbClr val="141F38"/>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33" name="Shape 31"/>
          <p:cNvSpPr/>
          <p:nvPr/>
        </p:nvSpPr>
        <p:spPr>
          <a:xfrm>
            <a:off x="9249156" y="3849624"/>
            <a:ext cx="109728" cy="109728"/>
          </a:xfrm>
          <a:prstGeom prst="roundRect">
            <a:avLst>
              <a:gd name="adj" fmla="val 50000"/>
            </a:avLst>
          </a:prstGeom>
          <a:solidFill>
            <a:srgbClr val="F5B942"/>
          </a:solidFill>
          <a:ln/>
        </p:spPr>
      </p:sp>
      <p:sp>
        <p:nvSpPr>
          <p:cNvPr id="34" name="Text 32"/>
          <p:cNvSpPr/>
          <p:nvPr/>
        </p:nvSpPr>
        <p:spPr>
          <a:xfrm>
            <a:off x="9450324" y="3776472"/>
            <a:ext cx="2116836"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Renewal</a:t>
            </a:r>
            <a:endParaRPr lang="en-US" sz="1300" dirty="0"/>
          </a:p>
        </p:txBody>
      </p:sp>
      <p:sp>
        <p:nvSpPr>
          <p:cNvPr id="35" name="Text 33"/>
          <p:cNvSpPr/>
          <p:nvPr/>
        </p:nvSpPr>
        <p:spPr>
          <a:xfrm>
            <a:off x="9267444" y="4123944"/>
            <a:ext cx="2253996" cy="521208"/>
          </a:xfrm>
          <a:prstGeom prst="rect">
            <a:avLst/>
          </a:prstGeom>
          <a:noFill/>
          <a:ln/>
        </p:spPr>
        <p:txBody>
          <a:bodyPr wrap="square" rtlCol="0" anchor="t"/>
          <a:lstStyle/>
          <a:p>
            <a:pPr indent="0" marL="0">
              <a:lnSpc>
                <a:spcPct val="110000"/>
              </a:lnSpc>
              <a:buNone/>
            </a:pPr>
            <a:endParaRPr lang="en-US" sz="1080" dirty="0"/>
          </a:p>
        </p:txBody>
      </p:sp>
      <p:sp>
        <p:nvSpPr>
          <p:cNvPr id="36" name="Text 34"/>
          <p:cNvSpPr/>
          <p:nvPr/>
        </p:nvSpPr>
        <p:spPr>
          <a:xfrm>
            <a:off x="457200" y="4937760"/>
            <a:ext cx="5486400" cy="292608"/>
          </a:xfrm>
          <a:prstGeom prst="rect">
            <a:avLst/>
          </a:prstGeom>
          <a:noFill/>
          <a:ln/>
        </p:spPr>
        <p:txBody>
          <a:bodyPr wrap="square" rtlCol="0" anchor="ctr"/>
          <a:lstStyle/>
          <a:p>
            <a:pPr indent="0" marL="0">
              <a:buNone/>
            </a:pPr>
            <a:r>
              <a:rPr lang="en-US" sz="1200" b="1" spc="100" kern="0" dirty="0">
                <a:solidFill>
                  <a:srgbClr val="5FA8F5"/>
                </a:solidFill>
                <a:latin typeface="Calibri" pitchFamily="34" charset="0"/>
                <a:ea typeface="Calibri" pitchFamily="34" charset="-122"/>
                <a:cs typeface="Calibri" pitchFamily="34" charset="-120"/>
              </a:rPr>
              <a:t>POLICY LIFECYCLE</a:t>
            </a:r>
            <a:endParaRPr lang="en-US" sz="1200" dirty="0"/>
          </a:p>
        </p:txBody>
      </p:sp>
      <p:sp>
        <p:nvSpPr>
          <p:cNvPr id="37" name="Shape 35"/>
          <p:cNvSpPr/>
          <p:nvPr/>
        </p:nvSpPr>
        <p:spPr>
          <a:xfrm>
            <a:off x="457200" y="5257800"/>
            <a:ext cx="1993392" cy="777240"/>
          </a:xfrm>
          <a:prstGeom prst="roundRect">
            <a:avLst>
              <a:gd name="adj" fmla="val 941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38" name="Text 36"/>
          <p:cNvSpPr/>
          <p:nvPr/>
        </p:nvSpPr>
        <p:spPr>
          <a:xfrm>
            <a:off x="530352" y="5330952"/>
            <a:ext cx="1847088" cy="6309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New Business</a:t>
            </a:r>
            <a:endParaRPr lang="en-US" sz="1200" dirty="0"/>
          </a:p>
        </p:txBody>
      </p:sp>
      <p:sp>
        <p:nvSpPr>
          <p:cNvPr id="39" name="Shape 37"/>
          <p:cNvSpPr/>
          <p:nvPr/>
        </p:nvSpPr>
        <p:spPr>
          <a:xfrm>
            <a:off x="2487168" y="5646420"/>
            <a:ext cx="246888" cy="914"/>
          </a:xfrm>
          <a:prstGeom prst="line">
            <a:avLst/>
          </a:prstGeom>
          <a:noFill/>
          <a:ln w="25400">
            <a:solidFill>
              <a:srgbClr val="5FA8F5"/>
            </a:solidFill>
            <a:prstDash val="solid"/>
            <a:tailEnd type="triangle"/>
          </a:ln>
        </p:spPr>
      </p:sp>
      <p:sp>
        <p:nvSpPr>
          <p:cNvPr id="40" name="Shape 38"/>
          <p:cNvSpPr/>
          <p:nvPr/>
        </p:nvSpPr>
        <p:spPr>
          <a:xfrm>
            <a:off x="2770632" y="5257800"/>
            <a:ext cx="1993392" cy="777240"/>
          </a:xfrm>
          <a:prstGeom prst="roundRect">
            <a:avLst>
              <a:gd name="adj" fmla="val 941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41" name="Text 39"/>
          <p:cNvSpPr/>
          <p:nvPr/>
        </p:nvSpPr>
        <p:spPr>
          <a:xfrm>
            <a:off x="2843784" y="5330952"/>
            <a:ext cx="1847088" cy="6309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Active Policy</a:t>
            </a:r>
            <a:endParaRPr lang="en-US" sz="1200" dirty="0"/>
          </a:p>
        </p:txBody>
      </p:sp>
      <p:sp>
        <p:nvSpPr>
          <p:cNvPr id="42" name="Shape 40"/>
          <p:cNvSpPr/>
          <p:nvPr/>
        </p:nvSpPr>
        <p:spPr>
          <a:xfrm>
            <a:off x="4800600" y="5646420"/>
            <a:ext cx="246888" cy="914"/>
          </a:xfrm>
          <a:prstGeom prst="line">
            <a:avLst/>
          </a:prstGeom>
          <a:noFill/>
          <a:ln w="25400">
            <a:solidFill>
              <a:srgbClr val="5FA8F5"/>
            </a:solidFill>
            <a:prstDash val="solid"/>
            <a:tailEnd type="triangle"/>
          </a:ln>
        </p:spPr>
      </p:sp>
      <p:sp>
        <p:nvSpPr>
          <p:cNvPr id="43" name="Shape 41"/>
          <p:cNvSpPr/>
          <p:nvPr/>
        </p:nvSpPr>
        <p:spPr>
          <a:xfrm>
            <a:off x="5084064" y="5257800"/>
            <a:ext cx="1993392" cy="777240"/>
          </a:xfrm>
          <a:prstGeom prst="roundRect">
            <a:avLst>
              <a:gd name="adj" fmla="val 941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44" name="Text 42"/>
          <p:cNvSpPr/>
          <p:nvPr/>
        </p:nvSpPr>
        <p:spPr>
          <a:xfrm>
            <a:off x="5157216" y="5330952"/>
            <a:ext cx="1847088" cy="6309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MTA / Changes</a:t>
            </a:r>
            <a:endParaRPr lang="en-US" sz="1200" dirty="0"/>
          </a:p>
        </p:txBody>
      </p:sp>
      <p:sp>
        <p:nvSpPr>
          <p:cNvPr id="45" name="Shape 43"/>
          <p:cNvSpPr/>
          <p:nvPr/>
        </p:nvSpPr>
        <p:spPr>
          <a:xfrm>
            <a:off x="7114032" y="5646420"/>
            <a:ext cx="246888" cy="914"/>
          </a:xfrm>
          <a:prstGeom prst="line">
            <a:avLst/>
          </a:prstGeom>
          <a:noFill/>
          <a:ln w="25400">
            <a:solidFill>
              <a:srgbClr val="5FA8F5"/>
            </a:solidFill>
            <a:prstDash val="solid"/>
            <a:tailEnd type="triangle"/>
          </a:ln>
        </p:spPr>
      </p:sp>
      <p:sp>
        <p:nvSpPr>
          <p:cNvPr id="46" name="Shape 44"/>
          <p:cNvSpPr/>
          <p:nvPr/>
        </p:nvSpPr>
        <p:spPr>
          <a:xfrm>
            <a:off x="7397496" y="5257800"/>
            <a:ext cx="1993392" cy="777240"/>
          </a:xfrm>
          <a:prstGeom prst="roundRect">
            <a:avLst>
              <a:gd name="adj" fmla="val 941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47" name="Text 45"/>
          <p:cNvSpPr/>
          <p:nvPr/>
        </p:nvSpPr>
        <p:spPr>
          <a:xfrm>
            <a:off x="7470648" y="5330952"/>
            <a:ext cx="1847088" cy="6309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Pre-Renewal</a:t>
            </a:r>
            <a:endParaRPr lang="en-US" sz="1200" dirty="0"/>
          </a:p>
        </p:txBody>
      </p:sp>
      <p:sp>
        <p:nvSpPr>
          <p:cNvPr id="48" name="Shape 46"/>
          <p:cNvSpPr/>
          <p:nvPr/>
        </p:nvSpPr>
        <p:spPr>
          <a:xfrm>
            <a:off x="9427464" y="5646420"/>
            <a:ext cx="246888" cy="914"/>
          </a:xfrm>
          <a:prstGeom prst="line">
            <a:avLst/>
          </a:prstGeom>
          <a:noFill/>
          <a:ln w="25400">
            <a:solidFill>
              <a:srgbClr val="5FA8F5"/>
            </a:solidFill>
            <a:prstDash val="solid"/>
            <a:tailEnd type="triangle"/>
          </a:ln>
        </p:spPr>
      </p:sp>
      <p:sp>
        <p:nvSpPr>
          <p:cNvPr id="49" name="Shape 47"/>
          <p:cNvSpPr/>
          <p:nvPr/>
        </p:nvSpPr>
        <p:spPr>
          <a:xfrm>
            <a:off x="9710928" y="5257800"/>
            <a:ext cx="1993392" cy="777240"/>
          </a:xfrm>
          <a:prstGeom prst="roundRect">
            <a:avLst>
              <a:gd name="adj" fmla="val 9412"/>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50" name="Text 48"/>
          <p:cNvSpPr/>
          <p:nvPr/>
        </p:nvSpPr>
        <p:spPr>
          <a:xfrm>
            <a:off x="9784080" y="5330952"/>
            <a:ext cx="1847088" cy="6309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Renewal ↺</a:t>
            </a:r>
            <a:endParaRPr lang="en-US" sz="1200" dirty="0"/>
          </a:p>
        </p:txBody>
      </p:sp>
      <p:sp>
        <p:nvSpPr>
          <p:cNvPr id="51" name="Text 49"/>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LV LEGACY</a:t>
            </a:r>
            <a:endParaRPr lang="en-US" sz="900" dirty="0"/>
          </a:p>
        </p:txBody>
      </p:sp>
      <p:sp>
        <p:nvSpPr>
          <p:cNvPr id="52" name="Text 50"/>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53" name="Text 51"/>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5FA8F5">
              <a:alpha val="12000"/>
            </a:srgbClr>
          </a:solidFill>
          <a:ln/>
        </p:spPr>
      </p:sp>
      <p:sp>
        <p:nvSpPr>
          <p:cNvPr id="3" name="Shape 1"/>
          <p:cNvSpPr/>
          <p:nvPr/>
        </p:nvSpPr>
        <p:spPr>
          <a:xfrm>
            <a:off x="-1280160" y="6035040"/>
            <a:ext cx="2377440" cy="2377440"/>
          </a:xfrm>
          <a:prstGeom prst="ellipse">
            <a:avLst/>
          </a:prstGeom>
          <a:solidFill>
            <a:srgbClr val="5FA8F5">
              <a:alpha val="8000"/>
            </a:srgbClr>
          </a:solidFill>
          <a:ln/>
        </p:spPr>
      </p:sp>
      <p:sp>
        <p:nvSpPr>
          <p:cNvPr id="4" name="Shape 2"/>
          <p:cNvSpPr/>
          <p:nvPr/>
        </p:nvSpPr>
        <p:spPr>
          <a:xfrm>
            <a:off x="457200" y="384048"/>
            <a:ext cx="146304" cy="146304"/>
          </a:xfrm>
          <a:prstGeom prst="roundRect">
            <a:avLst>
              <a:gd name="adj" fmla="val 50000"/>
            </a:avLst>
          </a:prstGeom>
          <a:solidFill>
            <a:srgbClr val="5FA8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5FA8F5"/>
                </a:solidFill>
                <a:latin typeface="Calibri" pitchFamily="34" charset="0"/>
                <a:ea typeface="Calibri" pitchFamily="34" charset="-122"/>
                <a:cs typeface="Calibri" pitchFamily="34" charset="-120"/>
              </a:rPr>
              <a:t>SECTION 01</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Frontend &amp; SOAP UI</a:t>
            </a:r>
            <a:endParaRPr lang="en-US" sz="3000" dirty="0"/>
          </a:p>
        </p:txBody>
      </p:sp>
      <p:sp>
        <p:nvSpPr>
          <p:cNvPr id="7" name="Shape 5"/>
          <p:cNvSpPr/>
          <p:nvPr/>
        </p:nvSpPr>
        <p:spPr>
          <a:xfrm>
            <a:off x="457200" y="1645920"/>
            <a:ext cx="5394960" cy="3017520"/>
          </a:xfrm>
          <a:prstGeom prst="roundRect">
            <a:avLst>
              <a:gd name="adj" fmla="val 2424"/>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874520"/>
            <a:ext cx="91440" cy="91440"/>
          </a:xfrm>
          <a:prstGeom prst="roundRect">
            <a:avLst>
              <a:gd name="adj" fmla="val 50000"/>
            </a:avLst>
          </a:prstGeom>
          <a:solidFill>
            <a:srgbClr val="5FA8F5"/>
          </a:solidFill>
          <a:ln/>
        </p:spPr>
      </p:sp>
      <p:sp>
        <p:nvSpPr>
          <p:cNvPr id="9" name="Text 7"/>
          <p:cNvSpPr/>
          <p:nvPr/>
        </p:nvSpPr>
        <p:spPr>
          <a:xfrm>
            <a:off x="868680" y="1792224"/>
            <a:ext cx="4754880" cy="292608"/>
          </a:xfrm>
          <a:prstGeom prst="rect">
            <a:avLst/>
          </a:prstGeom>
          <a:noFill/>
          <a:ln/>
        </p:spPr>
        <p:txBody>
          <a:bodyPr wrap="square" rtlCol="0" anchor="ctr"/>
          <a:lstStyle/>
          <a:p>
            <a:pPr indent="0" marL="0">
              <a:buNone/>
            </a:pPr>
            <a:r>
              <a:rPr lang="en-US" sz="1400" b="1" dirty="0">
                <a:solidFill>
                  <a:srgbClr val="5FA8F5"/>
                </a:solidFill>
                <a:latin typeface="Calibri" pitchFamily="34" charset="0"/>
                <a:ea typeface="Calibri" pitchFamily="34" charset="-122"/>
                <a:cs typeface="Calibri" pitchFamily="34" charset="-120"/>
              </a:rPr>
              <a:t>Frontend</a:t>
            </a:r>
            <a:endParaRPr lang="en-US" sz="1400" dirty="0"/>
          </a:p>
        </p:txBody>
      </p:sp>
      <p:sp>
        <p:nvSpPr>
          <p:cNvPr id="10" name="Text 8"/>
          <p:cNvSpPr/>
          <p:nvPr/>
        </p:nvSpPr>
        <p:spPr>
          <a:xfrm>
            <a:off x="731520" y="2231136"/>
            <a:ext cx="4846320" cy="2249424"/>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User-facing application</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Used to enter customer and product information</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Initiates business operations</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Displays the response/result to the user</a:t>
            </a:r>
            <a:endParaRPr lang="en-US" sz="1250" dirty="0"/>
          </a:p>
        </p:txBody>
      </p:sp>
      <p:sp>
        <p:nvSpPr>
          <p:cNvPr id="11" name="Shape 9"/>
          <p:cNvSpPr/>
          <p:nvPr/>
        </p:nvSpPr>
        <p:spPr>
          <a:xfrm>
            <a:off x="6309360" y="1645920"/>
            <a:ext cx="5394960" cy="3017520"/>
          </a:xfrm>
          <a:prstGeom prst="roundRect">
            <a:avLst>
              <a:gd name="adj" fmla="val 2424"/>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6537960" y="1764792"/>
            <a:ext cx="4937760" cy="274320"/>
          </a:xfrm>
          <a:prstGeom prst="rect">
            <a:avLst/>
          </a:prstGeom>
          <a:noFill/>
          <a:ln/>
        </p:spPr>
        <p:txBody>
          <a:bodyPr wrap="square" rtlCol="0" anchor="ctr"/>
          <a:lstStyle/>
          <a:p>
            <a:pPr indent="0" marL="0">
              <a:buNone/>
            </a:pPr>
            <a:r>
              <a:rPr lang="en-US" sz="1300" b="1" spc="50" kern="0" dirty="0">
                <a:solidFill>
                  <a:srgbClr val="5FA8F5"/>
                </a:solidFill>
                <a:latin typeface="Calibri" pitchFamily="34" charset="0"/>
                <a:ea typeface="Calibri" pitchFamily="34" charset="-122"/>
                <a:cs typeface="Calibri" pitchFamily="34" charset="-120"/>
              </a:rPr>
              <a:t>SOAP UI / ReadyAPI</a:t>
            </a:r>
            <a:endParaRPr lang="en-US" sz="1300" dirty="0"/>
          </a:p>
        </p:txBody>
      </p:sp>
      <p:sp>
        <p:nvSpPr>
          <p:cNvPr id="13" name="Text 11"/>
          <p:cNvSpPr/>
          <p:nvPr/>
        </p:nvSpPr>
        <p:spPr>
          <a:xfrm>
            <a:off x="6537960" y="2084832"/>
            <a:ext cx="4937760" cy="237744"/>
          </a:xfrm>
          <a:prstGeom prst="rect">
            <a:avLst/>
          </a:prstGeom>
          <a:noFill/>
          <a:ln/>
        </p:spPr>
        <p:txBody>
          <a:bodyPr wrap="square" rtlCol="0" anchor="ctr"/>
          <a:lstStyle/>
          <a:p>
            <a:pPr indent="0" marL="0">
              <a:buNone/>
            </a:pPr>
            <a:r>
              <a:rPr lang="en-US" sz="1100" b="1" dirty="0">
                <a:solidFill>
                  <a:srgbClr val="F3F6FB"/>
                </a:solidFill>
                <a:latin typeface="Calibri" pitchFamily="34" charset="0"/>
                <a:ea typeface="Calibri" pitchFamily="34" charset="-122"/>
                <a:cs typeface="Calibri" pitchFamily="34" charset="-120"/>
              </a:rPr>
              <a:t>SOAP UI</a:t>
            </a:r>
            <a:endParaRPr lang="en-US" sz="1100" dirty="0"/>
          </a:p>
        </p:txBody>
      </p:sp>
      <p:sp>
        <p:nvSpPr>
          <p:cNvPr id="14" name="Text 12"/>
          <p:cNvSpPr/>
          <p:nvPr/>
        </p:nvSpPr>
        <p:spPr>
          <a:xfrm>
            <a:off x="6720840" y="2340864"/>
            <a:ext cx="4754880" cy="777240"/>
          </a:xfrm>
          <a:prstGeom prst="rect">
            <a:avLst/>
          </a:prstGeom>
          <a:noFill/>
          <a:ln/>
        </p:spPr>
        <p:txBody>
          <a:bodyPr wrap="square" rtlCol="0" anchor="t"/>
          <a:lstStyle/>
          <a:p>
            <a:pPr marL="342900" indent="-342900">
              <a:lnSpc>
                <a:spcPct val="105000"/>
              </a:lnSpc>
              <a:spcAft>
                <a:spcPts val="300"/>
              </a:spcAft>
              <a:buSzPct val="100000"/>
              <a:buChar char="•"/>
            </a:pPr>
            <a:r>
              <a:rPr lang="en-US" sz="1000" dirty="0">
                <a:solidFill>
                  <a:srgbClr val="97A3BE"/>
                </a:solidFill>
                <a:latin typeface="Calibri" pitchFamily="34" charset="0"/>
                <a:ea typeface="Calibri" pitchFamily="34" charset="-122"/>
                <a:cs typeface="Calibri" pitchFamily="34" charset="-120"/>
              </a:rPr>
              <a:t>API / web-service testing</a:t>
            </a:r>
            <a:endParaRPr lang="en-US" sz="1000" dirty="0"/>
          </a:p>
          <a:p>
            <a:pPr marL="342900" indent="-342900">
              <a:lnSpc>
                <a:spcPct val="105000"/>
              </a:lnSpc>
              <a:spcAft>
                <a:spcPts val="300"/>
              </a:spcAft>
              <a:buSzPct val="100000"/>
              <a:buChar char="•"/>
            </a:pPr>
            <a:r>
              <a:rPr lang="en-US" sz="1000" dirty="0">
                <a:solidFill>
                  <a:srgbClr val="97A3BE"/>
                </a:solidFill>
                <a:latin typeface="Calibri" pitchFamily="34" charset="0"/>
                <a:ea typeface="Calibri" pitchFamily="34" charset="-122"/>
                <a:cs typeface="Calibri" pitchFamily="34" charset="-120"/>
              </a:rPr>
              <a:t>Direct request &amp; response validation</a:t>
            </a:r>
            <a:endParaRPr lang="en-US" sz="1000" dirty="0"/>
          </a:p>
          <a:p>
            <a:pPr marL="342900" indent="-342900">
              <a:lnSpc>
                <a:spcPct val="105000"/>
              </a:lnSpc>
              <a:buSzPct val="100000"/>
              <a:buChar char="•"/>
            </a:pPr>
            <a:r>
              <a:rPr lang="en-US" sz="1000" dirty="0">
                <a:solidFill>
                  <a:srgbClr val="97A3BE"/>
                </a:solidFill>
                <a:latin typeface="Calibri" pitchFamily="34" charset="0"/>
                <a:ea typeface="Calibri" pitchFamily="34" charset="-122"/>
                <a:cs typeface="Calibri" pitchFamily="34" charset="-120"/>
              </a:rPr>
              <a:t>Useful for backend/service testing</a:t>
            </a:r>
            <a:endParaRPr lang="en-US" sz="1000" dirty="0"/>
          </a:p>
        </p:txBody>
      </p:sp>
      <p:sp>
        <p:nvSpPr>
          <p:cNvPr id="15" name="Text 13"/>
          <p:cNvSpPr/>
          <p:nvPr/>
        </p:nvSpPr>
        <p:spPr>
          <a:xfrm>
            <a:off x="6537960" y="3200400"/>
            <a:ext cx="4937760" cy="237744"/>
          </a:xfrm>
          <a:prstGeom prst="rect">
            <a:avLst/>
          </a:prstGeom>
          <a:noFill/>
          <a:ln/>
        </p:spPr>
        <p:txBody>
          <a:bodyPr wrap="square" rtlCol="0" anchor="ctr"/>
          <a:lstStyle/>
          <a:p>
            <a:pPr indent="0" marL="0">
              <a:buNone/>
            </a:pPr>
            <a:r>
              <a:rPr lang="en-US" sz="1100" b="1" dirty="0">
                <a:solidFill>
                  <a:srgbClr val="F3F6FB"/>
                </a:solidFill>
                <a:latin typeface="Calibri" pitchFamily="34" charset="0"/>
                <a:ea typeface="Calibri" pitchFamily="34" charset="-122"/>
                <a:cs typeface="Calibri" pitchFamily="34" charset="-120"/>
              </a:rPr>
              <a:t>ReadyAPI</a:t>
            </a:r>
            <a:endParaRPr lang="en-US" sz="1100" dirty="0"/>
          </a:p>
        </p:txBody>
      </p:sp>
      <p:sp>
        <p:nvSpPr>
          <p:cNvPr id="16" name="Text 14"/>
          <p:cNvSpPr/>
          <p:nvPr/>
        </p:nvSpPr>
        <p:spPr>
          <a:xfrm>
            <a:off x="6720840" y="3456432"/>
            <a:ext cx="4754880" cy="1097280"/>
          </a:xfrm>
          <a:prstGeom prst="rect">
            <a:avLst/>
          </a:prstGeom>
          <a:noFill/>
          <a:ln/>
        </p:spPr>
        <p:txBody>
          <a:bodyPr wrap="square" rtlCol="0" anchor="t"/>
          <a:lstStyle/>
          <a:p>
            <a:pPr marL="342900" indent="-342900">
              <a:lnSpc>
                <a:spcPct val="102000"/>
              </a:lnSpc>
              <a:spcAft>
                <a:spcPts val="300"/>
              </a:spcAft>
              <a:buSzPct val="100000"/>
              <a:buChar char="•"/>
            </a:pPr>
            <a:r>
              <a:rPr lang="en-US" sz="1000" dirty="0">
                <a:solidFill>
                  <a:srgbClr val="97A3BE"/>
                </a:solidFill>
                <a:latin typeface="Calibri" pitchFamily="34" charset="0"/>
                <a:ea typeface="Calibri" pitchFamily="34" charset="-122"/>
                <a:cs typeface="Calibri" pitchFamily="34" charset="-120"/>
              </a:rPr>
              <a:t>API testing &amp; automation</a:t>
            </a:r>
            <a:endParaRPr lang="en-US" sz="1000" dirty="0"/>
          </a:p>
          <a:p>
            <a:pPr marL="342900" indent="-342900">
              <a:lnSpc>
                <a:spcPct val="102000"/>
              </a:lnSpc>
              <a:spcAft>
                <a:spcPts val="300"/>
              </a:spcAft>
              <a:buSzPct val="100000"/>
              <a:buChar char="•"/>
            </a:pPr>
            <a:r>
              <a:rPr lang="en-US" sz="1000" dirty="0">
                <a:solidFill>
                  <a:srgbClr val="97A3BE"/>
                </a:solidFill>
                <a:latin typeface="Calibri" pitchFamily="34" charset="0"/>
                <a:ea typeface="Calibri" pitchFamily="34" charset="-122"/>
                <a:cs typeface="Calibri" pitchFamily="34" charset="-120"/>
              </a:rPr>
              <a:t>Data-driven test execution</a:t>
            </a:r>
            <a:endParaRPr lang="en-US" sz="1000" dirty="0"/>
          </a:p>
          <a:p>
            <a:pPr marL="342900" indent="-342900">
              <a:lnSpc>
                <a:spcPct val="102000"/>
              </a:lnSpc>
              <a:spcAft>
                <a:spcPts val="300"/>
              </a:spcAft>
              <a:buSzPct val="100000"/>
              <a:buChar char="•"/>
            </a:pPr>
            <a:r>
              <a:rPr lang="en-US" sz="1000" dirty="0">
                <a:solidFill>
                  <a:srgbClr val="97A3BE"/>
                </a:solidFill>
                <a:latin typeface="Calibri" pitchFamily="34" charset="0"/>
                <a:ea typeface="Calibri" pitchFamily="34" charset="-122"/>
                <a:cs typeface="Calibri" pitchFamily="34" charset="-120"/>
              </a:rPr>
              <a:t>Dynamic request generation</a:t>
            </a:r>
            <a:endParaRPr lang="en-US" sz="1000" dirty="0"/>
          </a:p>
          <a:p>
            <a:pPr marL="342900" indent="-342900">
              <a:lnSpc>
                <a:spcPct val="102000"/>
              </a:lnSpc>
              <a:spcAft>
                <a:spcPts val="300"/>
              </a:spcAft>
              <a:buSzPct val="100000"/>
              <a:buChar char="•"/>
            </a:pPr>
            <a:r>
              <a:rPr lang="en-US" sz="1000" dirty="0">
                <a:solidFill>
                  <a:srgbClr val="97A3BE"/>
                </a:solidFill>
                <a:latin typeface="Calibri" pitchFamily="34" charset="0"/>
                <a:ea typeface="Calibri" pitchFamily="34" charset="-122"/>
                <a:cs typeface="Calibri" pitchFamily="34" charset="-120"/>
              </a:rPr>
              <a:t>Supports SOAP &amp; REST APIs</a:t>
            </a:r>
            <a:endParaRPr lang="en-US" sz="1000" dirty="0"/>
          </a:p>
          <a:p>
            <a:pPr marL="342900" indent="-342900">
              <a:lnSpc>
                <a:spcPct val="102000"/>
              </a:lnSpc>
              <a:buSzPct val="100000"/>
              <a:buChar char="•"/>
            </a:pPr>
            <a:r>
              <a:rPr lang="en-US" sz="1000" dirty="0">
                <a:solidFill>
                  <a:srgbClr val="97A3BE"/>
                </a:solidFill>
                <a:latin typeface="Calibri" pitchFamily="34" charset="0"/>
                <a:ea typeface="Calibri" pitchFamily="34" charset="-122"/>
                <a:cs typeface="Calibri" pitchFamily="34" charset="-120"/>
              </a:rPr>
              <a:t>Response validation</a:t>
            </a:r>
            <a:endParaRPr lang="en-US" sz="1000" dirty="0"/>
          </a:p>
        </p:txBody>
      </p:sp>
      <p:sp>
        <p:nvSpPr>
          <p:cNvPr id="17" name="Shape 15"/>
          <p:cNvSpPr/>
          <p:nvPr/>
        </p:nvSpPr>
        <p:spPr>
          <a:xfrm>
            <a:off x="457200" y="4937760"/>
            <a:ext cx="1607820" cy="1051560"/>
          </a:xfrm>
          <a:prstGeom prst="roundRect">
            <a:avLst>
              <a:gd name="adj" fmla="val 6957"/>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8" name="Text 16"/>
          <p:cNvSpPr/>
          <p:nvPr/>
        </p:nvSpPr>
        <p:spPr>
          <a:xfrm>
            <a:off x="530352" y="5010912"/>
            <a:ext cx="1461516" cy="90525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Test Data</a:t>
            </a:r>
            <a:endParaRPr lang="en-US" sz="1200" dirty="0"/>
          </a:p>
        </p:txBody>
      </p:sp>
      <p:sp>
        <p:nvSpPr>
          <p:cNvPr id="19" name="Shape 17"/>
          <p:cNvSpPr/>
          <p:nvPr/>
        </p:nvSpPr>
        <p:spPr>
          <a:xfrm>
            <a:off x="2101596" y="5463540"/>
            <a:ext cx="246888" cy="914"/>
          </a:xfrm>
          <a:prstGeom prst="line">
            <a:avLst/>
          </a:prstGeom>
          <a:noFill/>
          <a:ln w="25400">
            <a:solidFill>
              <a:srgbClr val="5FA8F5"/>
            </a:solidFill>
            <a:prstDash val="solid"/>
            <a:tailEnd type="triangle"/>
          </a:ln>
        </p:spPr>
      </p:sp>
      <p:sp>
        <p:nvSpPr>
          <p:cNvPr id="20" name="Shape 18"/>
          <p:cNvSpPr/>
          <p:nvPr/>
        </p:nvSpPr>
        <p:spPr>
          <a:xfrm>
            <a:off x="2385060" y="4937760"/>
            <a:ext cx="1607820" cy="1051560"/>
          </a:xfrm>
          <a:prstGeom prst="roundRect">
            <a:avLst>
              <a:gd name="adj" fmla="val 6957"/>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1" name="Text 19"/>
          <p:cNvSpPr/>
          <p:nvPr/>
        </p:nvSpPr>
        <p:spPr>
          <a:xfrm>
            <a:off x="2458212" y="5010912"/>
            <a:ext cx="1461516" cy="90525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SOAP UI /</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ReadyAPI</a:t>
            </a:r>
            <a:endParaRPr lang="en-US" sz="1200" dirty="0"/>
          </a:p>
        </p:txBody>
      </p:sp>
      <p:sp>
        <p:nvSpPr>
          <p:cNvPr id="22" name="Shape 20"/>
          <p:cNvSpPr/>
          <p:nvPr/>
        </p:nvSpPr>
        <p:spPr>
          <a:xfrm>
            <a:off x="4029456" y="5463540"/>
            <a:ext cx="246888" cy="914"/>
          </a:xfrm>
          <a:prstGeom prst="line">
            <a:avLst/>
          </a:prstGeom>
          <a:noFill/>
          <a:ln w="25400">
            <a:solidFill>
              <a:srgbClr val="5FA8F5"/>
            </a:solidFill>
            <a:prstDash val="solid"/>
            <a:tailEnd type="triangle"/>
          </a:ln>
        </p:spPr>
      </p:sp>
      <p:sp>
        <p:nvSpPr>
          <p:cNvPr id="23" name="Shape 21"/>
          <p:cNvSpPr/>
          <p:nvPr/>
        </p:nvSpPr>
        <p:spPr>
          <a:xfrm>
            <a:off x="4312920" y="4937760"/>
            <a:ext cx="1607820" cy="1051560"/>
          </a:xfrm>
          <a:prstGeom prst="roundRect">
            <a:avLst>
              <a:gd name="adj" fmla="val 6957"/>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4386072" y="5010912"/>
            <a:ext cx="1461516" cy="90525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API</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Request</a:t>
            </a:r>
            <a:endParaRPr lang="en-US" sz="1200" dirty="0"/>
          </a:p>
        </p:txBody>
      </p:sp>
      <p:sp>
        <p:nvSpPr>
          <p:cNvPr id="25" name="Shape 23"/>
          <p:cNvSpPr/>
          <p:nvPr/>
        </p:nvSpPr>
        <p:spPr>
          <a:xfrm>
            <a:off x="5957316" y="5463540"/>
            <a:ext cx="246888" cy="914"/>
          </a:xfrm>
          <a:prstGeom prst="line">
            <a:avLst/>
          </a:prstGeom>
          <a:noFill/>
          <a:ln w="25400">
            <a:solidFill>
              <a:srgbClr val="5FA8F5"/>
            </a:solidFill>
            <a:prstDash val="solid"/>
            <a:tailEnd type="triangle"/>
          </a:ln>
        </p:spPr>
      </p:sp>
      <p:sp>
        <p:nvSpPr>
          <p:cNvPr id="26" name="Shape 24"/>
          <p:cNvSpPr/>
          <p:nvPr/>
        </p:nvSpPr>
        <p:spPr>
          <a:xfrm>
            <a:off x="6240780" y="4937760"/>
            <a:ext cx="1607820" cy="1051560"/>
          </a:xfrm>
          <a:prstGeom prst="roundRect">
            <a:avLst>
              <a:gd name="adj" fmla="val 6957"/>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6313932" y="5010912"/>
            <a:ext cx="1461516" cy="90525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Backend</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Service</a:t>
            </a:r>
            <a:endParaRPr lang="en-US" sz="1200" dirty="0"/>
          </a:p>
        </p:txBody>
      </p:sp>
      <p:sp>
        <p:nvSpPr>
          <p:cNvPr id="28" name="Shape 26"/>
          <p:cNvSpPr/>
          <p:nvPr/>
        </p:nvSpPr>
        <p:spPr>
          <a:xfrm>
            <a:off x="7885176" y="5463540"/>
            <a:ext cx="246888" cy="914"/>
          </a:xfrm>
          <a:prstGeom prst="line">
            <a:avLst/>
          </a:prstGeom>
          <a:noFill/>
          <a:ln w="25400">
            <a:solidFill>
              <a:srgbClr val="5FA8F5"/>
            </a:solidFill>
            <a:prstDash val="solid"/>
            <a:tailEnd type="triangle"/>
          </a:ln>
        </p:spPr>
      </p:sp>
      <p:sp>
        <p:nvSpPr>
          <p:cNvPr id="29" name="Shape 27"/>
          <p:cNvSpPr/>
          <p:nvPr/>
        </p:nvSpPr>
        <p:spPr>
          <a:xfrm>
            <a:off x="8168640" y="4937760"/>
            <a:ext cx="1607820" cy="1051560"/>
          </a:xfrm>
          <a:prstGeom prst="roundRect">
            <a:avLst>
              <a:gd name="adj" fmla="val 6957"/>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30" name="Text 28"/>
          <p:cNvSpPr/>
          <p:nvPr/>
        </p:nvSpPr>
        <p:spPr>
          <a:xfrm>
            <a:off x="8241792" y="5010912"/>
            <a:ext cx="1461516" cy="90525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API</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Response</a:t>
            </a:r>
            <a:endParaRPr lang="en-US" sz="1200" dirty="0"/>
          </a:p>
        </p:txBody>
      </p:sp>
      <p:sp>
        <p:nvSpPr>
          <p:cNvPr id="31" name="Shape 29"/>
          <p:cNvSpPr/>
          <p:nvPr/>
        </p:nvSpPr>
        <p:spPr>
          <a:xfrm>
            <a:off x="9813036" y="5463540"/>
            <a:ext cx="246888" cy="914"/>
          </a:xfrm>
          <a:prstGeom prst="line">
            <a:avLst/>
          </a:prstGeom>
          <a:noFill/>
          <a:ln w="25400">
            <a:solidFill>
              <a:srgbClr val="5FA8F5"/>
            </a:solidFill>
            <a:prstDash val="solid"/>
            <a:tailEnd type="triangle"/>
          </a:ln>
        </p:spPr>
      </p:sp>
      <p:sp>
        <p:nvSpPr>
          <p:cNvPr id="32" name="Shape 30"/>
          <p:cNvSpPr/>
          <p:nvPr/>
        </p:nvSpPr>
        <p:spPr>
          <a:xfrm>
            <a:off x="10096500" y="4937760"/>
            <a:ext cx="1607820" cy="1051560"/>
          </a:xfrm>
          <a:prstGeom prst="roundRect">
            <a:avLst>
              <a:gd name="adj" fmla="val 6957"/>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33" name="Text 31"/>
          <p:cNvSpPr/>
          <p:nvPr/>
        </p:nvSpPr>
        <p:spPr>
          <a:xfrm>
            <a:off x="10169652" y="5010912"/>
            <a:ext cx="1461516" cy="90525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Validation</a:t>
            </a:r>
            <a:endParaRPr lang="en-US" sz="1200" dirty="0"/>
          </a:p>
        </p:txBody>
      </p:sp>
      <p:sp>
        <p:nvSpPr>
          <p:cNvPr id="34" name="Text 32"/>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LV LEGACY</a:t>
            </a:r>
            <a:endParaRPr lang="en-US" sz="900" dirty="0"/>
          </a:p>
        </p:txBody>
      </p:sp>
      <p:sp>
        <p:nvSpPr>
          <p:cNvPr id="35" name="Text 33"/>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6" name="Text 34"/>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5FA8F5">
              <a:alpha val="12000"/>
            </a:srgbClr>
          </a:solidFill>
          <a:ln/>
        </p:spPr>
      </p:sp>
      <p:sp>
        <p:nvSpPr>
          <p:cNvPr id="3" name="Shape 1"/>
          <p:cNvSpPr/>
          <p:nvPr/>
        </p:nvSpPr>
        <p:spPr>
          <a:xfrm>
            <a:off x="-1280160" y="6035040"/>
            <a:ext cx="2377440" cy="2377440"/>
          </a:xfrm>
          <a:prstGeom prst="ellipse">
            <a:avLst/>
          </a:prstGeom>
          <a:solidFill>
            <a:srgbClr val="5FA8F5">
              <a:alpha val="8000"/>
            </a:srgbClr>
          </a:solidFill>
          <a:ln/>
        </p:spPr>
      </p:sp>
      <p:sp>
        <p:nvSpPr>
          <p:cNvPr id="4" name="Shape 2"/>
          <p:cNvSpPr/>
          <p:nvPr/>
        </p:nvSpPr>
        <p:spPr>
          <a:xfrm>
            <a:off x="457200" y="384048"/>
            <a:ext cx="146304" cy="146304"/>
          </a:xfrm>
          <a:prstGeom prst="roundRect">
            <a:avLst>
              <a:gd name="adj" fmla="val 50000"/>
            </a:avLst>
          </a:prstGeom>
          <a:solidFill>
            <a:srgbClr val="5FA8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5FA8F5"/>
                </a:solidFill>
                <a:latin typeface="Calibri" pitchFamily="34" charset="0"/>
                <a:ea typeface="Calibri" pitchFamily="34" charset="-122"/>
                <a:cs typeface="Calibri" pitchFamily="34" charset="-120"/>
              </a:rPr>
              <a:t>SECTION 01</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Guidewire Basics</a:t>
            </a:r>
            <a:endParaRPr lang="en-US" sz="3000" dirty="0"/>
          </a:p>
        </p:txBody>
      </p:sp>
      <p:sp>
        <p:nvSpPr>
          <p:cNvPr id="7" name="Shape 5"/>
          <p:cNvSpPr/>
          <p:nvPr/>
        </p:nvSpPr>
        <p:spPr>
          <a:xfrm>
            <a:off x="457200" y="1645920"/>
            <a:ext cx="5394960" cy="2011680"/>
          </a:xfrm>
          <a:prstGeom prst="roundRect">
            <a:avLst>
              <a:gd name="adj" fmla="val 3636"/>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874520"/>
            <a:ext cx="91440" cy="91440"/>
          </a:xfrm>
          <a:prstGeom prst="roundRect">
            <a:avLst>
              <a:gd name="adj" fmla="val 50000"/>
            </a:avLst>
          </a:prstGeom>
          <a:solidFill>
            <a:srgbClr val="5FA8F5"/>
          </a:solidFill>
          <a:ln/>
        </p:spPr>
      </p:sp>
      <p:sp>
        <p:nvSpPr>
          <p:cNvPr id="9" name="Text 7"/>
          <p:cNvSpPr/>
          <p:nvPr/>
        </p:nvSpPr>
        <p:spPr>
          <a:xfrm>
            <a:off x="868680" y="1792224"/>
            <a:ext cx="4754880" cy="292608"/>
          </a:xfrm>
          <a:prstGeom prst="rect">
            <a:avLst/>
          </a:prstGeom>
          <a:noFill/>
          <a:ln/>
        </p:spPr>
        <p:txBody>
          <a:bodyPr wrap="square" rtlCol="0" anchor="ctr"/>
          <a:lstStyle/>
          <a:p>
            <a:pPr indent="0" marL="0">
              <a:buNone/>
            </a:pPr>
            <a:r>
              <a:rPr lang="en-US" sz="1400" b="1" dirty="0">
                <a:solidFill>
                  <a:srgbClr val="5FA8F5"/>
                </a:solidFill>
                <a:latin typeface="Calibri" pitchFamily="34" charset="0"/>
                <a:ea typeface="Calibri" pitchFamily="34" charset="-122"/>
                <a:cs typeface="Calibri" pitchFamily="34" charset="-120"/>
              </a:rPr>
              <a:t>What Is Guidewire?</a:t>
            </a:r>
            <a:endParaRPr lang="en-US" sz="1400" dirty="0"/>
          </a:p>
        </p:txBody>
      </p:sp>
      <p:sp>
        <p:nvSpPr>
          <p:cNvPr id="10" name="Text 8"/>
          <p:cNvSpPr/>
          <p:nvPr/>
        </p:nvSpPr>
        <p:spPr>
          <a:xfrm>
            <a:off x="731520" y="2231136"/>
            <a:ext cx="4846320" cy="1243584"/>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Insurance-focused software platform</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Supports core insurance business processes</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Provides different applications for different areas of insurance</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3840480"/>
          <a:ext cx="5394960" cy="914400"/>
        </p:xfrm>
        <a:graphic>
          <a:graphicData uri="http://schemas.openxmlformats.org/drawingml/2006/table">
            <a:tbl>
              <a:tblPr/>
              <a:tblGrid>
                <a:gridCol w="2377440"/>
                <a:gridCol w="3017520"/>
              </a:tblGrid>
              <a:tr h="548640">
                <a:tc>
                  <a:txBody>
                    <a:bodyPr/>
                    <a:lstStyle/>
                    <a:p>
                      <a:pPr algn="l" indent="0" marL="0">
                        <a:buNone/>
                      </a:pPr>
                      <a:r>
                        <a:rPr lang="en-US" sz="1200" b="1" dirty="0">
                          <a:solidFill>
                            <a:srgbClr val="0A0F1E"/>
                          </a:solidFill>
                          <a:latin typeface="Calibri" pitchFamily="34" charset="0"/>
                          <a:ea typeface="Calibri" pitchFamily="34" charset="-122"/>
                          <a:cs typeface="Calibri" pitchFamily="34" charset="-120"/>
                        </a:rPr>
                        <a:t>Product</a:t>
                      </a:r>
                      <a:endParaRPr lang="en-US" sz="120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5FA8F5"/>
                    </a:solidFill>
                  </a:tcPr>
                </a:tc>
                <a:tc>
                  <a:txBody>
                    <a:bodyPr/>
                    <a:lstStyle/>
                    <a:p>
                      <a:pPr algn="l" indent="0" marL="0">
                        <a:buNone/>
                      </a:pPr>
                      <a:r>
                        <a:rPr lang="en-US" sz="1200" b="1" dirty="0">
                          <a:solidFill>
                            <a:srgbClr val="0A0F1E"/>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5FA8F5"/>
                    </a:solidFill>
                  </a:tcPr>
                </a:tc>
              </a:tr>
              <a:tr h="54864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PolicyCenter</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Policy management</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r>
              <a:tr h="54864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ClaimCenter</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01A30"/>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Claims management</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01A30"/>
                    </a:solidFill>
                  </a:tcPr>
                </a:tc>
              </a:tr>
              <a:tr h="54864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BillingCenter</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Billing &amp; payments</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r>
            </a:tbl>
          </a:graphicData>
        </a:graphic>
      </p:graphicFrame>
      <p:sp>
        <p:nvSpPr>
          <p:cNvPr id="12" name="Shape 9"/>
          <p:cNvSpPr/>
          <p:nvPr/>
        </p:nvSpPr>
        <p:spPr>
          <a:xfrm>
            <a:off x="6309360" y="1645920"/>
            <a:ext cx="5394960" cy="502920"/>
          </a:xfrm>
          <a:prstGeom prst="roundRect">
            <a:avLst>
              <a:gd name="adj" fmla="val 14545"/>
            </a:avLst>
          </a:prstGeom>
          <a:solidFill>
            <a:srgbClr val="18233F"/>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3" name="Text 10"/>
          <p:cNvSpPr/>
          <p:nvPr/>
        </p:nvSpPr>
        <p:spPr>
          <a:xfrm>
            <a:off x="6355080" y="1645920"/>
            <a:ext cx="5303520" cy="502920"/>
          </a:xfrm>
          <a:prstGeom prst="rect">
            <a:avLst/>
          </a:prstGeom>
          <a:noFill/>
          <a:ln/>
        </p:spPr>
        <p:txBody>
          <a:bodyPr wrap="square" rtlCol="0" anchor="ctr"/>
          <a:lstStyle/>
          <a:p>
            <a:pPr algn="ctr" indent="0" marL="0">
              <a:buNone/>
            </a:pPr>
            <a:r>
              <a:rPr lang="en-US" sz="1300" b="1" dirty="0">
                <a:solidFill>
                  <a:srgbClr val="F3F6FB"/>
                </a:solidFill>
                <a:latin typeface="Calibri" pitchFamily="34" charset="0"/>
                <a:ea typeface="Calibri" pitchFamily="34" charset="-122"/>
                <a:cs typeface="Calibri" pitchFamily="34" charset="-120"/>
              </a:rPr>
              <a:t>GUIDEWIRE</a:t>
            </a:r>
            <a:endParaRPr lang="en-US" sz="1300" dirty="0"/>
          </a:p>
        </p:txBody>
      </p:sp>
      <p:sp>
        <p:nvSpPr>
          <p:cNvPr id="14" name="Shape 11"/>
          <p:cNvSpPr/>
          <p:nvPr/>
        </p:nvSpPr>
        <p:spPr>
          <a:xfrm>
            <a:off x="6423660" y="2423160"/>
            <a:ext cx="1600200" cy="502920"/>
          </a:xfrm>
          <a:prstGeom prst="roundRect">
            <a:avLst>
              <a:gd name="adj" fmla="val 14545"/>
            </a:avLst>
          </a:prstGeom>
          <a:solidFill>
            <a:srgbClr val="3D3117"/>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15" name="Text 12"/>
          <p:cNvSpPr/>
          <p:nvPr/>
        </p:nvSpPr>
        <p:spPr>
          <a:xfrm>
            <a:off x="6469380" y="2423160"/>
            <a:ext cx="1508760" cy="502920"/>
          </a:xfrm>
          <a:prstGeom prst="rect">
            <a:avLst/>
          </a:prstGeom>
          <a:noFill/>
          <a:ln/>
        </p:spPr>
        <p:txBody>
          <a:bodyPr wrap="square" rtlCol="0" anchor="ctr"/>
          <a:lstStyle/>
          <a:p>
            <a:pPr algn="ctr" indent="0" marL="0">
              <a:buNone/>
            </a:pPr>
            <a:r>
              <a:rPr lang="en-US" sz="950" b="1" dirty="0">
                <a:solidFill>
                  <a:srgbClr val="F5B942"/>
                </a:solidFill>
                <a:latin typeface="Calibri" pitchFamily="34" charset="0"/>
                <a:ea typeface="Calibri" pitchFamily="34" charset="-122"/>
                <a:cs typeface="Calibri" pitchFamily="34" charset="-120"/>
              </a:rPr>
              <a:t>PolicyCenter</a:t>
            </a:r>
            <a:endParaRPr lang="en-US" sz="950" dirty="0"/>
          </a:p>
        </p:txBody>
      </p:sp>
      <p:sp>
        <p:nvSpPr>
          <p:cNvPr id="16" name="Shape 13"/>
          <p:cNvSpPr/>
          <p:nvPr/>
        </p:nvSpPr>
        <p:spPr>
          <a:xfrm>
            <a:off x="9006840" y="2148840"/>
            <a:ext cx="-1783080" cy="274320"/>
          </a:xfrm>
          <a:prstGeom prst="line">
            <a:avLst/>
          </a:prstGeom>
          <a:noFill/>
          <a:ln w="16510">
            <a:solidFill>
              <a:srgbClr val="5FA8F5"/>
            </a:solidFill>
            <a:prstDash val="solid"/>
          </a:ln>
        </p:spPr>
      </p:sp>
      <p:sp>
        <p:nvSpPr>
          <p:cNvPr id="17" name="Shape 14"/>
          <p:cNvSpPr/>
          <p:nvPr/>
        </p:nvSpPr>
        <p:spPr>
          <a:xfrm>
            <a:off x="8206740" y="2423160"/>
            <a:ext cx="1600200" cy="502920"/>
          </a:xfrm>
          <a:prstGeom prst="roundRect">
            <a:avLst>
              <a:gd name="adj" fmla="val 14545"/>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8" name="Text 15"/>
          <p:cNvSpPr/>
          <p:nvPr/>
        </p:nvSpPr>
        <p:spPr>
          <a:xfrm>
            <a:off x="8252460" y="2423160"/>
            <a:ext cx="1508760" cy="502920"/>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ClaimCenter</a:t>
            </a:r>
            <a:endParaRPr lang="en-US" sz="950" dirty="0"/>
          </a:p>
        </p:txBody>
      </p:sp>
      <p:sp>
        <p:nvSpPr>
          <p:cNvPr id="19" name="Shape 16"/>
          <p:cNvSpPr/>
          <p:nvPr/>
        </p:nvSpPr>
        <p:spPr>
          <a:xfrm>
            <a:off x="9006840" y="2148840"/>
            <a:ext cx="0" cy="274320"/>
          </a:xfrm>
          <a:prstGeom prst="line">
            <a:avLst/>
          </a:prstGeom>
          <a:noFill/>
          <a:ln w="16510">
            <a:solidFill>
              <a:srgbClr val="5FA8F5"/>
            </a:solidFill>
            <a:prstDash val="solid"/>
          </a:ln>
        </p:spPr>
      </p:sp>
      <p:sp>
        <p:nvSpPr>
          <p:cNvPr id="20" name="Shape 17"/>
          <p:cNvSpPr/>
          <p:nvPr/>
        </p:nvSpPr>
        <p:spPr>
          <a:xfrm>
            <a:off x="9989820" y="2423160"/>
            <a:ext cx="1600200" cy="502920"/>
          </a:xfrm>
          <a:prstGeom prst="roundRect">
            <a:avLst>
              <a:gd name="adj" fmla="val 14545"/>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1" name="Text 18"/>
          <p:cNvSpPr/>
          <p:nvPr/>
        </p:nvSpPr>
        <p:spPr>
          <a:xfrm>
            <a:off x="10035540" y="2423160"/>
            <a:ext cx="1508760" cy="502920"/>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BillingCenter</a:t>
            </a:r>
            <a:endParaRPr lang="en-US" sz="950" dirty="0"/>
          </a:p>
        </p:txBody>
      </p:sp>
      <p:sp>
        <p:nvSpPr>
          <p:cNvPr id="22" name="Shape 19"/>
          <p:cNvSpPr/>
          <p:nvPr/>
        </p:nvSpPr>
        <p:spPr>
          <a:xfrm>
            <a:off x="9006840" y="2148840"/>
            <a:ext cx="1783080" cy="274320"/>
          </a:xfrm>
          <a:prstGeom prst="line">
            <a:avLst/>
          </a:prstGeom>
          <a:noFill/>
          <a:ln w="16510">
            <a:solidFill>
              <a:srgbClr val="5FA8F5"/>
            </a:solidFill>
            <a:prstDash val="solid"/>
          </a:ln>
        </p:spPr>
      </p:sp>
      <p:sp>
        <p:nvSpPr>
          <p:cNvPr id="23" name="Shape 20"/>
          <p:cNvSpPr/>
          <p:nvPr/>
        </p:nvSpPr>
        <p:spPr>
          <a:xfrm>
            <a:off x="7223760" y="2926080"/>
            <a:ext cx="914" cy="274320"/>
          </a:xfrm>
          <a:prstGeom prst="line">
            <a:avLst/>
          </a:prstGeom>
          <a:noFill/>
          <a:ln w="25400">
            <a:solidFill>
              <a:srgbClr val="F5B942"/>
            </a:solidFill>
            <a:prstDash val="solid"/>
            <a:tailEnd type="triangle"/>
          </a:ln>
        </p:spPr>
      </p:sp>
      <p:sp>
        <p:nvSpPr>
          <p:cNvPr id="24" name="Shape 21"/>
          <p:cNvSpPr/>
          <p:nvPr/>
        </p:nvSpPr>
        <p:spPr>
          <a:xfrm>
            <a:off x="6149340" y="3200400"/>
            <a:ext cx="2148840" cy="502920"/>
          </a:xfrm>
          <a:prstGeom prst="roundRect">
            <a:avLst>
              <a:gd name="adj" fmla="val 14545"/>
            </a:avLst>
          </a:prstGeom>
          <a:solidFill>
            <a:srgbClr val="3D3117"/>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25" name="Text 22"/>
          <p:cNvSpPr/>
          <p:nvPr/>
        </p:nvSpPr>
        <p:spPr>
          <a:xfrm>
            <a:off x="6195060" y="3200400"/>
            <a:ext cx="2057400" cy="502920"/>
          </a:xfrm>
          <a:prstGeom prst="rect">
            <a:avLst/>
          </a:prstGeom>
          <a:noFill/>
          <a:ln/>
        </p:spPr>
        <p:txBody>
          <a:bodyPr wrap="square" rtlCol="0" anchor="ctr"/>
          <a:lstStyle/>
          <a:p>
            <a:pPr algn="ctr" indent="0" marL="0">
              <a:buNone/>
            </a:pPr>
            <a:r>
              <a:rPr lang="en-US" sz="1050" b="1" dirty="0">
                <a:solidFill>
                  <a:srgbClr val="F5B942"/>
                </a:solidFill>
                <a:latin typeface="Calibri" pitchFamily="34" charset="0"/>
                <a:ea typeface="Calibri" pitchFamily="34" charset="-122"/>
                <a:cs typeface="Calibri" pitchFamily="34" charset="-120"/>
              </a:rPr>
              <a:t>Policy Management</a:t>
            </a:r>
            <a:endParaRPr lang="en-US" sz="1050" dirty="0"/>
          </a:p>
        </p:txBody>
      </p:sp>
      <p:sp>
        <p:nvSpPr>
          <p:cNvPr id="27" name="Text 23"/>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LV LEGACY</a:t>
            </a:r>
            <a:endParaRPr lang="en-US" sz="900" dirty="0"/>
          </a:p>
        </p:txBody>
      </p:sp>
      <p:sp>
        <p:nvSpPr>
          <p:cNvPr id="28" name="Text 24"/>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29" name="Text 25"/>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5FA8F5">
              <a:alpha val="12000"/>
            </a:srgbClr>
          </a:solidFill>
          <a:ln/>
        </p:spPr>
      </p:sp>
      <p:sp>
        <p:nvSpPr>
          <p:cNvPr id="3" name="Shape 1"/>
          <p:cNvSpPr/>
          <p:nvPr/>
        </p:nvSpPr>
        <p:spPr>
          <a:xfrm>
            <a:off x="-1280160" y="6035040"/>
            <a:ext cx="2377440" cy="2377440"/>
          </a:xfrm>
          <a:prstGeom prst="ellipse">
            <a:avLst/>
          </a:prstGeom>
          <a:solidFill>
            <a:srgbClr val="5FA8F5">
              <a:alpha val="8000"/>
            </a:srgbClr>
          </a:solidFill>
          <a:ln/>
        </p:spPr>
      </p:sp>
      <p:sp>
        <p:nvSpPr>
          <p:cNvPr id="4" name="Shape 2"/>
          <p:cNvSpPr/>
          <p:nvPr/>
        </p:nvSpPr>
        <p:spPr>
          <a:xfrm>
            <a:off x="457200" y="384048"/>
            <a:ext cx="146304" cy="146304"/>
          </a:xfrm>
          <a:prstGeom prst="roundRect">
            <a:avLst>
              <a:gd name="adj" fmla="val 50000"/>
            </a:avLst>
          </a:prstGeom>
          <a:solidFill>
            <a:srgbClr val="5FA8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5FA8F5"/>
                </a:solidFill>
                <a:latin typeface="Calibri" pitchFamily="34" charset="0"/>
                <a:ea typeface="Calibri" pitchFamily="34" charset="-122"/>
                <a:cs typeface="Calibri" pitchFamily="34" charset="-120"/>
              </a:rPr>
              <a:t>SECTION 01 — SUMMARY</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End-to-End Architecture</a:t>
            </a:r>
            <a:endParaRPr lang="en-US" sz="3000" dirty="0"/>
          </a:p>
        </p:txBody>
      </p:sp>
      <p:sp>
        <p:nvSpPr>
          <p:cNvPr id="7" name="Shape 5"/>
          <p:cNvSpPr/>
          <p:nvPr/>
        </p:nvSpPr>
        <p:spPr>
          <a:xfrm>
            <a:off x="3977640" y="1536192"/>
            <a:ext cx="4206240" cy="310896"/>
          </a:xfrm>
          <a:prstGeom prst="roundRect">
            <a:avLst>
              <a:gd name="adj" fmla="val 23529"/>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4023360" y="1536192"/>
            <a:ext cx="4114800" cy="310896"/>
          </a:xfrm>
          <a:prstGeom prst="rect">
            <a:avLst/>
          </a:prstGeom>
          <a:noFill/>
          <a:ln/>
        </p:spPr>
        <p:txBody>
          <a:bodyPr wrap="square" rtlCol="0" anchor="ctr"/>
          <a:lstStyle/>
          <a:p>
            <a:pPr algn="ctr" indent="0" marL="0">
              <a:buNone/>
            </a:pPr>
            <a:r>
              <a:rPr lang="en-US" sz="1050" b="1" dirty="0">
                <a:solidFill>
                  <a:srgbClr val="F3F6FB"/>
                </a:solidFill>
                <a:latin typeface="Calibri" pitchFamily="34" charset="0"/>
                <a:ea typeface="Calibri" pitchFamily="34" charset="-122"/>
                <a:cs typeface="Calibri" pitchFamily="34" charset="-120"/>
              </a:rPr>
              <a:t>UK MOTOR INSURANCE</a:t>
            </a:r>
            <a:endParaRPr lang="en-US" sz="1050" dirty="0"/>
          </a:p>
        </p:txBody>
      </p:sp>
      <p:sp>
        <p:nvSpPr>
          <p:cNvPr id="9" name="Shape 7"/>
          <p:cNvSpPr/>
          <p:nvPr/>
        </p:nvSpPr>
        <p:spPr>
          <a:xfrm>
            <a:off x="6080760" y="1847088"/>
            <a:ext cx="914" cy="82296"/>
          </a:xfrm>
          <a:prstGeom prst="line">
            <a:avLst/>
          </a:prstGeom>
          <a:noFill/>
          <a:ln w="25400">
            <a:solidFill>
              <a:srgbClr val="5FA8F5"/>
            </a:solidFill>
            <a:prstDash val="solid"/>
            <a:tailEnd type="triangle"/>
          </a:ln>
        </p:spPr>
      </p:sp>
      <p:sp>
        <p:nvSpPr>
          <p:cNvPr id="10" name="Shape 8"/>
          <p:cNvSpPr/>
          <p:nvPr/>
        </p:nvSpPr>
        <p:spPr>
          <a:xfrm>
            <a:off x="3685032" y="1929384"/>
            <a:ext cx="1463040" cy="310896"/>
          </a:xfrm>
          <a:prstGeom prst="roundRect">
            <a:avLst>
              <a:gd name="adj" fmla="val 23529"/>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1" name="Text 9"/>
          <p:cNvSpPr/>
          <p:nvPr/>
        </p:nvSpPr>
        <p:spPr>
          <a:xfrm>
            <a:off x="3730752" y="1929384"/>
            <a:ext cx="1371600" cy="310896"/>
          </a:xfrm>
          <a:prstGeom prst="rect">
            <a:avLst/>
          </a:prstGeom>
          <a:noFill/>
          <a:ln/>
        </p:spPr>
        <p:txBody>
          <a:bodyPr wrap="square" rtlCol="0" anchor="ctr"/>
          <a:lstStyle/>
          <a:p>
            <a:pPr algn="ctr" indent="0" marL="0">
              <a:buNone/>
            </a:pPr>
            <a:r>
              <a:rPr lang="en-US" sz="900" b="1" dirty="0">
                <a:solidFill>
                  <a:srgbClr val="F3F6FB"/>
                </a:solidFill>
                <a:latin typeface="Calibri" pitchFamily="34" charset="0"/>
                <a:ea typeface="Calibri" pitchFamily="34" charset="-122"/>
                <a:cs typeface="Calibri" pitchFamily="34" charset="-120"/>
              </a:rPr>
              <a:t>CAR</a:t>
            </a:r>
            <a:endParaRPr lang="en-US" sz="900" dirty="0"/>
          </a:p>
        </p:txBody>
      </p:sp>
      <p:sp>
        <p:nvSpPr>
          <p:cNvPr id="12" name="Shape 10"/>
          <p:cNvSpPr/>
          <p:nvPr/>
        </p:nvSpPr>
        <p:spPr>
          <a:xfrm>
            <a:off x="6080760" y="1847088"/>
            <a:ext cx="-1664208" cy="82296"/>
          </a:xfrm>
          <a:prstGeom prst="line">
            <a:avLst/>
          </a:prstGeom>
          <a:noFill/>
          <a:ln w="13970">
            <a:solidFill>
              <a:srgbClr val="5FA8F5"/>
            </a:solidFill>
            <a:prstDash val="solid"/>
          </a:ln>
        </p:spPr>
      </p:sp>
      <p:sp>
        <p:nvSpPr>
          <p:cNvPr id="13" name="Shape 11"/>
          <p:cNvSpPr/>
          <p:nvPr/>
        </p:nvSpPr>
        <p:spPr>
          <a:xfrm>
            <a:off x="5349240" y="1929384"/>
            <a:ext cx="1463040" cy="310896"/>
          </a:xfrm>
          <a:prstGeom prst="roundRect">
            <a:avLst>
              <a:gd name="adj" fmla="val 23529"/>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5394960" y="1929384"/>
            <a:ext cx="1371600" cy="310896"/>
          </a:xfrm>
          <a:prstGeom prst="rect">
            <a:avLst/>
          </a:prstGeom>
          <a:noFill/>
          <a:ln/>
        </p:spPr>
        <p:txBody>
          <a:bodyPr wrap="square" rtlCol="0" anchor="ctr"/>
          <a:lstStyle/>
          <a:p>
            <a:pPr algn="ctr" indent="0" marL="0">
              <a:buNone/>
            </a:pPr>
            <a:r>
              <a:rPr lang="en-US" sz="900" b="1" dirty="0">
                <a:solidFill>
                  <a:srgbClr val="F3F6FB"/>
                </a:solidFill>
                <a:latin typeface="Calibri" pitchFamily="34" charset="0"/>
                <a:ea typeface="Calibri" pitchFamily="34" charset="-122"/>
                <a:cs typeface="Calibri" pitchFamily="34" charset="-120"/>
              </a:rPr>
              <a:t>CLASSIC CAR</a:t>
            </a:r>
            <a:endParaRPr lang="en-US" sz="900" dirty="0"/>
          </a:p>
        </p:txBody>
      </p:sp>
      <p:sp>
        <p:nvSpPr>
          <p:cNvPr id="15" name="Shape 13"/>
          <p:cNvSpPr/>
          <p:nvPr/>
        </p:nvSpPr>
        <p:spPr>
          <a:xfrm>
            <a:off x="6080760" y="1847088"/>
            <a:ext cx="0" cy="82296"/>
          </a:xfrm>
          <a:prstGeom prst="line">
            <a:avLst/>
          </a:prstGeom>
          <a:noFill/>
          <a:ln w="13970">
            <a:solidFill>
              <a:srgbClr val="5FA8F5"/>
            </a:solidFill>
            <a:prstDash val="solid"/>
          </a:ln>
        </p:spPr>
      </p:sp>
      <p:sp>
        <p:nvSpPr>
          <p:cNvPr id="16" name="Shape 14"/>
          <p:cNvSpPr/>
          <p:nvPr/>
        </p:nvSpPr>
        <p:spPr>
          <a:xfrm>
            <a:off x="7013448" y="1929384"/>
            <a:ext cx="1463040" cy="310896"/>
          </a:xfrm>
          <a:prstGeom prst="roundRect">
            <a:avLst>
              <a:gd name="adj" fmla="val 23529"/>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7059168" y="1929384"/>
            <a:ext cx="1371600" cy="310896"/>
          </a:xfrm>
          <a:prstGeom prst="rect">
            <a:avLst/>
          </a:prstGeom>
          <a:noFill/>
          <a:ln/>
        </p:spPr>
        <p:txBody>
          <a:bodyPr wrap="square" rtlCol="0" anchor="ctr"/>
          <a:lstStyle/>
          <a:p>
            <a:pPr algn="ctr" indent="0" marL="0">
              <a:buNone/>
            </a:pPr>
            <a:r>
              <a:rPr lang="en-US" sz="900" b="1" dirty="0">
                <a:solidFill>
                  <a:srgbClr val="F3F6FB"/>
                </a:solidFill>
                <a:latin typeface="Calibri" pitchFamily="34" charset="0"/>
                <a:ea typeface="Calibri" pitchFamily="34" charset="-122"/>
                <a:cs typeface="Calibri" pitchFamily="34" charset="-120"/>
              </a:rPr>
              <a:t>MOTORBIKE</a:t>
            </a:r>
            <a:endParaRPr lang="en-US" sz="900" dirty="0"/>
          </a:p>
        </p:txBody>
      </p:sp>
      <p:sp>
        <p:nvSpPr>
          <p:cNvPr id="18" name="Shape 16"/>
          <p:cNvSpPr/>
          <p:nvPr/>
        </p:nvSpPr>
        <p:spPr>
          <a:xfrm>
            <a:off x="6080760" y="1847088"/>
            <a:ext cx="1664208" cy="82296"/>
          </a:xfrm>
          <a:prstGeom prst="line">
            <a:avLst/>
          </a:prstGeom>
          <a:noFill/>
          <a:ln w="13970">
            <a:solidFill>
              <a:srgbClr val="5FA8F5"/>
            </a:solidFill>
            <a:prstDash val="solid"/>
          </a:ln>
        </p:spPr>
      </p:sp>
      <p:sp>
        <p:nvSpPr>
          <p:cNvPr id="19" name="Shape 17"/>
          <p:cNvSpPr/>
          <p:nvPr/>
        </p:nvSpPr>
        <p:spPr>
          <a:xfrm>
            <a:off x="6080760" y="2240280"/>
            <a:ext cx="914" cy="82296"/>
          </a:xfrm>
          <a:prstGeom prst="line">
            <a:avLst/>
          </a:prstGeom>
          <a:noFill/>
          <a:ln w="25400">
            <a:solidFill>
              <a:srgbClr val="5FA8F5"/>
            </a:solidFill>
            <a:prstDash val="solid"/>
            <a:tailEnd type="triangle"/>
          </a:ln>
        </p:spPr>
      </p:sp>
      <p:sp>
        <p:nvSpPr>
          <p:cNvPr id="20" name="Shape 18"/>
          <p:cNvSpPr/>
          <p:nvPr/>
        </p:nvSpPr>
        <p:spPr>
          <a:xfrm>
            <a:off x="3703320" y="2322576"/>
            <a:ext cx="4754880" cy="310896"/>
          </a:xfrm>
          <a:prstGeom prst="roundRect">
            <a:avLst>
              <a:gd name="adj" fmla="val 23529"/>
            </a:avLst>
          </a:prstGeom>
          <a:solidFill>
            <a:srgbClr val="18233F"/>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1" name="Text 19"/>
          <p:cNvSpPr/>
          <p:nvPr/>
        </p:nvSpPr>
        <p:spPr>
          <a:xfrm>
            <a:off x="3749040" y="2322576"/>
            <a:ext cx="4663440" cy="310896"/>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CONSOLIDATED QUOTATION SYSTEM</a:t>
            </a:r>
            <a:endParaRPr lang="en-US" sz="1000" dirty="0"/>
          </a:p>
        </p:txBody>
      </p:sp>
      <p:sp>
        <p:nvSpPr>
          <p:cNvPr id="22" name="Shape 20"/>
          <p:cNvSpPr/>
          <p:nvPr/>
        </p:nvSpPr>
        <p:spPr>
          <a:xfrm>
            <a:off x="6080760" y="2633472"/>
            <a:ext cx="914" cy="82296"/>
          </a:xfrm>
          <a:prstGeom prst="line">
            <a:avLst/>
          </a:prstGeom>
          <a:noFill/>
          <a:ln w="25400">
            <a:solidFill>
              <a:srgbClr val="5FA8F5"/>
            </a:solidFill>
            <a:prstDash val="solid"/>
            <a:tailEnd type="triangle"/>
          </a:ln>
        </p:spPr>
      </p:sp>
      <p:sp>
        <p:nvSpPr>
          <p:cNvPr id="23" name="Shape 21"/>
          <p:cNvSpPr/>
          <p:nvPr/>
        </p:nvSpPr>
        <p:spPr>
          <a:xfrm>
            <a:off x="4251960" y="2715768"/>
            <a:ext cx="3657600" cy="310896"/>
          </a:xfrm>
          <a:prstGeom prst="roundRect">
            <a:avLst>
              <a:gd name="adj" fmla="val 23529"/>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4297680" y="2715768"/>
            <a:ext cx="3566160" cy="310896"/>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CRS — Customer Rating System</a:t>
            </a:r>
            <a:endParaRPr lang="en-US" sz="1000" dirty="0"/>
          </a:p>
        </p:txBody>
      </p:sp>
      <p:sp>
        <p:nvSpPr>
          <p:cNvPr id="25" name="Shape 23"/>
          <p:cNvSpPr/>
          <p:nvPr/>
        </p:nvSpPr>
        <p:spPr>
          <a:xfrm>
            <a:off x="6080760" y="3026664"/>
            <a:ext cx="914" cy="82296"/>
          </a:xfrm>
          <a:prstGeom prst="line">
            <a:avLst/>
          </a:prstGeom>
          <a:noFill/>
          <a:ln w="25400">
            <a:solidFill>
              <a:srgbClr val="5FA8F5"/>
            </a:solidFill>
            <a:prstDash val="solid"/>
            <a:tailEnd type="triangle"/>
          </a:ln>
        </p:spPr>
      </p:sp>
      <p:sp>
        <p:nvSpPr>
          <p:cNvPr id="26" name="Shape 24"/>
          <p:cNvSpPr/>
          <p:nvPr/>
        </p:nvSpPr>
        <p:spPr>
          <a:xfrm>
            <a:off x="4251960" y="3108960"/>
            <a:ext cx="3657600" cy="310896"/>
          </a:xfrm>
          <a:prstGeom prst="roundRect">
            <a:avLst>
              <a:gd name="adj" fmla="val 23529"/>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4297680" y="3108960"/>
            <a:ext cx="3566160" cy="310896"/>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SSP — ML Prediction Support</a:t>
            </a:r>
            <a:endParaRPr lang="en-US" sz="1000" dirty="0"/>
          </a:p>
        </p:txBody>
      </p:sp>
      <p:sp>
        <p:nvSpPr>
          <p:cNvPr id="28" name="Shape 26"/>
          <p:cNvSpPr/>
          <p:nvPr/>
        </p:nvSpPr>
        <p:spPr>
          <a:xfrm>
            <a:off x="6080760" y="3419856"/>
            <a:ext cx="914" cy="82296"/>
          </a:xfrm>
          <a:prstGeom prst="line">
            <a:avLst/>
          </a:prstGeom>
          <a:noFill/>
          <a:ln w="25400">
            <a:solidFill>
              <a:srgbClr val="5FA8F5"/>
            </a:solidFill>
            <a:prstDash val="solid"/>
            <a:tailEnd type="triangle"/>
          </a:ln>
        </p:spPr>
      </p:sp>
      <p:sp>
        <p:nvSpPr>
          <p:cNvPr id="29" name="Shape 27"/>
          <p:cNvSpPr/>
          <p:nvPr/>
        </p:nvSpPr>
        <p:spPr>
          <a:xfrm>
            <a:off x="3840480" y="3502152"/>
            <a:ext cx="1371600" cy="310896"/>
          </a:xfrm>
          <a:prstGeom prst="roundRect">
            <a:avLst>
              <a:gd name="adj" fmla="val 23529"/>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30" name="Text 28"/>
          <p:cNvSpPr/>
          <p:nvPr/>
        </p:nvSpPr>
        <p:spPr>
          <a:xfrm>
            <a:off x="3886200" y="3502152"/>
            <a:ext cx="1280160" cy="310896"/>
          </a:xfrm>
          <a:prstGeom prst="rect">
            <a:avLst/>
          </a:prstGeom>
          <a:noFill/>
          <a:ln/>
        </p:spPr>
        <p:txBody>
          <a:bodyPr wrap="square" rtlCol="0" anchor="ctr"/>
          <a:lstStyle/>
          <a:p>
            <a:pPr algn="ctr" indent="0" marL="0">
              <a:buNone/>
            </a:pPr>
            <a:r>
              <a:rPr lang="en-US" sz="900" b="1" dirty="0">
                <a:solidFill>
                  <a:srgbClr val="F3F6FB"/>
                </a:solidFill>
                <a:latin typeface="Calibri" pitchFamily="34" charset="0"/>
                <a:ea typeface="Calibri" pitchFamily="34" charset="-122"/>
                <a:cs typeface="Calibri" pitchFamily="34" charset="-120"/>
              </a:rPr>
              <a:t>Motor MP</a:t>
            </a:r>
            <a:endParaRPr lang="en-US" sz="900" dirty="0"/>
          </a:p>
        </p:txBody>
      </p:sp>
      <p:sp>
        <p:nvSpPr>
          <p:cNvPr id="31" name="Shape 29"/>
          <p:cNvSpPr/>
          <p:nvPr/>
        </p:nvSpPr>
        <p:spPr>
          <a:xfrm>
            <a:off x="6080760" y="3419856"/>
            <a:ext cx="-1554480" cy="82296"/>
          </a:xfrm>
          <a:prstGeom prst="line">
            <a:avLst/>
          </a:prstGeom>
          <a:noFill/>
          <a:ln w="13970">
            <a:solidFill>
              <a:srgbClr val="5FA8F5"/>
            </a:solidFill>
            <a:prstDash val="solid"/>
          </a:ln>
        </p:spPr>
      </p:sp>
      <p:sp>
        <p:nvSpPr>
          <p:cNvPr id="32" name="Shape 30"/>
          <p:cNvSpPr/>
          <p:nvPr/>
        </p:nvSpPr>
        <p:spPr>
          <a:xfrm>
            <a:off x="5394960" y="3502152"/>
            <a:ext cx="1371600" cy="310896"/>
          </a:xfrm>
          <a:prstGeom prst="roundRect">
            <a:avLst>
              <a:gd name="adj" fmla="val 23529"/>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33" name="Text 31"/>
          <p:cNvSpPr/>
          <p:nvPr/>
        </p:nvSpPr>
        <p:spPr>
          <a:xfrm>
            <a:off x="5440680" y="3502152"/>
            <a:ext cx="1280160" cy="310896"/>
          </a:xfrm>
          <a:prstGeom prst="rect">
            <a:avLst/>
          </a:prstGeom>
          <a:noFill/>
          <a:ln/>
        </p:spPr>
        <p:txBody>
          <a:bodyPr wrap="square" rtlCol="0" anchor="ctr"/>
          <a:lstStyle/>
          <a:p>
            <a:pPr algn="ctr" indent="0" marL="0">
              <a:buNone/>
            </a:pPr>
            <a:r>
              <a:rPr lang="en-US" sz="900" b="1" dirty="0">
                <a:solidFill>
                  <a:srgbClr val="F3F6FB"/>
                </a:solidFill>
                <a:latin typeface="Calibri" pitchFamily="34" charset="0"/>
                <a:ea typeface="Calibri" pitchFamily="34" charset="-122"/>
                <a:cs typeface="Calibri" pitchFamily="34" charset="-120"/>
              </a:rPr>
              <a:t>Motor Risk</a:t>
            </a:r>
            <a:endParaRPr lang="en-US" sz="900" dirty="0"/>
          </a:p>
        </p:txBody>
      </p:sp>
      <p:sp>
        <p:nvSpPr>
          <p:cNvPr id="34" name="Shape 32"/>
          <p:cNvSpPr/>
          <p:nvPr/>
        </p:nvSpPr>
        <p:spPr>
          <a:xfrm>
            <a:off x="6080760" y="3419856"/>
            <a:ext cx="0" cy="82296"/>
          </a:xfrm>
          <a:prstGeom prst="line">
            <a:avLst/>
          </a:prstGeom>
          <a:noFill/>
          <a:ln w="13970">
            <a:solidFill>
              <a:srgbClr val="5FA8F5"/>
            </a:solidFill>
            <a:prstDash val="solid"/>
          </a:ln>
        </p:spPr>
      </p:sp>
      <p:sp>
        <p:nvSpPr>
          <p:cNvPr id="35" name="Shape 33"/>
          <p:cNvSpPr/>
          <p:nvPr/>
        </p:nvSpPr>
        <p:spPr>
          <a:xfrm>
            <a:off x="6949440" y="3502152"/>
            <a:ext cx="1371600" cy="310896"/>
          </a:xfrm>
          <a:prstGeom prst="roundRect">
            <a:avLst>
              <a:gd name="adj" fmla="val 23529"/>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36" name="Text 34"/>
          <p:cNvSpPr/>
          <p:nvPr/>
        </p:nvSpPr>
        <p:spPr>
          <a:xfrm>
            <a:off x="6995160" y="3502152"/>
            <a:ext cx="1280160" cy="310896"/>
          </a:xfrm>
          <a:prstGeom prst="rect">
            <a:avLst/>
          </a:prstGeom>
          <a:noFill/>
          <a:ln/>
        </p:spPr>
        <p:txBody>
          <a:bodyPr wrap="square" rtlCol="0" anchor="ctr"/>
          <a:lstStyle/>
          <a:p>
            <a:pPr algn="ctr" indent="0" marL="0">
              <a:buNone/>
            </a:pPr>
            <a:r>
              <a:rPr lang="en-US" sz="900" b="1" dirty="0">
                <a:solidFill>
                  <a:srgbClr val="F3F6FB"/>
                </a:solidFill>
                <a:latin typeface="Calibri" pitchFamily="34" charset="0"/>
                <a:ea typeface="Calibri" pitchFamily="34" charset="-122"/>
                <a:cs typeface="Calibri" pitchFamily="34" charset="-120"/>
              </a:rPr>
              <a:t>Motor PE</a:t>
            </a:r>
            <a:endParaRPr lang="en-US" sz="900" dirty="0"/>
          </a:p>
        </p:txBody>
      </p:sp>
      <p:sp>
        <p:nvSpPr>
          <p:cNvPr id="37" name="Shape 35"/>
          <p:cNvSpPr/>
          <p:nvPr/>
        </p:nvSpPr>
        <p:spPr>
          <a:xfrm>
            <a:off x="6080760" y="3419856"/>
            <a:ext cx="1554480" cy="82296"/>
          </a:xfrm>
          <a:prstGeom prst="line">
            <a:avLst/>
          </a:prstGeom>
          <a:noFill/>
          <a:ln w="13970">
            <a:solidFill>
              <a:srgbClr val="5FA8F5"/>
            </a:solidFill>
            <a:prstDash val="solid"/>
          </a:ln>
        </p:spPr>
      </p:sp>
      <p:sp>
        <p:nvSpPr>
          <p:cNvPr id="38" name="Shape 36"/>
          <p:cNvSpPr/>
          <p:nvPr/>
        </p:nvSpPr>
        <p:spPr>
          <a:xfrm>
            <a:off x="6080760" y="3813048"/>
            <a:ext cx="914" cy="82296"/>
          </a:xfrm>
          <a:prstGeom prst="line">
            <a:avLst/>
          </a:prstGeom>
          <a:noFill/>
          <a:ln w="25400">
            <a:solidFill>
              <a:srgbClr val="5FA8F5"/>
            </a:solidFill>
            <a:prstDash val="solid"/>
            <a:tailEnd type="triangle"/>
          </a:ln>
        </p:spPr>
      </p:sp>
      <p:sp>
        <p:nvSpPr>
          <p:cNvPr id="39" name="Shape 37"/>
          <p:cNvSpPr/>
          <p:nvPr/>
        </p:nvSpPr>
        <p:spPr>
          <a:xfrm>
            <a:off x="4617720" y="3895344"/>
            <a:ext cx="2926080" cy="310896"/>
          </a:xfrm>
          <a:prstGeom prst="roundRect">
            <a:avLst>
              <a:gd name="adj" fmla="val 23529"/>
            </a:avLst>
          </a:prstGeom>
          <a:solidFill>
            <a:srgbClr val="3D3117"/>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40" name="Text 38"/>
          <p:cNvSpPr/>
          <p:nvPr/>
        </p:nvSpPr>
        <p:spPr>
          <a:xfrm>
            <a:off x="4663440" y="3895344"/>
            <a:ext cx="2834640" cy="310896"/>
          </a:xfrm>
          <a:prstGeom prst="rect">
            <a:avLst/>
          </a:prstGeom>
          <a:noFill/>
          <a:ln/>
        </p:spPr>
        <p:txBody>
          <a:bodyPr wrap="square" rtlCol="0" anchor="ctr"/>
          <a:lstStyle/>
          <a:p>
            <a:pPr algn="ctr" indent="0" marL="0">
              <a:buNone/>
            </a:pPr>
            <a:r>
              <a:rPr lang="en-US" sz="1100" b="1" dirty="0">
                <a:solidFill>
                  <a:srgbClr val="F5B942"/>
                </a:solidFill>
                <a:latin typeface="Calibri" pitchFamily="34" charset="0"/>
                <a:ea typeface="Calibri" pitchFamily="34" charset="-122"/>
                <a:cs typeface="Calibri" pitchFamily="34" charset="-120"/>
              </a:rPr>
              <a:t>PREMIUM</a:t>
            </a:r>
            <a:endParaRPr lang="en-US" sz="1100" dirty="0"/>
          </a:p>
        </p:txBody>
      </p:sp>
      <p:sp>
        <p:nvSpPr>
          <p:cNvPr id="41" name="Shape 39"/>
          <p:cNvSpPr/>
          <p:nvPr/>
        </p:nvSpPr>
        <p:spPr>
          <a:xfrm>
            <a:off x="6080760" y="4206240"/>
            <a:ext cx="914" cy="82296"/>
          </a:xfrm>
          <a:prstGeom prst="line">
            <a:avLst/>
          </a:prstGeom>
          <a:noFill/>
          <a:ln w="25400">
            <a:solidFill>
              <a:srgbClr val="5FA8F5"/>
            </a:solidFill>
            <a:prstDash val="solid"/>
            <a:tailEnd type="triangle"/>
          </a:ln>
        </p:spPr>
      </p:sp>
      <p:sp>
        <p:nvSpPr>
          <p:cNvPr id="42" name="Shape 40"/>
          <p:cNvSpPr/>
          <p:nvPr/>
        </p:nvSpPr>
        <p:spPr>
          <a:xfrm>
            <a:off x="4617720" y="4288536"/>
            <a:ext cx="2926080" cy="310896"/>
          </a:xfrm>
          <a:prstGeom prst="roundRect">
            <a:avLst>
              <a:gd name="adj" fmla="val 23529"/>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43" name="Text 41"/>
          <p:cNvSpPr/>
          <p:nvPr/>
        </p:nvSpPr>
        <p:spPr>
          <a:xfrm>
            <a:off x="4663440" y="4288536"/>
            <a:ext cx="2834640" cy="310896"/>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POLICY CREATION</a:t>
            </a:r>
            <a:endParaRPr lang="en-US" sz="1000" dirty="0"/>
          </a:p>
        </p:txBody>
      </p:sp>
      <p:sp>
        <p:nvSpPr>
          <p:cNvPr id="44" name="Shape 42"/>
          <p:cNvSpPr/>
          <p:nvPr/>
        </p:nvSpPr>
        <p:spPr>
          <a:xfrm>
            <a:off x="6080760" y="4599432"/>
            <a:ext cx="914" cy="82296"/>
          </a:xfrm>
          <a:prstGeom prst="line">
            <a:avLst/>
          </a:prstGeom>
          <a:noFill/>
          <a:ln w="25400">
            <a:solidFill>
              <a:srgbClr val="5FA8F5"/>
            </a:solidFill>
            <a:prstDash val="solid"/>
            <a:tailEnd type="triangle"/>
          </a:ln>
        </p:spPr>
      </p:sp>
      <p:sp>
        <p:nvSpPr>
          <p:cNvPr id="45" name="Shape 43"/>
          <p:cNvSpPr/>
          <p:nvPr/>
        </p:nvSpPr>
        <p:spPr>
          <a:xfrm>
            <a:off x="4617720" y="4681728"/>
            <a:ext cx="2926080" cy="310896"/>
          </a:xfrm>
          <a:prstGeom prst="roundRect">
            <a:avLst>
              <a:gd name="adj" fmla="val 23529"/>
            </a:avLst>
          </a:prstGeom>
          <a:solidFill>
            <a:srgbClr val="141F38"/>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46" name="Text 44"/>
          <p:cNvSpPr/>
          <p:nvPr/>
        </p:nvSpPr>
        <p:spPr>
          <a:xfrm>
            <a:off x="4663440" y="4681728"/>
            <a:ext cx="2834640" cy="310896"/>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POLICY ISSUED</a:t>
            </a:r>
            <a:endParaRPr lang="en-US" sz="1000" dirty="0"/>
          </a:p>
        </p:txBody>
      </p:sp>
      <p:sp>
        <p:nvSpPr>
          <p:cNvPr id="47" name="Shape 45"/>
          <p:cNvSpPr/>
          <p:nvPr/>
        </p:nvSpPr>
        <p:spPr>
          <a:xfrm>
            <a:off x="6080760" y="4992624"/>
            <a:ext cx="914" cy="82296"/>
          </a:xfrm>
          <a:prstGeom prst="line">
            <a:avLst/>
          </a:prstGeom>
          <a:noFill/>
          <a:ln w="25400">
            <a:solidFill>
              <a:srgbClr val="5FA8F5"/>
            </a:solidFill>
            <a:prstDash val="solid"/>
            <a:tailEnd type="triangle"/>
          </a:ln>
        </p:spPr>
      </p:sp>
      <p:sp>
        <p:nvSpPr>
          <p:cNvPr id="48" name="Shape 46"/>
          <p:cNvSpPr/>
          <p:nvPr/>
        </p:nvSpPr>
        <p:spPr>
          <a:xfrm>
            <a:off x="4617720" y="5074920"/>
            <a:ext cx="2926080" cy="310896"/>
          </a:xfrm>
          <a:prstGeom prst="roundRect">
            <a:avLst>
              <a:gd name="adj" fmla="val 23529"/>
            </a:avLst>
          </a:prstGeom>
          <a:solidFill>
            <a:srgbClr val="18233F"/>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49" name="Text 47"/>
          <p:cNvSpPr/>
          <p:nvPr/>
        </p:nvSpPr>
        <p:spPr>
          <a:xfrm>
            <a:off x="4663440" y="5074920"/>
            <a:ext cx="2834640" cy="310896"/>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TRANSACTIONS</a:t>
            </a:r>
            <a:endParaRPr lang="en-US" sz="1000" dirty="0"/>
          </a:p>
        </p:txBody>
      </p:sp>
      <p:sp>
        <p:nvSpPr>
          <p:cNvPr id="50" name="Shape 48"/>
          <p:cNvSpPr/>
          <p:nvPr/>
        </p:nvSpPr>
        <p:spPr>
          <a:xfrm>
            <a:off x="6080760" y="5385816"/>
            <a:ext cx="914" cy="82296"/>
          </a:xfrm>
          <a:prstGeom prst="line">
            <a:avLst/>
          </a:prstGeom>
          <a:noFill/>
          <a:ln w="25400">
            <a:solidFill>
              <a:srgbClr val="5FA8F5"/>
            </a:solidFill>
            <a:prstDash val="solid"/>
            <a:tailEnd type="triangle"/>
          </a:ln>
        </p:spPr>
      </p:sp>
      <p:sp>
        <p:nvSpPr>
          <p:cNvPr id="51" name="Shape 49"/>
          <p:cNvSpPr/>
          <p:nvPr/>
        </p:nvSpPr>
        <p:spPr>
          <a:xfrm>
            <a:off x="3840480" y="5468112"/>
            <a:ext cx="1371600" cy="310896"/>
          </a:xfrm>
          <a:prstGeom prst="roundRect">
            <a:avLst>
              <a:gd name="adj" fmla="val 23529"/>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52" name="Text 50"/>
          <p:cNvSpPr/>
          <p:nvPr/>
        </p:nvSpPr>
        <p:spPr>
          <a:xfrm>
            <a:off x="3886200" y="5468112"/>
            <a:ext cx="1280160" cy="310896"/>
          </a:xfrm>
          <a:prstGeom prst="rect">
            <a:avLst/>
          </a:prstGeom>
          <a:noFill/>
          <a:ln/>
        </p:spPr>
        <p:txBody>
          <a:bodyPr wrap="square" rtlCol="0" anchor="ctr"/>
          <a:lstStyle/>
          <a:p>
            <a:pPr algn="ctr" indent="0" marL="0">
              <a:buNone/>
            </a:pPr>
            <a:r>
              <a:rPr lang="en-US" sz="900" b="1" dirty="0">
                <a:solidFill>
                  <a:srgbClr val="F3F6FB"/>
                </a:solidFill>
                <a:latin typeface="Calibri" pitchFamily="34" charset="0"/>
                <a:ea typeface="Calibri" pitchFamily="34" charset="-122"/>
                <a:cs typeface="Calibri" pitchFamily="34" charset="-120"/>
              </a:rPr>
              <a:t>New Business</a:t>
            </a:r>
            <a:endParaRPr lang="en-US" sz="900" dirty="0"/>
          </a:p>
        </p:txBody>
      </p:sp>
      <p:sp>
        <p:nvSpPr>
          <p:cNvPr id="53" name="Shape 51"/>
          <p:cNvSpPr/>
          <p:nvPr/>
        </p:nvSpPr>
        <p:spPr>
          <a:xfrm>
            <a:off x="6080760" y="5385816"/>
            <a:ext cx="-1554480" cy="82296"/>
          </a:xfrm>
          <a:prstGeom prst="line">
            <a:avLst/>
          </a:prstGeom>
          <a:noFill/>
          <a:ln w="13970">
            <a:solidFill>
              <a:srgbClr val="5FA8F5"/>
            </a:solidFill>
            <a:prstDash val="solid"/>
          </a:ln>
        </p:spPr>
      </p:sp>
      <p:sp>
        <p:nvSpPr>
          <p:cNvPr id="54" name="Shape 52"/>
          <p:cNvSpPr/>
          <p:nvPr/>
        </p:nvSpPr>
        <p:spPr>
          <a:xfrm>
            <a:off x="5394960" y="5468112"/>
            <a:ext cx="1371600" cy="310896"/>
          </a:xfrm>
          <a:prstGeom prst="roundRect">
            <a:avLst>
              <a:gd name="adj" fmla="val 23529"/>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55" name="Text 53"/>
          <p:cNvSpPr/>
          <p:nvPr/>
        </p:nvSpPr>
        <p:spPr>
          <a:xfrm>
            <a:off x="5440680" y="5468112"/>
            <a:ext cx="1280160" cy="310896"/>
          </a:xfrm>
          <a:prstGeom prst="rect">
            <a:avLst/>
          </a:prstGeom>
          <a:noFill/>
          <a:ln/>
        </p:spPr>
        <p:txBody>
          <a:bodyPr wrap="square" rtlCol="0" anchor="ctr"/>
          <a:lstStyle/>
          <a:p>
            <a:pPr algn="ctr" indent="0" marL="0">
              <a:buNone/>
            </a:pPr>
            <a:r>
              <a:rPr lang="en-US" sz="900" b="1" dirty="0">
                <a:solidFill>
                  <a:srgbClr val="F3F6FB"/>
                </a:solidFill>
                <a:latin typeface="Calibri" pitchFamily="34" charset="0"/>
                <a:ea typeface="Calibri" pitchFamily="34" charset="-122"/>
                <a:cs typeface="Calibri" pitchFamily="34" charset="-120"/>
              </a:rPr>
              <a:t>MTA</a:t>
            </a:r>
            <a:endParaRPr lang="en-US" sz="900" dirty="0"/>
          </a:p>
        </p:txBody>
      </p:sp>
      <p:sp>
        <p:nvSpPr>
          <p:cNvPr id="56" name="Shape 54"/>
          <p:cNvSpPr/>
          <p:nvPr/>
        </p:nvSpPr>
        <p:spPr>
          <a:xfrm>
            <a:off x="6080760" y="5385816"/>
            <a:ext cx="0" cy="82296"/>
          </a:xfrm>
          <a:prstGeom prst="line">
            <a:avLst/>
          </a:prstGeom>
          <a:noFill/>
          <a:ln w="13970">
            <a:solidFill>
              <a:srgbClr val="5FA8F5"/>
            </a:solidFill>
            <a:prstDash val="solid"/>
          </a:ln>
        </p:spPr>
      </p:sp>
      <p:sp>
        <p:nvSpPr>
          <p:cNvPr id="57" name="Shape 55"/>
          <p:cNvSpPr/>
          <p:nvPr/>
        </p:nvSpPr>
        <p:spPr>
          <a:xfrm>
            <a:off x="6949440" y="5468112"/>
            <a:ext cx="1371600" cy="310896"/>
          </a:xfrm>
          <a:prstGeom prst="roundRect">
            <a:avLst>
              <a:gd name="adj" fmla="val 23529"/>
            </a:avLst>
          </a:prstGeom>
          <a:solidFill>
            <a:srgbClr val="101A30"/>
          </a:solidFill>
          <a:ln w="12700">
            <a:solidFill>
              <a:srgbClr val="5FA8F5"/>
            </a:solidFill>
            <a:prstDash val="solid"/>
          </a:ln>
          <a:effectLst>
            <a:outerShdw sx="100000" sy="100000" kx="0" ky="0" algn="bl" rotWithShape="0" blurRad="101600" dist="38100" dir="5400000">
              <a:srgbClr val="000000">
                <a:alpha val="45000"/>
              </a:srgbClr>
            </a:outerShdw>
          </a:effectLst>
        </p:spPr>
      </p:sp>
      <p:sp>
        <p:nvSpPr>
          <p:cNvPr id="58" name="Text 56"/>
          <p:cNvSpPr/>
          <p:nvPr/>
        </p:nvSpPr>
        <p:spPr>
          <a:xfrm>
            <a:off x="6995160" y="5468112"/>
            <a:ext cx="1280160" cy="310896"/>
          </a:xfrm>
          <a:prstGeom prst="rect">
            <a:avLst/>
          </a:prstGeom>
          <a:noFill/>
          <a:ln/>
        </p:spPr>
        <p:txBody>
          <a:bodyPr wrap="square" rtlCol="0" anchor="ctr"/>
          <a:lstStyle/>
          <a:p>
            <a:pPr algn="ctr" indent="0" marL="0">
              <a:buNone/>
            </a:pPr>
            <a:r>
              <a:rPr lang="en-US" sz="900" b="1" dirty="0">
                <a:solidFill>
                  <a:srgbClr val="F3F6FB"/>
                </a:solidFill>
                <a:latin typeface="Calibri" pitchFamily="34" charset="0"/>
                <a:ea typeface="Calibri" pitchFamily="34" charset="-122"/>
                <a:cs typeface="Calibri" pitchFamily="34" charset="-120"/>
              </a:rPr>
              <a:t>Pre-Renewal</a:t>
            </a:r>
            <a:endParaRPr lang="en-US" sz="900" dirty="0"/>
          </a:p>
        </p:txBody>
      </p:sp>
      <p:sp>
        <p:nvSpPr>
          <p:cNvPr id="59" name="Shape 57"/>
          <p:cNvSpPr/>
          <p:nvPr/>
        </p:nvSpPr>
        <p:spPr>
          <a:xfrm>
            <a:off x="6080760" y="5385816"/>
            <a:ext cx="1554480" cy="82296"/>
          </a:xfrm>
          <a:prstGeom prst="line">
            <a:avLst/>
          </a:prstGeom>
          <a:noFill/>
          <a:ln w="13970">
            <a:solidFill>
              <a:srgbClr val="5FA8F5"/>
            </a:solidFill>
            <a:prstDash val="solid"/>
          </a:ln>
        </p:spPr>
      </p:sp>
      <p:sp>
        <p:nvSpPr>
          <p:cNvPr id="60" name="Shape 58"/>
          <p:cNvSpPr/>
          <p:nvPr/>
        </p:nvSpPr>
        <p:spPr>
          <a:xfrm>
            <a:off x="7635240" y="5779008"/>
            <a:ext cx="914" cy="82296"/>
          </a:xfrm>
          <a:prstGeom prst="line">
            <a:avLst/>
          </a:prstGeom>
          <a:noFill/>
          <a:ln w="25400">
            <a:solidFill>
              <a:srgbClr val="5FA8F5"/>
            </a:solidFill>
            <a:prstDash val="solid"/>
            <a:tailEnd type="triangle"/>
          </a:ln>
        </p:spPr>
      </p:sp>
      <p:sp>
        <p:nvSpPr>
          <p:cNvPr id="61" name="Shape 59"/>
          <p:cNvSpPr/>
          <p:nvPr/>
        </p:nvSpPr>
        <p:spPr>
          <a:xfrm>
            <a:off x="6720840" y="5861304"/>
            <a:ext cx="1828800" cy="310896"/>
          </a:xfrm>
          <a:prstGeom prst="roundRect">
            <a:avLst>
              <a:gd name="adj" fmla="val 23529"/>
            </a:avLst>
          </a:prstGeom>
          <a:solidFill>
            <a:srgbClr val="3D3117"/>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62" name="Text 60"/>
          <p:cNvSpPr/>
          <p:nvPr/>
        </p:nvSpPr>
        <p:spPr>
          <a:xfrm>
            <a:off x="6766560" y="5861304"/>
            <a:ext cx="1737360" cy="310896"/>
          </a:xfrm>
          <a:prstGeom prst="rect">
            <a:avLst/>
          </a:prstGeom>
          <a:noFill/>
          <a:ln/>
        </p:spPr>
        <p:txBody>
          <a:bodyPr wrap="square" rtlCol="0" anchor="ctr"/>
          <a:lstStyle/>
          <a:p>
            <a:pPr algn="ctr" indent="0" marL="0">
              <a:buNone/>
            </a:pPr>
            <a:r>
              <a:rPr lang="en-US" sz="950" b="1" dirty="0">
                <a:solidFill>
                  <a:srgbClr val="F5B942"/>
                </a:solidFill>
                <a:latin typeface="Calibri" pitchFamily="34" charset="0"/>
                <a:ea typeface="Calibri" pitchFamily="34" charset="-122"/>
                <a:cs typeface="Calibri" pitchFamily="34" charset="-120"/>
              </a:rPr>
              <a:t>Renewal ↺</a:t>
            </a:r>
            <a:endParaRPr lang="en-US" sz="950" dirty="0"/>
          </a:p>
        </p:txBody>
      </p:sp>
      <p:sp>
        <p:nvSpPr>
          <p:cNvPr id="63" name="Shape 61"/>
          <p:cNvSpPr/>
          <p:nvPr/>
        </p:nvSpPr>
        <p:spPr>
          <a:xfrm>
            <a:off x="9052560" y="1536192"/>
            <a:ext cx="2651760" cy="4480560"/>
          </a:xfrm>
          <a:prstGeom prst="roundRect">
            <a:avLst>
              <a:gd name="adj" fmla="val 2759"/>
            </a:avLst>
          </a:prstGeom>
          <a:solidFill>
            <a:srgbClr val="101A30"/>
          </a:solidFill>
          <a:ln w="15240">
            <a:solidFill>
              <a:srgbClr val="F5B942"/>
            </a:solidFill>
            <a:prstDash val="solid"/>
          </a:ln>
          <a:effectLst>
            <a:outerShdw sx="100000" sy="100000" kx="0" ky="0" algn="bl" rotWithShape="0" blurRad="101600" dist="38100" dir="5400000">
              <a:srgbClr val="000000">
                <a:alpha val="45000"/>
              </a:srgbClr>
            </a:outerShdw>
          </a:effectLst>
        </p:spPr>
      </p:sp>
      <p:sp>
        <p:nvSpPr>
          <p:cNvPr id="64" name="Text 62"/>
          <p:cNvSpPr/>
          <p:nvPr/>
        </p:nvSpPr>
        <p:spPr>
          <a:xfrm>
            <a:off x="9235440" y="1673352"/>
            <a:ext cx="2286000" cy="274320"/>
          </a:xfrm>
          <a:prstGeom prst="rect">
            <a:avLst/>
          </a:prstGeom>
          <a:noFill/>
          <a:ln/>
        </p:spPr>
        <p:txBody>
          <a:bodyPr wrap="square" rtlCol="0" anchor="ctr"/>
          <a:lstStyle/>
          <a:p>
            <a:pPr indent="0" marL="0">
              <a:buNone/>
            </a:pPr>
            <a:r>
              <a:rPr lang="en-US" sz="1100" b="1" spc="100" kern="0" dirty="0">
                <a:solidFill>
                  <a:srgbClr val="F5B942"/>
                </a:solidFill>
                <a:latin typeface="Calibri" pitchFamily="34" charset="0"/>
                <a:ea typeface="Calibri" pitchFamily="34" charset="-122"/>
                <a:cs typeface="Calibri" pitchFamily="34" charset="-120"/>
              </a:rPr>
              <a:t>THE STORY</a:t>
            </a:r>
            <a:endParaRPr lang="en-US" sz="1100" dirty="0"/>
          </a:p>
        </p:txBody>
      </p:sp>
      <p:sp>
        <p:nvSpPr>
          <p:cNvPr id="65" name="Text 63"/>
          <p:cNvSpPr/>
          <p:nvPr/>
        </p:nvSpPr>
        <p:spPr>
          <a:xfrm>
            <a:off x="9235440" y="2011680"/>
            <a:ext cx="2286000" cy="3840480"/>
          </a:xfrm>
          <a:prstGeom prst="rect">
            <a:avLst/>
          </a:prstGeom>
          <a:noFill/>
          <a:ln/>
        </p:spPr>
        <p:txBody>
          <a:bodyPr wrap="square" rtlCol="0" anchor="t"/>
          <a:lstStyle/>
          <a:p>
            <a:pPr indent="0" marL="0">
              <a:lnSpc>
                <a:spcPct val="125000"/>
              </a:lnSpc>
              <a:buNone/>
            </a:pPr>
            <a:r>
              <a:rPr lang="en-US" sz="1050" i="1" dirty="0">
                <a:solidFill>
                  <a:srgbClr val="F5B942"/>
                </a:solidFill>
                <a:latin typeface="Calibri" pitchFamily="34" charset="0"/>
                <a:ea typeface="Calibri" pitchFamily="34" charset="-122"/>
                <a:cs typeface="Calibri" pitchFamily="34" charset="-120"/>
              </a:rPr>
              <a:t>Products &amp; channel → quotation &amp; pricing (CRS + SSP) → policy creation &amp; issuance → in-life transactions (MTA, Pre-Renewal, Renewal).</a:t>
            </a:r>
            <a:endParaRPr lang="en-US" sz="1050" dirty="0"/>
          </a:p>
        </p:txBody>
      </p:sp>
      <p:sp>
        <p:nvSpPr>
          <p:cNvPr id="67" name="Text 64"/>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LV LEGACY</a:t>
            </a:r>
            <a:endParaRPr lang="en-US" sz="900" dirty="0"/>
          </a:p>
        </p:txBody>
      </p:sp>
      <p:sp>
        <p:nvSpPr>
          <p:cNvPr id="68" name="Text 65"/>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69" name="Text 66"/>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Allianz Home — Project Overview</a:t>
            </a:r>
            <a:endParaRPr lang="en-US" sz="3000" dirty="0"/>
          </a:p>
        </p:txBody>
      </p:sp>
      <p:sp>
        <p:nvSpPr>
          <p:cNvPr id="7" name="Shape 5"/>
          <p:cNvSpPr/>
          <p:nvPr/>
        </p:nvSpPr>
        <p:spPr>
          <a:xfrm>
            <a:off x="457200" y="1645920"/>
            <a:ext cx="5394960" cy="2743200"/>
          </a:xfrm>
          <a:prstGeom prst="roundRect">
            <a:avLst>
              <a:gd name="adj" fmla="val 2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874520"/>
            <a:ext cx="91440" cy="91440"/>
          </a:xfrm>
          <a:prstGeom prst="roundRect">
            <a:avLst>
              <a:gd name="adj" fmla="val 50000"/>
            </a:avLst>
          </a:prstGeom>
          <a:solidFill>
            <a:srgbClr val="2DD4BF"/>
          </a:solidFill>
          <a:ln/>
        </p:spPr>
      </p:sp>
      <p:sp>
        <p:nvSpPr>
          <p:cNvPr id="9" name="Text 7"/>
          <p:cNvSpPr/>
          <p:nvPr/>
        </p:nvSpPr>
        <p:spPr>
          <a:xfrm>
            <a:off x="868680" y="1792224"/>
            <a:ext cx="4754880" cy="292608"/>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Key Areas Covered</a:t>
            </a:r>
            <a:endParaRPr lang="en-US" sz="1400" dirty="0"/>
          </a:p>
        </p:txBody>
      </p:sp>
      <p:sp>
        <p:nvSpPr>
          <p:cNvPr id="10" name="Text 8"/>
          <p:cNvSpPr/>
          <p:nvPr/>
        </p:nvSpPr>
        <p:spPr>
          <a:xfrm>
            <a:off x="731520" y="2231136"/>
            <a:ext cx="4846320" cy="1975104"/>
          </a:xfrm>
          <a:prstGeom prst="rect">
            <a:avLst/>
          </a:prstGeom>
          <a:noFill/>
          <a:ln/>
        </p:spPr>
        <p:txBody>
          <a:bodyPr wrap="square" rtlCol="0" anchor="t"/>
          <a:lstStyle/>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Home Insurance business concepts</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Pricing, premium &amp; UW/Precom validation</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Rate Book and pricing changes</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API request/response &amp; mapping validation</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Backend log validation</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Pricing tiers, channels &amp; sign-off</a:t>
            </a:r>
            <a:endParaRPr lang="en-US" sz="1150" dirty="0"/>
          </a:p>
        </p:txBody>
      </p:sp>
      <p:sp>
        <p:nvSpPr>
          <p:cNvPr id="11" name="Shape 9"/>
          <p:cNvSpPr/>
          <p:nvPr/>
        </p:nvSpPr>
        <p:spPr>
          <a:xfrm>
            <a:off x="457200" y="4526280"/>
            <a:ext cx="5394960" cy="1463040"/>
          </a:xfrm>
          <a:prstGeom prst="roundRect">
            <a:avLst>
              <a:gd name="adj" fmla="val 5000"/>
            </a:avLst>
          </a:prstGeom>
          <a:solidFill>
            <a:srgbClr val="101A30"/>
          </a:solidFill>
          <a:ln w="15240">
            <a:solidFill>
              <a:srgbClr val="2DD4BF"/>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685800" y="4663440"/>
            <a:ext cx="4937760" cy="274320"/>
          </a:xfrm>
          <a:prstGeom prst="rect">
            <a:avLst/>
          </a:prstGeom>
          <a:noFill/>
          <a:ln/>
        </p:spPr>
        <p:txBody>
          <a:bodyPr wrap="square" rtlCol="0" anchor="ctr"/>
          <a:lstStyle/>
          <a:p>
            <a:pPr indent="0" marL="0">
              <a:buNone/>
            </a:pPr>
            <a:r>
              <a:rPr lang="en-US" sz="1150" b="1" spc="100" kern="0" dirty="0">
                <a:solidFill>
                  <a:srgbClr val="2DD4BF"/>
                </a:solidFill>
                <a:latin typeface="Calibri" pitchFamily="34" charset="0"/>
                <a:ea typeface="Calibri" pitchFamily="34" charset="-122"/>
                <a:cs typeface="Calibri" pitchFamily="34" charset="-120"/>
              </a:rPr>
              <a:t>TESTING SCOPE</a:t>
            </a:r>
            <a:endParaRPr lang="en-US" sz="1150" dirty="0"/>
          </a:p>
        </p:txBody>
      </p:sp>
      <p:sp>
        <p:nvSpPr>
          <p:cNvPr id="13" name="Text 11"/>
          <p:cNvSpPr/>
          <p:nvPr/>
        </p:nvSpPr>
        <p:spPr>
          <a:xfrm>
            <a:off x="685800" y="4983480"/>
            <a:ext cx="4937760" cy="914400"/>
          </a:xfrm>
          <a:prstGeom prst="rect">
            <a:avLst/>
          </a:prstGeom>
          <a:noFill/>
          <a:ln/>
        </p:spPr>
        <p:txBody>
          <a:bodyPr wrap="square" rtlCol="0" anchor="t"/>
          <a:lstStyle/>
          <a:p>
            <a:pPr indent="0" marL="0">
              <a:lnSpc>
                <a:spcPct val="140000"/>
              </a:lnSpc>
              <a:buNone/>
            </a:pPr>
            <a:r>
              <a:rPr lang="en-US" sz="1150" b="1" dirty="0">
                <a:solidFill>
                  <a:srgbClr val="F3F6FB"/>
                </a:solidFill>
                <a:latin typeface="Calibri" pitchFamily="34" charset="0"/>
                <a:ea typeface="Calibri" pitchFamily="34" charset="-122"/>
                <a:cs typeface="Calibri" pitchFamily="34" charset="-120"/>
              </a:rPr>
              <a:t>Manual: </a:t>
            </a:r>
            <a:pPr indent="0" marL="0">
              <a:lnSpc>
                <a:spcPct val="140000"/>
              </a:lnSpc>
              <a:buNone/>
            </a:pPr>
            <a:r>
              <a:rPr lang="en-US" sz="1150" dirty="0">
                <a:solidFill>
                  <a:srgbClr val="97A3BE"/>
                </a:solidFill>
                <a:latin typeface="Calibri" pitchFamily="34" charset="0"/>
                <a:ea typeface="Calibri" pitchFamily="34" charset="-122"/>
                <a:cs typeface="Calibri" pitchFamily="34" charset="-120"/>
              </a:rPr>
              <a:t>LV Legacy, Allianz Home, Allianz Motor
</a:t>
            </a:r>
            <a:endParaRPr lang="en-US" sz="1150" dirty="0"/>
          </a:p>
          <a:p>
            <a:pPr indent="0" marL="0">
              <a:lnSpc>
                <a:spcPct val="140000"/>
              </a:lnSpc>
              <a:buNone/>
            </a:pPr>
            <a:r>
              <a:rPr lang="en-US" sz="1150" b="1" dirty="0">
                <a:solidFill>
                  <a:srgbClr val="F3F6FB"/>
                </a:solidFill>
                <a:latin typeface="Calibri" pitchFamily="34" charset="0"/>
                <a:ea typeface="Calibri" pitchFamily="34" charset="-122"/>
                <a:cs typeface="Calibri" pitchFamily="34" charset="-120"/>
              </a:rPr>
              <a:t>Automation: </a:t>
            </a:r>
            <a:pPr indent="0" marL="0">
              <a:lnSpc>
                <a:spcPct val="140000"/>
              </a:lnSpc>
              <a:buNone/>
            </a:pPr>
            <a:r>
              <a:rPr lang="en-US" sz="1150" dirty="0">
                <a:solidFill>
                  <a:srgbClr val="97A3BE"/>
                </a:solidFill>
                <a:latin typeface="Calibri" pitchFamily="34" charset="0"/>
                <a:ea typeface="Calibri" pitchFamily="34" charset="-122"/>
                <a:cs typeface="Calibri" pitchFamily="34" charset="-120"/>
              </a:rPr>
              <a:t>Allianz Home, Allianz Motor</a:t>
            </a:r>
            <a:endParaRPr lang="en-US" sz="1150" dirty="0"/>
          </a:p>
        </p:txBody>
      </p:sp>
      <p:sp>
        <p:nvSpPr>
          <p:cNvPr id="14" name="Shape 12"/>
          <p:cNvSpPr/>
          <p:nvPr/>
        </p:nvSpPr>
        <p:spPr>
          <a:xfrm>
            <a:off x="6309360" y="162763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5" name="Text 13"/>
          <p:cNvSpPr/>
          <p:nvPr/>
        </p:nvSpPr>
        <p:spPr>
          <a:xfrm>
            <a:off x="6446520" y="162763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User Story</a:t>
            </a:r>
            <a:endParaRPr lang="en-US" sz="1250" dirty="0"/>
          </a:p>
        </p:txBody>
      </p:sp>
      <p:sp>
        <p:nvSpPr>
          <p:cNvPr id="16" name="Shape 14"/>
          <p:cNvSpPr/>
          <p:nvPr/>
        </p:nvSpPr>
        <p:spPr>
          <a:xfrm>
            <a:off x="9006840" y="2093976"/>
            <a:ext cx="914" cy="54864"/>
          </a:xfrm>
          <a:prstGeom prst="line">
            <a:avLst/>
          </a:prstGeom>
          <a:noFill/>
          <a:ln w="25400">
            <a:solidFill>
              <a:srgbClr val="2DD4BF"/>
            </a:solidFill>
            <a:prstDash val="solid"/>
            <a:tailEnd type="triangle"/>
          </a:ln>
        </p:spPr>
      </p:sp>
      <p:sp>
        <p:nvSpPr>
          <p:cNvPr id="17" name="Shape 15"/>
          <p:cNvSpPr/>
          <p:nvPr/>
        </p:nvSpPr>
        <p:spPr>
          <a:xfrm>
            <a:off x="6309360" y="217627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8" name="Text 16"/>
          <p:cNvSpPr/>
          <p:nvPr/>
        </p:nvSpPr>
        <p:spPr>
          <a:xfrm>
            <a:off x="6446520" y="217627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Requirement Analysis</a:t>
            </a:r>
            <a:endParaRPr lang="en-US" sz="1250" dirty="0"/>
          </a:p>
        </p:txBody>
      </p:sp>
      <p:sp>
        <p:nvSpPr>
          <p:cNvPr id="19" name="Shape 17"/>
          <p:cNvSpPr/>
          <p:nvPr/>
        </p:nvSpPr>
        <p:spPr>
          <a:xfrm>
            <a:off x="9006840" y="2642616"/>
            <a:ext cx="914" cy="54864"/>
          </a:xfrm>
          <a:prstGeom prst="line">
            <a:avLst/>
          </a:prstGeom>
          <a:noFill/>
          <a:ln w="25400">
            <a:solidFill>
              <a:srgbClr val="2DD4BF"/>
            </a:solidFill>
            <a:prstDash val="solid"/>
            <a:tailEnd type="triangle"/>
          </a:ln>
        </p:spPr>
      </p:sp>
      <p:sp>
        <p:nvSpPr>
          <p:cNvPr id="20" name="Shape 18"/>
          <p:cNvSpPr/>
          <p:nvPr/>
        </p:nvSpPr>
        <p:spPr>
          <a:xfrm>
            <a:off x="6309360" y="272491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1" name="Text 19"/>
          <p:cNvSpPr/>
          <p:nvPr/>
        </p:nvSpPr>
        <p:spPr>
          <a:xfrm>
            <a:off x="6446520" y="272491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Test Data Preparation</a:t>
            </a:r>
            <a:endParaRPr lang="en-US" sz="1250" dirty="0"/>
          </a:p>
        </p:txBody>
      </p:sp>
      <p:sp>
        <p:nvSpPr>
          <p:cNvPr id="22" name="Shape 20"/>
          <p:cNvSpPr/>
          <p:nvPr/>
        </p:nvSpPr>
        <p:spPr>
          <a:xfrm>
            <a:off x="9006840" y="3191256"/>
            <a:ext cx="914" cy="54864"/>
          </a:xfrm>
          <a:prstGeom prst="line">
            <a:avLst/>
          </a:prstGeom>
          <a:noFill/>
          <a:ln w="25400">
            <a:solidFill>
              <a:srgbClr val="2DD4BF"/>
            </a:solidFill>
            <a:prstDash val="solid"/>
            <a:tailEnd type="triangle"/>
          </a:ln>
        </p:spPr>
      </p:sp>
      <p:sp>
        <p:nvSpPr>
          <p:cNvPr id="23" name="Shape 21"/>
          <p:cNvSpPr/>
          <p:nvPr/>
        </p:nvSpPr>
        <p:spPr>
          <a:xfrm>
            <a:off x="6309360" y="327355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6446520" y="327355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Home Code / API Request</a:t>
            </a:r>
            <a:endParaRPr lang="en-US" sz="1250" dirty="0"/>
          </a:p>
        </p:txBody>
      </p:sp>
      <p:sp>
        <p:nvSpPr>
          <p:cNvPr id="25" name="Shape 23"/>
          <p:cNvSpPr/>
          <p:nvPr/>
        </p:nvSpPr>
        <p:spPr>
          <a:xfrm>
            <a:off x="9006840" y="3739896"/>
            <a:ext cx="914" cy="54864"/>
          </a:xfrm>
          <a:prstGeom prst="line">
            <a:avLst/>
          </a:prstGeom>
          <a:noFill/>
          <a:ln w="25400">
            <a:solidFill>
              <a:srgbClr val="2DD4BF"/>
            </a:solidFill>
            <a:prstDash val="solid"/>
            <a:tailEnd type="triangle"/>
          </a:ln>
        </p:spPr>
      </p:sp>
      <p:sp>
        <p:nvSpPr>
          <p:cNvPr id="26" name="Shape 24"/>
          <p:cNvSpPr/>
          <p:nvPr/>
        </p:nvSpPr>
        <p:spPr>
          <a:xfrm>
            <a:off x="6309360" y="382219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6446520" y="382219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Execution</a:t>
            </a:r>
            <a:endParaRPr lang="en-US" sz="1250" dirty="0"/>
          </a:p>
        </p:txBody>
      </p:sp>
      <p:sp>
        <p:nvSpPr>
          <p:cNvPr id="28" name="Shape 26"/>
          <p:cNvSpPr/>
          <p:nvPr/>
        </p:nvSpPr>
        <p:spPr>
          <a:xfrm>
            <a:off x="9006840" y="4288536"/>
            <a:ext cx="914" cy="54864"/>
          </a:xfrm>
          <a:prstGeom prst="line">
            <a:avLst/>
          </a:prstGeom>
          <a:noFill/>
          <a:ln w="25400">
            <a:solidFill>
              <a:srgbClr val="2DD4BF"/>
            </a:solidFill>
            <a:prstDash val="solid"/>
            <a:tailEnd type="triangle"/>
          </a:ln>
        </p:spPr>
      </p:sp>
      <p:sp>
        <p:nvSpPr>
          <p:cNvPr id="29" name="Shape 27"/>
          <p:cNvSpPr/>
          <p:nvPr/>
        </p:nvSpPr>
        <p:spPr>
          <a:xfrm>
            <a:off x="6309360" y="437083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0" name="Text 28"/>
          <p:cNvSpPr/>
          <p:nvPr/>
        </p:nvSpPr>
        <p:spPr>
          <a:xfrm>
            <a:off x="6446520" y="437083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Response / Logs</a:t>
            </a:r>
            <a:endParaRPr lang="en-US" sz="1250" dirty="0"/>
          </a:p>
        </p:txBody>
      </p:sp>
      <p:sp>
        <p:nvSpPr>
          <p:cNvPr id="31" name="Shape 29"/>
          <p:cNvSpPr/>
          <p:nvPr/>
        </p:nvSpPr>
        <p:spPr>
          <a:xfrm>
            <a:off x="9006840" y="4837176"/>
            <a:ext cx="914" cy="54864"/>
          </a:xfrm>
          <a:prstGeom prst="line">
            <a:avLst/>
          </a:prstGeom>
          <a:noFill/>
          <a:ln w="25400">
            <a:solidFill>
              <a:srgbClr val="2DD4BF"/>
            </a:solidFill>
            <a:prstDash val="solid"/>
            <a:tailEnd type="triangle"/>
          </a:ln>
        </p:spPr>
      </p:sp>
      <p:sp>
        <p:nvSpPr>
          <p:cNvPr id="32" name="Shape 30"/>
          <p:cNvSpPr/>
          <p:nvPr/>
        </p:nvSpPr>
        <p:spPr>
          <a:xfrm>
            <a:off x="6309360" y="491947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3" name="Text 31"/>
          <p:cNvSpPr/>
          <p:nvPr/>
        </p:nvSpPr>
        <p:spPr>
          <a:xfrm>
            <a:off x="6446520" y="491947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Validation</a:t>
            </a:r>
            <a:endParaRPr lang="en-US" sz="1250" dirty="0"/>
          </a:p>
        </p:txBody>
      </p:sp>
      <p:sp>
        <p:nvSpPr>
          <p:cNvPr id="34" name="Shape 32"/>
          <p:cNvSpPr/>
          <p:nvPr/>
        </p:nvSpPr>
        <p:spPr>
          <a:xfrm>
            <a:off x="9006840" y="5385816"/>
            <a:ext cx="914" cy="54864"/>
          </a:xfrm>
          <a:prstGeom prst="line">
            <a:avLst/>
          </a:prstGeom>
          <a:noFill/>
          <a:ln w="25400">
            <a:solidFill>
              <a:srgbClr val="2DD4BF"/>
            </a:solidFill>
            <a:prstDash val="solid"/>
            <a:tailEnd type="triangle"/>
          </a:ln>
        </p:spPr>
      </p:sp>
      <p:sp>
        <p:nvSpPr>
          <p:cNvPr id="35" name="Shape 33"/>
          <p:cNvSpPr/>
          <p:nvPr/>
        </p:nvSpPr>
        <p:spPr>
          <a:xfrm>
            <a:off x="6309360" y="546811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6" name="Text 34"/>
          <p:cNvSpPr/>
          <p:nvPr/>
        </p:nvSpPr>
        <p:spPr>
          <a:xfrm>
            <a:off x="6446520" y="546811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Test Result &amp; Sign-Off</a:t>
            </a:r>
            <a:endParaRPr lang="en-US" sz="1250" dirty="0"/>
          </a:p>
        </p:txBody>
      </p:sp>
      <p:sp>
        <p:nvSpPr>
          <p:cNvPr id="37" name="Text 35"/>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38" name="Text 36"/>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9" name="Text 37"/>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Allianz Home — Three Core Models</a:t>
            </a:r>
            <a:endParaRPr lang="en-US" sz="3000" dirty="0"/>
          </a:p>
        </p:txBody>
      </p:sp>
      <p:sp>
        <p:nvSpPr>
          <p:cNvPr id="7" name="Shape 5"/>
          <p:cNvSpPr/>
          <p:nvPr/>
        </p:nvSpPr>
        <p:spPr>
          <a:xfrm>
            <a:off x="457200" y="1645920"/>
            <a:ext cx="3578352" cy="1737360"/>
          </a:xfrm>
          <a:prstGeom prst="roundRect">
            <a:avLst>
              <a:gd name="adj" fmla="val 4211"/>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21792" y="1792224"/>
            <a:ext cx="109728" cy="109728"/>
          </a:xfrm>
          <a:prstGeom prst="roundRect">
            <a:avLst>
              <a:gd name="adj" fmla="val 50000"/>
            </a:avLst>
          </a:prstGeom>
          <a:solidFill>
            <a:srgbClr val="2DD4BF"/>
          </a:solidFill>
          <a:ln/>
        </p:spPr>
      </p:sp>
      <p:sp>
        <p:nvSpPr>
          <p:cNvPr id="9" name="Text 7"/>
          <p:cNvSpPr/>
          <p:nvPr/>
        </p:nvSpPr>
        <p:spPr>
          <a:xfrm>
            <a:off x="822960" y="171907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Pricing Model</a:t>
            </a:r>
            <a:endParaRPr lang="en-US" sz="1300" dirty="0"/>
          </a:p>
        </p:txBody>
      </p:sp>
      <p:sp>
        <p:nvSpPr>
          <p:cNvPr id="10" name="Text 8"/>
          <p:cNvSpPr/>
          <p:nvPr/>
        </p:nvSpPr>
        <p:spPr>
          <a:xfrm>
            <a:off x="640080" y="2066544"/>
            <a:ext cx="3212592" cy="120700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Handles pricing-related processing. Used to validate premium/pricing changes introduced by a user story.</a:t>
            </a:r>
            <a:endParaRPr lang="en-US" sz="1080" dirty="0"/>
          </a:p>
        </p:txBody>
      </p:sp>
      <p:sp>
        <p:nvSpPr>
          <p:cNvPr id="11" name="Shape 9"/>
          <p:cNvSpPr/>
          <p:nvPr/>
        </p:nvSpPr>
        <p:spPr>
          <a:xfrm>
            <a:off x="4291584" y="1645920"/>
            <a:ext cx="3578352" cy="1737360"/>
          </a:xfrm>
          <a:prstGeom prst="roundRect">
            <a:avLst>
              <a:gd name="adj" fmla="val 4211"/>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2" name="Shape 10"/>
          <p:cNvSpPr/>
          <p:nvPr/>
        </p:nvSpPr>
        <p:spPr>
          <a:xfrm>
            <a:off x="4456176" y="1792224"/>
            <a:ext cx="109728" cy="109728"/>
          </a:xfrm>
          <a:prstGeom prst="roundRect">
            <a:avLst>
              <a:gd name="adj" fmla="val 50000"/>
            </a:avLst>
          </a:prstGeom>
          <a:solidFill>
            <a:srgbClr val="2DD4BF"/>
          </a:solidFill>
          <a:ln/>
        </p:spPr>
      </p:sp>
      <p:sp>
        <p:nvSpPr>
          <p:cNvPr id="13" name="Text 11"/>
          <p:cNvSpPr/>
          <p:nvPr/>
        </p:nvSpPr>
        <p:spPr>
          <a:xfrm>
            <a:off x="4657344" y="171907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UW Model</a:t>
            </a:r>
            <a:endParaRPr lang="en-US" sz="1300" dirty="0"/>
          </a:p>
        </p:txBody>
      </p:sp>
      <p:sp>
        <p:nvSpPr>
          <p:cNvPr id="14" name="Text 12"/>
          <p:cNvSpPr/>
          <p:nvPr/>
        </p:nvSpPr>
        <p:spPr>
          <a:xfrm>
            <a:off x="4474464" y="2066544"/>
            <a:ext cx="3212592" cy="120700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Underwriting — handles underwriting/risk processing. Certain inputs result in an expected decline/error response.</a:t>
            </a:r>
            <a:endParaRPr lang="en-US" sz="1080" dirty="0"/>
          </a:p>
        </p:txBody>
      </p:sp>
      <p:sp>
        <p:nvSpPr>
          <p:cNvPr id="15" name="Shape 13"/>
          <p:cNvSpPr/>
          <p:nvPr/>
        </p:nvSpPr>
        <p:spPr>
          <a:xfrm>
            <a:off x="8125968" y="1645920"/>
            <a:ext cx="3578352" cy="1737360"/>
          </a:xfrm>
          <a:prstGeom prst="roundRect">
            <a:avLst>
              <a:gd name="adj" fmla="val 4211"/>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6" name="Shape 14"/>
          <p:cNvSpPr/>
          <p:nvPr/>
        </p:nvSpPr>
        <p:spPr>
          <a:xfrm>
            <a:off x="8290560" y="1792224"/>
            <a:ext cx="109728" cy="109728"/>
          </a:xfrm>
          <a:prstGeom prst="roundRect">
            <a:avLst>
              <a:gd name="adj" fmla="val 50000"/>
            </a:avLst>
          </a:prstGeom>
          <a:solidFill>
            <a:srgbClr val="2DD4BF"/>
          </a:solidFill>
          <a:ln/>
        </p:spPr>
      </p:sp>
      <p:sp>
        <p:nvSpPr>
          <p:cNvPr id="17" name="Text 15"/>
          <p:cNvSpPr/>
          <p:nvPr/>
        </p:nvSpPr>
        <p:spPr>
          <a:xfrm>
            <a:off x="8491728" y="171907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Precom Model</a:t>
            </a:r>
            <a:endParaRPr lang="en-US" sz="1300" dirty="0"/>
          </a:p>
        </p:txBody>
      </p:sp>
      <p:sp>
        <p:nvSpPr>
          <p:cNvPr id="18" name="Text 16"/>
          <p:cNvSpPr/>
          <p:nvPr/>
        </p:nvSpPr>
        <p:spPr>
          <a:xfrm>
            <a:off x="8308848" y="2066544"/>
            <a:ext cx="3212592" cy="120700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Pre-computation — a backend model involved before the final pricing result is produced.</a:t>
            </a:r>
            <a:endParaRPr lang="en-US" sz="1080" dirty="0"/>
          </a:p>
        </p:txBody>
      </p:sp>
      <p:sp>
        <p:nvSpPr>
          <p:cNvPr id="19" name="Shape 17"/>
          <p:cNvSpPr/>
          <p:nvPr/>
        </p:nvSpPr>
        <p:spPr>
          <a:xfrm>
            <a:off x="457200" y="3611880"/>
            <a:ext cx="1154430" cy="1463040"/>
          </a:xfrm>
          <a:prstGeom prst="roundRect">
            <a:avLst>
              <a:gd name="adj" fmla="val 633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530352" y="3685032"/>
            <a:ext cx="1008126" cy="13167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Home Input</a:t>
            </a:r>
            <a:endParaRPr lang="en-US" sz="1200" dirty="0"/>
          </a:p>
        </p:txBody>
      </p:sp>
      <p:sp>
        <p:nvSpPr>
          <p:cNvPr id="21" name="Shape 19"/>
          <p:cNvSpPr/>
          <p:nvPr/>
        </p:nvSpPr>
        <p:spPr>
          <a:xfrm>
            <a:off x="1648206" y="4343400"/>
            <a:ext cx="246888" cy="914"/>
          </a:xfrm>
          <a:prstGeom prst="line">
            <a:avLst/>
          </a:prstGeom>
          <a:noFill/>
          <a:ln w="25400">
            <a:solidFill>
              <a:srgbClr val="2DD4BF"/>
            </a:solidFill>
            <a:prstDash val="solid"/>
            <a:tailEnd type="triangle"/>
          </a:ln>
        </p:spPr>
      </p:sp>
      <p:sp>
        <p:nvSpPr>
          <p:cNvPr id="22" name="Shape 20"/>
          <p:cNvSpPr/>
          <p:nvPr/>
        </p:nvSpPr>
        <p:spPr>
          <a:xfrm>
            <a:off x="1931670" y="3611880"/>
            <a:ext cx="1154430" cy="1463040"/>
          </a:xfrm>
          <a:prstGeom prst="roundRect">
            <a:avLst>
              <a:gd name="adj" fmla="val 633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2004822" y="3685032"/>
            <a:ext cx="1008126" cy="13167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Pricing / UW /</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Precom Models</a:t>
            </a:r>
            <a:endParaRPr lang="en-US" sz="1200" dirty="0"/>
          </a:p>
        </p:txBody>
      </p:sp>
      <p:sp>
        <p:nvSpPr>
          <p:cNvPr id="24" name="Shape 22"/>
          <p:cNvSpPr/>
          <p:nvPr/>
        </p:nvSpPr>
        <p:spPr>
          <a:xfrm>
            <a:off x="3122676" y="4343400"/>
            <a:ext cx="246888" cy="914"/>
          </a:xfrm>
          <a:prstGeom prst="line">
            <a:avLst/>
          </a:prstGeom>
          <a:noFill/>
          <a:ln w="25400">
            <a:solidFill>
              <a:srgbClr val="2DD4BF"/>
            </a:solidFill>
            <a:prstDash val="solid"/>
            <a:tailEnd type="triangle"/>
          </a:ln>
        </p:spPr>
      </p:sp>
      <p:sp>
        <p:nvSpPr>
          <p:cNvPr id="25" name="Shape 23"/>
          <p:cNvSpPr/>
          <p:nvPr/>
        </p:nvSpPr>
        <p:spPr>
          <a:xfrm>
            <a:off x="3406140" y="3611880"/>
            <a:ext cx="1154430" cy="1463040"/>
          </a:xfrm>
          <a:prstGeom prst="roundRect">
            <a:avLst>
              <a:gd name="adj" fmla="val 633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3479292" y="3685032"/>
            <a:ext cx="1008126" cy="13167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Response</a:t>
            </a:r>
            <a:endParaRPr lang="en-US" sz="1200" dirty="0"/>
          </a:p>
        </p:txBody>
      </p:sp>
      <p:sp>
        <p:nvSpPr>
          <p:cNvPr id="27" name="Shape 25"/>
          <p:cNvSpPr/>
          <p:nvPr/>
        </p:nvSpPr>
        <p:spPr>
          <a:xfrm>
            <a:off x="4597146" y="4343400"/>
            <a:ext cx="246888" cy="914"/>
          </a:xfrm>
          <a:prstGeom prst="line">
            <a:avLst/>
          </a:prstGeom>
          <a:noFill/>
          <a:ln w="25400">
            <a:solidFill>
              <a:srgbClr val="2DD4BF"/>
            </a:solidFill>
            <a:prstDash val="solid"/>
            <a:tailEnd type="triangle"/>
          </a:ln>
        </p:spPr>
      </p:sp>
      <p:sp>
        <p:nvSpPr>
          <p:cNvPr id="28" name="Shape 26"/>
          <p:cNvSpPr/>
          <p:nvPr/>
        </p:nvSpPr>
        <p:spPr>
          <a:xfrm>
            <a:off x="4880610" y="3611880"/>
            <a:ext cx="1154430" cy="1463040"/>
          </a:xfrm>
          <a:prstGeom prst="roundRect">
            <a:avLst>
              <a:gd name="adj" fmla="val 633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9" name="Text 27"/>
          <p:cNvSpPr/>
          <p:nvPr/>
        </p:nvSpPr>
        <p:spPr>
          <a:xfrm>
            <a:off x="4953762" y="3685032"/>
            <a:ext cx="1008126" cy="13167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Validation</a:t>
            </a:r>
            <a:endParaRPr lang="en-US" sz="1200" dirty="0"/>
          </a:p>
        </p:txBody>
      </p:sp>
      <p:sp>
        <p:nvSpPr>
          <p:cNvPr id="30" name="Shape 28"/>
          <p:cNvSpPr/>
          <p:nvPr/>
        </p:nvSpPr>
        <p:spPr>
          <a:xfrm>
            <a:off x="6309360" y="3611880"/>
            <a:ext cx="5394960" cy="2468880"/>
          </a:xfrm>
          <a:prstGeom prst="roundRect">
            <a:avLst>
              <a:gd name="adj" fmla="val 2963"/>
            </a:avLst>
          </a:prstGeom>
          <a:solidFill>
            <a:srgbClr val="101A30"/>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1" name="Text 29"/>
          <p:cNvSpPr/>
          <p:nvPr/>
        </p:nvSpPr>
        <p:spPr>
          <a:xfrm>
            <a:off x="6537960" y="3749040"/>
            <a:ext cx="4937760" cy="292608"/>
          </a:xfrm>
          <a:prstGeom prst="rect">
            <a:avLst/>
          </a:prstGeom>
          <a:noFill/>
          <a:ln/>
        </p:spPr>
        <p:txBody>
          <a:bodyPr wrap="square" rtlCol="0" anchor="ctr"/>
          <a:lstStyle/>
          <a:p>
            <a:pPr indent="0" marL="0">
              <a:buNone/>
            </a:pPr>
            <a:r>
              <a:rPr lang="en-US" sz="1150" b="1" spc="100" kern="0" dirty="0">
                <a:solidFill>
                  <a:srgbClr val="2DD4BF"/>
                </a:solidFill>
                <a:latin typeface="Calibri" pitchFamily="34" charset="0"/>
                <a:ea typeface="Calibri" pitchFamily="34" charset="-122"/>
                <a:cs typeface="Calibri" pitchFamily="34" charset="-120"/>
              </a:rPr>
              <a:t>SUPPORTING ARCHITECTURE</a:t>
            </a:r>
            <a:endParaRPr lang="en-US" sz="1150" dirty="0"/>
          </a:p>
        </p:txBody>
      </p:sp>
      <p:sp>
        <p:nvSpPr>
          <p:cNvPr id="32" name="Shape 30"/>
          <p:cNvSpPr/>
          <p:nvPr/>
        </p:nvSpPr>
        <p:spPr>
          <a:xfrm>
            <a:off x="6574536" y="4169664"/>
            <a:ext cx="329184" cy="329184"/>
          </a:xfrm>
          <a:prstGeom prst="ellipse">
            <a:avLst/>
          </a:prstGeom>
          <a:solidFill>
            <a:srgbClr val="101A30"/>
          </a:solidFill>
          <a:ln w="19050">
            <a:solidFill>
              <a:srgbClr val="2DD4BF"/>
            </a:solidFill>
            <a:prstDash val="solid"/>
          </a:ln>
        </p:spPr>
      </p:sp>
      <p:sp>
        <p:nvSpPr>
          <p:cNvPr id="33" name="Text 31"/>
          <p:cNvSpPr/>
          <p:nvPr/>
        </p:nvSpPr>
        <p:spPr>
          <a:xfrm>
            <a:off x="6574536" y="416966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34" name="Text 32"/>
          <p:cNvSpPr/>
          <p:nvPr/>
        </p:nvSpPr>
        <p:spPr>
          <a:xfrm>
            <a:off x="6995160" y="4114800"/>
            <a:ext cx="448056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Athena (front end)</a:t>
            </a:r>
            <a:endParaRPr lang="en-US" sz="1150" dirty="0"/>
          </a:p>
        </p:txBody>
      </p:sp>
      <p:sp>
        <p:nvSpPr>
          <p:cNvPr id="35" name="Shape 33"/>
          <p:cNvSpPr/>
          <p:nvPr/>
        </p:nvSpPr>
        <p:spPr>
          <a:xfrm>
            <a:off x="6574536" y="4535424"/>
            <a:ext cx="329184" cy="329184"/>
          </a:xfrm>
          <a:prstGeom prst="ellipse">
            <a:avLst/>
          </a:prstGeom>
          <a:solidFill>
            <a:srgbClr val="101A30"/>
          </a:solidFill>
          <a:ln w="19050">
            <a:solidFill>
              <a:srgbClr val="2DD4BF"/>
            </a:solidFill>
            <a:prstDash val="solid"/>
          </a:ln>
        </p:spPr>
      </p:sp>
      <p:sp>
        <p:nvSpPr>
          <p:cNvPr id="36" name="Text 34"/>
          <p:cNvSpPr/>
          <p:nvPr/>
        </p:nvSpPr>
        <p:spPr>
          <a:xfrm>
            <a:off x="6574536" y="453542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37" name="Text 35"/>
          <p:cNvSpPr/>
          <p:nvPr/>
        </p:nvSpPr>
        <p:spPr>
          <a:xfrm>
            <a:off x="6995160" y="4480560"/>
            <a:ext cx="448056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DEG (data enrichment gateway)</a:t>
            </a:r>
            <a:endParaRPr lang="en-US" sz="1150" dirty="0"/>
          </a:p>
        </p:txBody>
      </p:sp>
      <p:sp>
        <p:nvSpPr>
          <p:cNvPr id="38" name="Shape 36"/>
          <p:cNvSpPr/>
          <p:nvPr/>
        </p:nvSpPr>
        <p:spPr>
          <a:xfrm>
            <a:off x="6574536" y="4901184"/>
            <a:ext cx="329184" cy="329184"/>
          </a:xfrm>
          <a:prstGeom prst="ellipse">
            <a:avLst/>
          </a:prstGeom>
          <a:solidFill>
            <a:srgbClr val="101A30"/>
          </a:solidFill>
          <a:ln w="19050">
            <a:solidFill>
              <a:srgbClr val="2DD4BF"/>
            </a:solidFill>
            <a:prstDash val="solid"/>
          </a:ln>
        </p:spPr>
      </p:sp>
      <p:sp>
        <p:nvSpPr>
          <p:cNvPr id="39" name="Text 37"/>
          <p:cNvSpPr/>
          <p:nvPr/>
        </p:nvSpPr>
        <p:spPr>
          <a:xfrm>
            <a:off x="6574536" y="490118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40" name="Text 38"/>
          <p:cNvSpPr/>
          <p:nvPr/>
        </p:nvSpPr>
        <p:spPr>
          <a:xfrm>
            <a:off x="6995160" y="4846320"/>
            <a:ext cx="448056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RL PreCom / RL Underwriting / RL Pricing</a:t>
            </a:r>
            <a:endParaRPr lang="en-US" sz="1150" dirty="0"/>
          </a:p>
        </p:txBody>
      </p:sp>
      <p:sp>
        <p:nvSpPr>
          <p:cNvPr id="41" name="Shape 39"/>
          <p:cNvSpPr/>
          <p:nvPr/>
        </p:nvSpPr>
        <p:spPr>
          <a:xfrm>
            <a:off x="6574536" y="5266944"/>
            <a:ext cx="329184" cy="329184"/>
          </a:xfrm>
          <a:prstGeom prst="ellipse">
            <a:avLst/>
          </a:prstGeom>
          <a:solidFill>
            <a:srgbClr val="101A30"/>
          </a:solidFill>
          <a:ln w="19050">
            <a:solidFill>
              <a:srgbClr val="2DD4BF"/>
            </a:solidFill>
            <a:prstDash val="solid"/>
          </a:ln>
        </p:spPr>
      </p:sp>
      <p:sp>
        <p:nvSpPr>
          <p:cNvPr id="42" name="Text 40"/>
          <p:cNvSpPr/>
          <p:nvPr/>
        </p:nvSpPr>
        <p:spPr>
          <a:xfrm>
            <a:off x="6574536" y="526694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43" name="Text 41"/>
          <p:cNvSpPr/>
          <p:nvPr/>
        </p:nvSpPr>
        <p:spPr>
          <a:xfrm>
            <a:off x="6995160" y="5212080"/>
            <a:ext cx="448056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Mule</a:t>
            </a:r>
            <a:endParaRPr lang="en-US" sz="1150" dirty="0"/>
          </a:p>
        </p:txBody>
      </p:sp>
      <p:sp>
        <p:nvSpPr>
          <p:cNvPr id="44" name="Shape 42"/>
          <p:cNvSpPr/>
          <p:nvPr/>
        </p:nvSpPr>
        <p:spPr>
          <a:xfrm>
            <a:off x="6574536" y="5632704"/>
            <a:ext cx="329184" cy="329184"/>
          </a:xfrm>
          <a:prstGeom prst="ellipse">
            <a:avLst/>
          </a:prstGeom>
          <a:solidFill>
            <a:srgbClr val="101A30"/>
          </a:solidFill>
          <a:ln w="19050">
            <a:solidFill>
              <a:srgbClr val="2DD4BF"/>
            </a:solidFill>
            <a:prstDash val="solid"/>
          </a:ln>
        </p:spPr>
      </p:sp>
      <p:sp>
        <p:nvSpPr>
          <p:cNvPr id="45" name="Text 43"/>
          <p:cNvSpPr/>
          <p:nvPr/>
        </p:nvSpPr>
        <p:spPr>
          <a:xfrm>
            <a:off x="6574536" y="563270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46" name="Text 44"/>
          <p:cNvSpPr/>
          <p:nvPr/>
        </p:nvSpPr>
        <p:spPr>
          <a:xfrm>
            <a:off x="6995160" y="5577840"/>
            <a:ext cx="448056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Building API &amp; Contents API</a:t>
            </a:r>
            <a:endParaRPr lang="en-US" sz="1150" dirty="0"/>
          </a:p>
        </p:txBody>
      </p:sp>
      <p:sp>
        <p:nvSpPr>
          <p:cNvPr id="47" name="Shape 45"/>
          <p:cNvSpPr/>
          <p:nvPr/>
        </p:nvSpPr>
        <p:spPr>
          <a:xfrm>
            <a:off x="457200" y="5349240"/>
            <a:ext cx="5577840" cy="914400"/>
          </a:xfrm>
          <a:prstGeom prst="roundRect">
            <a:avLst>
              <a:gd name="adj" fmla="val 8000"/>
            </a:avLst>
          </a:prstGeom>
          <a:solidFill>
            <a:srgbClr val="3D3117"/>
          </a:solidFill>
          <a:ln w="12700">
            <a:solidFill>
              <a:srgbClr val="F5B942"/>
            </a:solidFill>
            <a:prstDash val="solid"/>
          </a:ln>
        </p:spPr>
      </p:sp>
      <p:sp>
        <p:nvSpPr>
          <p:cNvPr id="48" name="Text 46"/>
          <p:cNvSpPr/>
          <p:nvPr/>
        </p:nvSpPr>
        <p:spPr>
          <a:xfrm>
            <a:off x="640080" y="5349240"/>
            <a:ext cx="5212080" cy="914400"/>
          </a:xfrm>
          <a:prstGeom prst="rect">
            <a:avLst/>
          </a:prstGeom>
          <a:noFill/>
          <a:ln/>
        </p:spPr>
        <p:txBody>
          <a:bodyPr wrap="square" rtlCol="0" anchor="ctr"/>
          <a:lstStyle/>
          <a:p>
            <a:pPr indent="0" marL="0">
              <a:buNone/>
            </a:pPr>
            <a:r>
              <a:rPr lang="en-US" sz="1050" i="1" dirty="0">
                <a:solidFill>
                  <a:srgbClr val="F5B942"/>
                </a:solidFill>
                <a:latin typeface="Calibri" pitchFamily="34" charset="0"/>
                <a:ea typeface="Calibri" pitchFamily="34" charset="-122"/>
                <a:cs typeface="Calibri" pitchFamily="34" charset="-120"/>
              </a:rPr>
              <a:t>The three models form the backend processing validated against user-story requirements.</a:t>
            </a:r>
            <a:endParaRPr lang="en-US" sz="1050" dirty="0"/>
          </a:p>
        </p:txBody>
      </p:sp>
      <p:sp>
        <p:nvSpPr>
          <p:cNvPr id="49" name="Text 47"/>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50" name="Text 48"/>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51" name="Text 49"/>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Home Insurance &amp; Coverages</a:t>
            </a:r>
            <a:endParaRPr lang="en-US" sz="3000" dirty="0"/>
          </a:p>
        </p:txBody>
      </p:sp>
      <p:sp>
        <p:nvSpPr>
          <p:cNvPr id="7" name="Shape 5"/>
          <p:cNvSpPr/>
          <p:nvPr/>
        </p:nvSpPr>
        <p:spPr>
          <a:xfrm>
            <a:off x="457200" y="1645920"/>
            <a:ext cx="5394960" cy="2148840"/>
          </a:xfrm>
          <a:prstGeom prst="roundRect">
            <a:avLst>
              <a:gd name="adj" fmla="val 3404"/>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874520"/>
            <a:ext cx="91440" cy="91440"/>
          </a:xfrm>
          <a:prstGeom prst="roundRect">
            <a:avLst>
              <a:gd name="adj" fmla="val 50000"/>
            </a:avLst>
          </a:prstGeom>
          <a:solidFill>
            <a:srgbClr val="2DD4BF"/>
          </a:solidFill>
          <a:ln/>
        </p:spPr>
      </p:sp>
      <p:sp>
        <p:nvSpPr>
          <p:cNvPr id="9" name="Text 7"/>
          <p:cNvSpPr/>
          <p:nvPr/>
        </p:nvSpPr>
        <p:spPr>
          <a:xfrm>
            <a:off x="868680" y="1792224"/>
            <a:ext cx="4754880" cy="292608"/>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Building vs Contents</a:t>
            </a:r>
            <a:endParaRPr lang="en-US" sz="1400" dirty="0"/>
          </a:p>
        </p:txBody>
      </p:sp>
      <p:sp>
        <p:nvSpPr>
          <p:cNvPr id="10" name="Text 8"/>
          <p:cNvSpPr/>
          <p:nvPr/>
        </p:nvSpPr>
        <p:spPr>
          <a:xfrm>
            <a:off x="731520" y="2231136"/>
            <a:ext cx="4846320" cy="1380744"/>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Building: the physical property being insured.</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Contents: items inside the property — furniture, fire alarms, other household items.</a:t>
            </a:r>
            <a:endParaRPr lang="en-US" sz="1250" dirty="0"/>
          </a:p>
        </p:txBody>
      </p:sp>
      <p:sp>
        <p:nvSpPr>
          <p:cNvPr id="11" name="Shape 9"/>
          <p:cNvSpPr/>
          <p:nvPr/>
        </p:nvSpPr>
        <p:spPr>
          <a:xfrm>
            <a:off x="457200" y="3977640"/>
            <a:ext cx="5394960" cy="499872"/>
          </a:xfrm>
          <a:prstGeom prst="roundRect">
            <a:avLst>
              <a:gd name="adj" fmla="val 14634"/>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2" name="Shape 10"/>
          <p:cNvSpPr/>
          <p:nvPr/>
        </p:nvSpPr>
        <p:spPr>
          <a:xfrm>
            <a:off x="621792" y="4123944"/>
            <a:ext cx="109728" cy="109728"/>
          </a:xfrm>
          <a:prstGeom prst="roundRect">
            <a:avLst>
              <a:gd name="adj" fmla="val 50000"/>
            </a:avLst>
          </a:prstGeom>
          <a:solidFill>
            <a:srgbClr val="2DD4BF"/>
          </a:solidFill>
          <a:ln/>
        </p:spPr>
      </p:sp>
      <p:sp>
        <p:nvSpPr>
          <p:cNvPr id="13" name="Text 11"/>
          <p:cNvSpPr/>
          <p:nvPr/>
        </p:nvSpPr>
        <p:spPr>
          <a:xfrm>
            <a:off x="822960" y="4050792"/>
            <a:ext cx="4892040"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EOW</a:t>
            </a:r>
            <a:endParaRPr lang="en-US" sz="1300" dirty="0"/>
          </a:p>
        </p:txBody>
      </p:sp>
      <p:sp>
        <p:nvSpPr>
          <p:cNvPr id="14" name="Text 12"/>
          <p:cNvSpPr/>
          <p:nvPr/>
        </p:nvSpPr>
        <p:spPr>
          <a:xfrm>
            <a:off x="640080" y="4398264"/>
            <a:ext cx="5029200" cy="-30480"/>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Escape of Water coverage.</a:t>
            </a:r>
            <a:endParaRPr lang="en-US" sz="1080" dirty="0"/>
          </a:p>
        </p:txBody>
      </p:sp>
      <p:sp>
        <p:nvSpPr>
          <p:cNvPr id="15" name="Shape 13"/>
          <p:cNvSpPr/>
          <p:nvPr/>
        </p:nvSpPr>
        <p:spPr>
          <a:xfrm>
            <a:off x="457200" y="4733544"/>
            <a:ext cx="5394960" cy="499872"/>
          </a:xfrm>
          <a:prstGeom prst="roundRect">
            <a:avLst>
              <a:gd name="adj" fmla="val 14634"/>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6" name="Shape 14"/>
          <p:cNvSpPr/>
          <p:nvPr/>
        </p:nvSpPr>
        <p:spPr>
          <a:xfrm>
            <a:off x="621792" y="4879848"/>
            <a:ext cx="109728" cy="109728"/>
          </a:xfrm>
          <a:prstGeom prst="roundRect">
            <a:avLst>
              <a:gd name="adj" fmla="val 50000"/>
            </a:avLst>
          </a:prstGeom>
          <a:solidFill>
            <a:srgbClr val="2DD4BF"/>
          </a:solidFill>
          <a:ln/>
        </p:spPr>
      </p:sp>
      <p:sp>
        <p:nvSpPr>
          <p:cNvPr id="17" name="Text 15"/>
          <p:cNvSpPr/>
          <p:nvPr/>
        </p:nvSpPr>
        <p:spPr>
          <a:xfrm>
            <a:off x="822960" y="4806696"/>
            <a:ext cx="4892040"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Fire</a:t>
            </a:r>
            <a:endParaRPr lang="en-US" sz="1300" dirty="0"/>
          </a:p>
        </p:txBody>
      </p:sp>
      <p:sp>
        <p:nvSpPr>
          <p:cNvPr id="18" name="Text 16"/>
          <p:cNvSpPr/>
          <p:nvPr/>
        </p:nvSpPr>
        <p:spPr>
          <a:xfrm>
            <a:off x="640080" y="5154168"/>
            <a:ext cx="5029200" cy="-30480"/>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Fire peril coverage.</a:t>
            </a:r>
            <a:endParaRPr lang="en-US" sz="1080" dirty="0"/>
          </a:p>
        </p:txBody>
      </p:sp>
      <p:sp>
        <p:nvSpPr>
          <p:cNvPr id="19" name="Shape 17"/>
          <p:cNvSpPr/>
          <p:nvPr/>
        </p:nvSpPr>
        <p:spPr>
          <a:xfrm>
            <a:off x="457200" y="5489448"/>
            <a:ext cx="5394960" cy="499872"/>
          </a:xfrm>
          <a:prstGeom prst="roundRect">
            <a:avLst>
              <a:gd name="adj" fmla="val 14634"/>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0" name="Shape 18"/>
          <p:cNvSpPr/>
          <p:nvPr/>
        </p:nvSpPr>
        <p:spPr>
          <a:xfrm>
            <a:off x="621792" y="5635752"/>
            <a:ext cx="109728" cy="109728"/>
          </a:xfrm>
          <a:prstGeom prst="roundRect">
            <a:avLst>
              <a:gd name="adj" fmla="val 50000"/>
            </a:avLst>
          </a:prstGeom>
          <a:solidFill>
            <a:srgbClr val="2DD4BF"/>
          </a:solidFill>
          <a:ln/>
        </p:spPr>
      </p:sp>
      <p:sp>
        <p:nvSpPr>
          <p:cNvPr id="21" name="Text 19"/>
          <p:cNvSpPr/>
          <p:nvPr/>
        </p:nvSpPr>
        <p:spPr>
          <a:xfrm>
            <a:off x="822960" y="5562600"/>
            <a:ext cx="4892040"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Flood</a:t>
            </a:r>
            <a:endParaRPr lang="en-US" sz="1300" dirty="0"/>
          </a:p>
        </p:txBody>
      </p:sp>
      <p:sp>
        <p:nvSpPr>
          <p:cNvPr id="22" name="Text 20"/>
          <p:cNvSpPr/>
          <p:nvPr/>
        </p:nvSpPr>
        <p:spPr>
          <a:xfrm>
            <a:off x="640080" y="5910072"/>
            <a:ext cx="5029200" cy="-30480"/>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Flood peril coverage.</a:t>
            </a:r>
            <a:endParaRPr lang="en-US" sz="1080" dirty="0"/>
          </a:p>
        </p:txBody>
      </p:sp>
      <p:sp>
        <p:nvSpPr>
          <p:cNvPr id="23" name="Shape 21"/>
          <p:cNvSpPr/>
          <p:nvPr/>
        </p:nvSpPr>
        <p:spPr>
          <a:xfrm>
            <a:off x="6309360" y="1645920"/>
            <a:ext cx="5394960" cy="457200"/>
          </a:xfrm>
          <a:prstGeom prst="roundRect">
            <a:avLst>
              <a:gd name="adj" fmla="val 16000"/>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6446520" y="1645920"/>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Property Information</a:t>
            </a:r>
            <a:endParaRPr lang="en-US" sz="1250" dirty="0"/>
          </a:p>
        </p:txBody>
      </p:sp>
      <p:sp>
        <p:nvSpPr>
          <p:cNvPr id="25" name="Shape 23"/>
          <p:cNvSpPr/>
          <p:nvPr/>
        </p:nvSpPr>
        <p:spPr>
          <a:xfrm>
            <a:off x="9006840" y="2130552"/>
            <a:ext cx="914" cy="64008"/>
          </a:xfrm>
          <a:prstGeom prst="line">
            <a:avLst/>
          </a:prstGeom>
          <a:noFill/>
          <a:ln w="25400">
            <a:solidFill>
              <a:srgbClr val="2DD4BF"/>
            </a:solidFill>
            <a:prstDash val="solid"/>
            <a:tailEnd type="triangle"/>
          </a:ln>
        </p:spPr>
      </p:sp>
      <p:sp>
        <p:nvSpPr>
          <p:cNvPr id="26" name="Shape 24"/>
          <p:cNvSpPr/>
          <p:nvPr/>
        </p:nvSpPr>
        <p:spPr>
          <a:xfrm>
            <a:off x="6309360" y="2221992"/>
            <a:ext cx="5394960" cy="457200"/>
          </a:xfrm>
          <a:prstGeom prst="roundRect">
            <a:avLst>
              <a:gd name="adj" fmla="val 16000"/>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6446520" y="2221992"/>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Building / Contents</a:t>
            </a:r>
            <a:endParaRPr lang="en-US" sz="1250" dirty="0"/>
          </a:p>
        </p:txBody>
      </p:sp>
      <p:sp>
        <p:nvSpPr>
          <p:cNvPr id="28" name="Shape 26"/>
          <p:cNvSpPr/>
          <p:nvPr/>
        </p:nvSpPr>
        <p:spPr>
          <a:xfrm>
            <a:off x="9006840" y="2706624"/>
            <a:ext cx="914" cy="64008"/>
          </a:xfrm>
          <a:prstGeom prst="line">
            <a:avLst/>
          </a:prstGeom>
          <a:noFill/>
          <a:ln w="25400">
            <a:solidFill>
              <a:srgbClr val="2DD4BF"/>
            </a:solidFill>
            <a:prstDash val="solid"/>
            <a:tailEnd type="triangle"/>
          </a:ln>
        </p:spPr>
      </p:sp>
      <p:sp>
        <p:nvSpPr>
          <p:cNvPr id="29" name="Shape 27"/>
          <p:cNvSpPr/>
          <p:nvPr/>
        </p:nvSpPr>
        <p:spPr>
          <a:xfrm>
            <a:off x="6309360" y="2798064"/>
            <a:ext cx="5394960" cy="457200"/>
          </a:xfrm>
          <a:prstGeom prst="roundRect">
            <a:avLst>
              <a:gd name="adj" fmla="val 16000"/>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0" name="Text 28"/>
          <p:cNvSpPr/>
          <p:nvPr/>
        </p:nvSpPr>
        <p:spPr>
          <a:xfrm>
            <a:off x="6446520" y="2798064"/>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Coverage Selection</a:t>
            </a:r>
            <a:endParaRPr lang="en-US" sz="1250" dirty="0"/>
          </a:p>
        </p:txBody>
      </p:sp>
      <p:sp>
        <p:nvSpPr>
          <p:cNvPr id="31" name="Shape 29"/>
          <p:cNvSpPr/>
          <p:nvPr/>
        </p:nvSpPr>
        <p:spPr>
          <a:xfrm>
            <a:off x="9006840" y="3282696"/>
            <a:ext cx="914" cy="64008"/>
          </a:xfrm>
          <a:prstGeom prst="line">
            <a:avLst/>
          </a:prstGeom>
          <a:noFill/>
          <a:ln w="25400">
            <a:solidFill>
              <a:srgbClr val="2DD4BF"/>
            </a:solidFill>
            <a:prstDash val="solid"/>
            <a:tailEnd type="triangle"/>
          </a:ln>
        </p:spPr>
      </p:sp>
      <p:sp>
        <p:nvSpPr>
          <p:cNvPr id="32" name="Shape 30"/>
          <p:cNvSpPr/>
          <p:nvPr/>
        </p:nvSpPr>
        <p:spPr>
          <a:xfrm>
            <a:off x="6309360" y="3374136"/>
            <a:ext cx="5394960" cy="457200"/>
          </a:xfrm>
          <a:prstGeom prst="roundRect">
            <a:avLst>
              <a:gd name="adj" fmla="val 16000"/>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3" name="Text 31"/>
          <p:cNvSpPr/>
          <p:nvPr/>
        </p:nvSpPr>
        <p:spPr>
          <a:xfrm>
            <a:off x="6446520" y="3374136"/>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Pricing / Backend Processing</a:t>
            </a:r>
            <a:endParaRPr lang="en-US" sz="1250" dirty="0"/>
          </a:p>
        </p:txBody>
      </p:sp>
      <p:sp>
        <p:nvSpPr>
          <p:cNvPr id="34" name="Shape 32"/>
          <p:cNvSpPr/>
          <p:nvPr/>
        </p:nvSpPr>
        <p:spPr>
          <a:xfrm>
            <a:off x="9006840" y="3858768"/>
            <a:ext cx="914" cy="64008"/>
          </a:xfrm>
          <a:prstGeom prst="line">
            <a:avLst/>
          </a:prstGeom>
          <a:noFill/>
          <a:ln w="25400">
            <a:solidFill>
              <a:srgbClr val="2DD4BF"/>
            </a:solidFill>
            <a:prstDash val="solid"/>
            <a:tailEnd type="triangle"/>
          </a:ln>
        </p:spPr>
      </p:sp>
      <p:sp>
        <p:nvSpPr>
          <p:cNvPr id="35" name="Shape 33"/>
          <p:cNvSpPr/>
          <p:nvPr/>
        </p:nvSpPr>
        <p:spPr>
          <a:xfrm>
            <a:off x="6309360" y="3950208"/>
            <a:ext cx="5394960" cy="457200"/>
          </a:xfrm>
          <a:prstGeom prst="roundRect">
            <a:avLst>
              <a:gd name="adj" fmla="val 16000"/>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6" name="Text 34"/>
          <p:cNvSpPr/>
          <p:nvPr/>
        </p:nvSpPr>
        <p:spPr>
          <a:xfrm>
            <a:off x="6446520" y="3950208"/>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Response</a:t>
            </a:r>
            <a:endParaRPr lang="en-US" sz="1250" dirty="0"/>
          </a:p>
        </p:txBody>
      </p:sp>
      <p:sp>
        <p:nvSpPr>
          <p:cNvPr id="37" name="Shape 35"/>
          <p:cNvSpPr/>
          <p:nvPr/>
        </p:nvSpPr>
        <p:spPr>
          <a:xfrm>
            <a:off x="9006840" y="4434840"/>
            <a:ext cx="914" cy="64008"/>
          </a:xfrm>
          <a:prstGeom prst="line">
            <a:avLst/>
          </a:prstGeom>
          <a:noFill/>
          <a:ln w="25400">
            <a:solidFill>
              <a:srgbClr val="2DD4BF"/>
            </a:solidFill>
            <a:prstDash val="solid"/>
            <a:tailEnd type="triangle"/>
          </a:ln>
        </p:spPr>
      </p:sp>
      <p:sp>
        <p:nvSpPr>
          <p:cNvPr id="38" name="Shape 36"/>
          <p:cNvSpPr/>
          <p:nvPr/>
        </p:nvSpPr>
        <p:spPr>
          <a:xfrm>
            <a:off x="6309360" y="4526280"/>
            <a:ext cx="5394960" cy="457200"/>
          </a:xfrm>
          <a:prstGeom prst="roundRect">
            <a:avLst>
              <a:gd name="adj" fmla="val 16000"/>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9" name="Text 37"/>
          <p:cNvSpPr/>
          <p:nvPr/>
        </p:nvSpPr>
        <p:spPr>
          <a:xfrm>
            <a:off x="6446520" y="4526280"/>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Validation</a:t>
            </a:r>
            <a:endParaRPr lang="en-US" sz="1250" dirty="0"/>
          </a:p>
        </p:txBody>
      </p:sp>
      <p:sp>
        <p:nvSpPr>
          <p:cNvPr id="40" name="Shape 38"/>
          <p:cNvSpPr/>
          <p:nvPr/>
        </p:nvSpPr>
        <p:spPr>
          <a:xfrm>
            <a:off x="6309360" y="5349240"/>
            <a:ext cx="5394960" cy="914400"/>
          </a:xfrm>
          <a:prstGeom prst="roundRect">
            <a:avLst>
              <a:gd name="adj" fmla="val 8000"/>
            </a:avLst>
          </a:prstGeom>
          <a:solidFill>
            <a:srgbClr val="3D3117"/>
          </a:solidFill>
          <a:ln w="12700">
            <a:solidFill>
              <a:srgbClr val="F5B942"/>
            </a:solidFill>
            <a:prstDash val="solid"/>
          </a:ln>
        </p:spPr>
      </p:sp>
      <p:sp>
        <p:nvSpPr>
          <p:cNvPr id="41" name="Text 39"/>
          <p:cNvSpPr/>
          <p:nvPr/>
        </p:nvSpPr>
        <p:spPr>
          <a:xfrm>
            <a:off x="6492240" y="5349240"/>
            <a:ext cx="5029200" cy="914400"/>
          </a:xfrm>
          <a:prstGeom prst="rect">
            <a:avLst/>
          </a:prstGeom>
          <a:noFill/>
          <a:ln/>
        </p:spPr>
        <p:txBody>
          <a:bodyPr wrap="square" rtlCol="0" anchor="ctr"/>
          <a:lstStyle/>
          <a:p>
            <a:pPr indent="0" marL="0">
              <a:buNone/>
            </a:pPr>
            <a:r>
              <a:rPr lang="en-US" sz="1050" i="1" dirty="0">
                <a:solidFill>
                  <a:srgbClr val="F5B942"/>
                </a:solidFill>
                <a:latin typeface="Calibri" pitchFamily="34" charset="0"/>
                <a:ea typeface="Calibri" pitchFamily="34" charset="-122"/>
                <a:cs typeface="Calibri" pitchFamily="34" charset="-120"/>
              </a:rPr>
              <a:t>Building/Contents are major areas of Home Insurance; individual coverages determine what's protected and are reflected in the response.</a:t>
            </a:r>
            <a:endParaRPr lang="en-US" sz="1050" dirty="0"/>
          </a:p>
        </p:txBody>
      </p:sp>
      <p:sp>
        <p:nvSpPr>
          <p:cNvPr id="42" name="Text 40"/>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43" name="Text 41"/>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44" name="Text 42"/>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Pricing &amp; Rate Book</a:t>
            </a:r>
            <a:endParaRPr lang="en-US" sz="3000" dirty="0"/>
          </a:p>
        </p:txBody>
      </p:sp>
      <p:sp>
        <p:nvSpPr>
          <p:cNvPr id="7" name="Shape 5"/>
          <p:cNvSpPr/>
          <p:nvPr/>
        </p:nvSpPr>
        <p:spPr>
          <a:xfrm>
            <a:off x="457200" y="1645920"/>
            <a:ext cx="5394960" cy="2743200"/>
          </a:xfrm>
          <a:prstGeom prst="roundRect">
            <a:avLst>
              <a:gd name="adj" fmla="val 2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874520"/>
            <a:ext cx="91440" cy="91440"/>
          </a:xfrm>
          <a:prstGeom prst="roundRect">
            <a:avLst>
              <a:gd name="adj" fmla="val 50000"/>
            </a:avLst>
          </a:prstGeom>
          <a:solidFill>
            <a:srgbClr val="2DD4BF"/>
          </a:solidFill>
          <a:ln/>
        </p:spPr>
      </p:sp>
      <p:sp>
        <p:nvSpPr>
          <p:cNvPr id="9" name="Text 7"/>
          <p:cNvSpPr/>
          <p:nvPr/>
        </p:nvSpPr>
        <p:spPr>
          <a:xfrm>
            <a:off x="868680" y="1792224"/>
            <a:ext cx="4754880" cy="292608"/>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Rate Book Is Used to Understand</a:t>
            </a:r>
            <a:endParaRPr lang="en-US" sz="1400" dirty="0"/>
          </a:p>
        </p:txBody>
      </p:sp>
      <p:sp>
        <p:nvSpPr>
          <p:cNvPr id="10" name="Text 8"/>
          <p:cNvSpPr/>
          <p:nvPr/>
        </p:nvSpPr>
        <p:spPr>
          <a:xfrm>
            <a:off x="731520" y="2231136"/>
            <a:ext cx="4846320" cy="1975104"/>
          </a:xfrm>
          <a:prstGeom prst="rect">
            <a:avLst/>
          </a:prstGeom>
          <a:noFill/>
          <a:ln/>
        </p:spPr>
        <p:txBody>
          <a:bodyPr wrap="square" rtlCol="0" anchor="t"/>
          <a:lstStyle/>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Pricing calculations</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Premium-related values</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Coverage-related calculations</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Expected results for specific scenarios</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Changes introduced through user stories</a:t>
            </a:r>
            <a:endParaRPr lang="en-US" sz="1200" dirty="0"/>
          </a:p>
        </p:txBody>
      </p:sp>
      <p:sp>
        <p:nvSpPr>
          <p:cNvPr id="11" name="Shape 9"/>
          <p:cNvSpPr/>
          <p:nvPr/>
        </p:nvSpPr>
        <p:spPr>
          <a:xfrm>
            <a:off x="457200" y="4526280"/>
            <a:ext cx="5394960" cy="1463040"/>
          </a:xfrm>
          <a:prstGeom prst="roundRect">
            <a:avLst>
              <a:gd name="adj" fmla="val 5000"/>
            </a:avLst>
          </a:prstGeom>
          <a:solidFill>
            <a:srgbClr val="3D3117"/>
          </a:solidFill>
          <a:ln w="16510">
            <a:solidFill>
              <a:srgbClr val="F5B942"/>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685800" y="4663440"/>
            <a:ext cx="4937760" cy="274320"/>
          </a:xfrm>
          <a:prstGeom prst="rect">
            <a:avLst/>
          </a:prstGeom>
          <a:noFill/>
          <a:ln/>
        </p:spPr>
        <p:txBody>
          <a:bodyPr wrap="square" rtlCol="0" anchor="ctr"/>
          <a:lstStyle/>
          <a:p>
            <a:pPr indent="0" marL="0">
              <a:buNone/>
            </a:pPr>
            <a:r>
              <a:rPr lang="en-US" sz="1150" b="1" spc="100" kern="0" dirty="0">
                <a:solidFill>
                  <a:srgbClr val="F5B942"/>
                </a:solidFill>
                <a:latin typeface="Calibri" pitchFamily="34" charset="0"/>
                <a:ea typeface="Calibri" pitchFamily="34" charset="-122"/>
                <a:cs typeface="Calibri" pitchFamily="34" charset="-120"/>
              </a:rPr>
              <a:t>KEY POINT</a:t>
            </a:r>
            <a:endParaRPr lang="en-US" sz="1150" dirty="0"/>
          </a:p>
        </p:txBody>
      </p:sp>
      <p:sp>
        <p:nvSpPr>
          <p:cNvPr id="13" name="Text 11"/>
          <p:cNvSpPr/>
          <p:nvPr/>
        </p:nvSpPr>
        <p:spPr>
          <a:xfrm>
            <a:off x="685800" y="4983480"/>
            <a:ext cx="4937760" cy="914400"/>
          </a:xfrm>
          <a:prstGeom prst="rect">
            <a:avLst/>
          </a:prstGeom>
          <a:noFill/>
          <a:ln/>
        </p:spPr>
        <p:txBody>
          <a:bodyPr wrap="square" rtlCol="0" anchor="t"/>
          <a:lstStyle/>
          <a:p>
            <a:pPr indent="0" marL="0">
              <a:lnSpc>
                <a:spcPct val="120000"/>
              </a:lnSpc>
              <a:buNone/>
            </a:pPr>
            <a:r>
              <a:rPr lang="en-US" sz="1100" i="1" dirty="0">
                <a:solidFill>
                  <a:srgbClr val="F5B942"/>
                </a:solidFill>
                <a:latin typeface="Calibri" pitchFamily="34" charset="0"/>
                <a:ea typeface="Calibri" pitchFamily="34" charset="-122"/>
                <a:cs typeface="Calibri" pitchFamily="34" charset="-120"/>
              </a:rPr>
              <a:t>We don't just check if the API responds — we verify the actual pricing result follows the Rate Book requirement.</a:t>
            </a:r>
            <a:endParaRPr lang="en-US" sz="1100" dirty="0"/>
          </a:p>
        </p:txBody>
      </p:sp>
      <p:sp>
        <p:nvSpPr>
          <p:cNvPr id="14" name="Shape 12"/>
          <p:cNvSpPr/>
          <p:nvPr/>
        </p:nvSpPr>
        <p:spPr>
          <a:xfrm>
            <a:off x="6309360" y="162763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5" name="Text 13"/>
          <p:cNvSpPr/>
          <p:nvPr/>
        </p:nvSpPr>
        <p:spPr>
          <a:xfrm>
            <a:off x="6446520" y="162763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User Story</a:t>
            </a:r>
            <a:endParaRPr lang="en-US" sz="1250" dirty="0"/>
          </a:p>
        </p:txBody>
      </p:sp>
      <p:sp>
        <p:nvSpPr>
          <p:cNvPr id="16" name="Shape 14"/>
          <p:cNvSpPr/>
          <p:nvPr/>
        </p:nvSpPr>
        <p:spPr>
          <a:xfrm>
            <a:off x="9006840" y="2093976"/>
            <a:ext cx="914" cy="36576"/>
          </a:xfrm>
          <a:prstGeom prst="line">
            <a:avLst/>
          </a:prstGeom>
          <a:noFill/>
          <a:ln w="25400">
            <a:solidFill>
              <a:srgbClr val="2DD4BF"/>
            </a:solidFill>
            <a:prstDash val="solid"/>
            <a:tailEnd type="triangle"/>
          </a:ln>
        </p:spPr>
      </p:sp>
      <p:sp>
        <p:nvSpPr>
          <p:cNvPr id="17" name="Shape 15"/>
          <p:cNvSpPr/>
          <p:nvPr/>
        </p:nvSpPr>
        <p:spPr>
          <a:xfrm>
            <a:off x="6309360" y="2157984"/>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8" name="Text 16"/>
          <p:cNvSpPr/>
          <p:nvPr/>
        </p:nvSpPr>
        <p:spPr>
          <a:xfrm>
            <a:off x="6446520" y="2157984"/>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6-Bedroom Scenario</a:t>
            </a:r>
            <a:endParaRPr lang="en-US" sz="1250" dirty="0"/>
          </a:p>
        </p:txBody>
      </p:sp>
      <p:sp>
        <p:nvSpPr>
          <p:cNvPr id="19" name="Shape 17"/>
          <p:cNvSpPr/>
          <p:nvPr/>
        </p:nvSpPr>
        <p:spPr>
          <a:xfrm>
            <a:off x="9006840" y="2624328"/>
            <a:ext cx="914" cy="36576"/>
          </a:xfrm>
          <a:prstGeom prst="line">
            <a:avLst/>
          </a:prstGeom>
          <a:noFill/>
          <a:ln w="25400">
            <a:solidFill>
              <a:srgbClr val="2DD4BF"/>
            </a:solidFill>
            <a:prstDash val="solid"/>
            <a:tailEnd type="triangle"/>
          </a:ln>
        </p:spPr>
      </p:sp>
      <p:sp>
        <p:nvSpPr>
          <p:cNvPr id="20" name="Shape 18"/>
          <p:cNvSpPr/>
          <p:nvPr/>
        </p:nvSpPr>
        <p:spPr>
          <a:xfrm>
            <a:off x="6309360" y="2688336"/>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1" name="Text 19"/>
          <p:cNvSpPr/>
          <p:nvPr/>
        </p:nvSpPr>
        <p:spPr>
          <a:xfrm>
            <a:off x="6446520" y="2688336"/>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Rate Book Requirement</a:t>
            </a:r>
            <a:endParaRPr lang="en-US" sz="1250" dirty="0"/>
          </a:p>
        </p:txBody>
      </p:sp>
      <p:sp>
        <p:nvSpPr>
          <p:cNvPr id="22" name="Shape 20"/>
          <p:cNvSpPr/>
          <p:nvPr/>
        </p:nvSpPr>
        <p:spPr>
          <a:xfrm>
            <a:off x="9006840" y="3154680"/>
            <a:ext cx="914" cy="36576"/>
          </a:xfrm>
          <a:prstGeom prst="line">
            <a:avLst/>
          </a:prstGeom>
          <a:noFill/>
          <a:ln w="25400">
            <a:solidFill>
              <a:srgbClr val="2DD4BF"/>
            </a:solidFill>
            <a:prstDash val="solid"/>
            <a:tailEnd type="triangle"/>
          </a:ln>
        </p:spPr>
      </p:sp>
      <p:sp>
        <p:nvSpPr>
          <p:cNvPr id="23" name="Shape 21"/>
          <p:cNvSpPr/>
          <p:nvPr/>
        </p:nvSpPr>
        <p:spPr>
          <a:xfrm>
            <a:off x="6309360" y="3218688"/>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6446520" y="3218688"/>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Expected 12% Load</a:t>
            </a:r>
            <a:endParaRPr lang="en-US" sz="1250" dirty="0"/>
          </a:p>
        </p:txBody>
      </p:sp>
      <p:sp>
        <p:nvSpPr>
          <p:cNvPr id="25" name="Shape 23"/>
          <p:cNvSpPr/>
          <p:nvPr/>
        </p:nvSpPr>
        <p:spPr>
          <a:xfrm>
            <a:off x="9006840" y="3685032"/>
            <a:ext cx="914" cy="36576"/>
          </a:xfrm>
          <a:prstGeom prst="line">
            <a:avLst/>
          </a:prstGeom>
          <a:noFill/>
          <a:ln w="25400">
            <a:solidFill>
              <a:srgbClr val="2DD4BF"/>
            </a:solidFill>
            <a:prstDash val="solid"/>
            <a:tailEnd type="triangle"/>
          </a:ln>
        </p:spPr>
      </p:sp>
      <p:sp>
        <p:nvSpPr>
          <p:cNvPr id="26" name="Shape 24"/>
          <p:cNvSpPr/>
          <p:nvPr/>
        </p:nvSpPr>
        <p:spPr>
          <a:xfrm>
            <a:off x="6309360" y="3749040"/>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6446520" y="3749040"/>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Execute Request</a:t>
            </a:r>
            <a:endParaRPr lang="en-US" sz="1250" dirty="0"/>
          </a:p>
        </p:txBody>
      </p:sp>
      <p:sp>
        <p:nvSpPr>
          <p:cNvPr id="28" name="Shape 26"/>
          <p:cNvSpPr/>
          <p:nvPr/>
        </p:nvSpPr>
        <p:spPr>
          <a:xfrm>
            <a:off x="9006840" y="4215384"/>
            <a:ext cx="914" cy="36576"/>
          </a:xfrm>
          <a:prstGeom prst="line">
            <a:avLst/>
          </a:prstGeom>
          <a:noFill/>
          <a:ln w="25400">
            <a:solidFill>
              <a:srgbClr val="2DD4BF"/>
            </a:solidFill>
            <a:prstDash val="solid"/>
            <a:tailEnd type="triangle"/>
          </a:ln>
        </p:spPr>
      </p:sp>
      <p:sp>
        <p:nvSpPr>
          <p:cNvPr id="29" name="Shape 27"/>
          <p:cNvSpPr/>
          <p:nvPr/>
        </p:nvSpPr>
        <p:spPr>
          <a:xfrm>
            <a:off x="6309360" y="427939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0" name="Text 28"/>
          <p:cNvSpPr/>
          <p:nvPr/>
        </p:nvSpPr>
        <p:spPr>
          <a:xfrm>
            <a:off x="6446520" y="427939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Actual Response</a:t>
            </a:r>
            <a:endParaRPr lang="en-US" sz="1250" dirty="0"/>
          </a:p>
        </p:txBody>
      </p:sp>
      <p:sp>
        <p:nvSpPr>
          <p:cNvPr id="31" name="Shape 29"/>
          <p:cNvSpPr/>
          <p:nvPr/>
        </p:nvSpPr>
        <p:spPr>
          <a:xfrm>
            <a:off x="9006840" y="4745736"/>
            <a:ext cx="914" cy="36576"/>
          </a:xfrm>
          <a:prstGeom prst="line">
            <a:avLst/>
          </a:prstGeom>
          <a:noFill/>
          <a:ln w="25400">
            <a:solidFill>
              <a:srgbClr val="2DD4BF"/>
            </a:solidFill>
            <a:prstDash val="solid"/>
            <a:tailEnd type="triangle"/>
          </a:ln>
        </p:spPr>
      </p:sp>
      <p:sp>
        <p:nvSpPr>
          <p:cNvPr id="32" name="Shape 30"/>
          <p:cNvSpPr/>
          <p:nvPr/>
        </p:nvSpPr>
        <p:spPr>
          <a:xfrm>
            <a:off x="6309360" y="4809744"/>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3" name="Text 31"/>
          <p:cNvSpPr/>
          <p:nvPr/>
        </p:nvSpPr>
        <p:spPr>
          <a:xfrm>
            <a:off x="6446520" y="4809744"/>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Compare Expected vs Actual</a:t>
            </a:r>
            <a:endParaRPr lang="en-US" sz="1250" dirty="0"/>
          </a:p>
        </p:txBody>
      </p:sp>
      <p:sp>
        <p:nvSpPr>
          <p:cNvPr id="34" name="Text 32"/>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35" name="Text 33"/>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6" name="Text 34"/>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Rate Book Version &amp; Change Log</a:t>
            </a:r>
            <a:endParaRPr lang="en-US" sz="3000" dirty="0"/>
          </a:p>
        </p:txBody>
      </p:sp>
      <p:sp>
        <p:nvSpPr>
          <p:cNvPr id="7" name="Shape 5"/>
          <p:cNvSpPr/>
          <p:nvPr/>
        </p:nvSpPr>
        <p:spPr>
          <a:xfrm>
            <a:off x="457200" y="1645920"/>
            <a:ext cx="5394960" cy="3200400"/>
          </a:xfrm>
          <a:prstGeom prst="roundRect">
            <a:avLst>
              <a:gd name="adj" fmla="val 2286"/>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874520"/>
            <a:ext cx="91440" cy="91440"/>
          </a:xfrm>
          <a:prstGeom prst="roundRect">
            <a:avLst>
              <a:gd name="adj" fmla="val 50000"/>
            </a:avLst>
          </a:prstGeom>
          <a:solidFill>
            <a:srgbClr val="2DD4BF"/>
          </a:solidFill>
          <a:ln/>
        </p:spPr>
      </p:sp>
      <p:sp>
        <p:nvSpPr>
          <p:cNvPr id="9" name="Text 7"/>
          <p:cNvSpPr/>
          <p:nvPr/>
        </p:nvSpPr>
        <p:spPr>
          <a:xfrm>
            <a:off x="868680" y="1792224"/>
            <a:ext cx="4754880" cy="292608"/>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Why Version Matters</a:t>
            </a:r>
            <a:endParaRPr lang="en-US" sz="1400" dirty="0"/>
          </a:p>
        </p:txBody>
      </p:sp>
      <p:sp>
        <p:nvSpPr>
          <p:cNvPr id="10" name="Text 8"/>
          <p:cNvSpPr/>
          <p:nvPr/>
        </p:nvSpPr>
        <p:spPr>
          <a:xfrm>
            <a:off x="731520" y="2231136"/>
            <a:ext cx="4846320" cy="2432304"/>
          </a:xfrm>
          <a:prstGeom prst="rect">
            <a:avLst/>
          </a:prstGeom>
          <a:noFill/>
          <a:ln/>
        </p:spPr>
        <p:txBody>
          <a:bodyPr wrap="square" rtlCol="0" anchor="t"/>
          <a:lstStyle/>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Applicable Rate Book version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Change introduced in that version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Fields affected by the change</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Expected pricing behaviour</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Version against which testing should be performed</a:t>
            </a:r>
            <a:endParaRPr lang="en-US" sz="1200" dirty="0"/>
          </a:p>
        </p:txBody>
      </p:sp>
      <p:sp>
        <p:nvSpPr>
          <p:cNvPr id="11" name="Shape 9"/>
          <p:cNvSpPr/>
          <p:nvPr/>
        </p:nvSpPr>
        <p:spPr>
          <a:xfrm>
            <a:off x="457200" y="4983480"/>
            <a:ext cx="5394960" cy="1051560"/>
          </a:xfrm>
          <a:prstGeom prst="roundRect">
            <a:avLst>
              <a:gd name="adj" fmla="val 6957"/>
            </a:avLst>
          </a:prstGeom>
          <a:solidFill>
            <a:srgbClr val="101A30"/>
          </a:solidFill>
          <a:ln w="12700">
            <a:solidFill>
              <a:srgbClr val="2DD4BF"/>
            </a:solidFill>
            <a:prstDash val="solid"/>
          </a:ln>
        </p:spPr>
      </p:sp>
      <p:sp>
        <p:nvSpPr>
          <p:cNvPr id="12" name="Text 10"/>
          <p:cNvSpPr/>
          <p:nvPr/>
        </p:nvSpPr>
        <p:spPr>
          <a:xfrm>
            <a:off x="685800" y="4983480"/>
            <a:ext cx="4937760" cy="1051560"/>
          </a:xfrm>
          <a:prstGeom prst="rect">
            <a:avLst/>
          </a:prstGeom>
          <a:noFill/>
          <a:ln/>
        </p:spPr>
        <p:txBody>
          <a:bodyPr wrap="square" rtlCol="0" anchor="ctr"/>
          <a:lstStyle/>
          <a:p>
            <a:pPr indent="0" marL="0">
              <a:buNone/>
            </a:pPr>
            <a:r>
              <a:rPr lang="en-US" sz="1100" i="1" dirty="0">
                <a:solidFill>
                  <a:srgbClr val="97A3BE"/>
                </a:solidFill>
                <a:latin typeface="Calibri" pitchFamily="34" charset="0"/>
                <a:ea typeface="Calibri" pitchFamily="34" charset="-122"/>
                <a:cs typeface="Calibri" pitchFamily="34" charset="-120"/>
              </a:rPr>
              <a:t>Example: v3.13 → v3.17.3 → v3.17.4 — the Change Log tracks each pricing revision by version.</a:t>
            </a:r>
            <a:endParaRPr lang="en-US" sz="1100" dirty="0"/>
          </a:p>
        </p:txBody>
      </p:sp>
      <p:sp>
        <p:nvSpPr>
          <p:cNvPr id="13" name="Shape 11"/>
          <p:cNvSpPr/>
          <p:nvPr/>
        </p:nvSpPr>
        <p:spPr>
          <a:xfrm>
            <a:off x="6309360" y="1627632"/>
            <a:ext cx="5394960" cy="402336"/>
          </a:xfrm>
          <a:prstGeom prst="roundRect">
            <a:avLst>
              <a:gd name="adj" fmla="val 18182"/>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6446520" y="1627632"/>
            <a:ext cx="512064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User Story</a:t>
            </a:r>
            <a:endParaRPr lang="en-US" sz="1250" dirty="0"/>
          </a:p>
        </p:txBody>
      </p:sp>
      <p:sp>
        <p:nvSpPr>
          <p:cNvPr id="15" name="Shape 13"/>
          <p:cNvSpPr/>
          <p:nvPr/>
        </p:nvSpPr>
        <p:spPr>
          <a:xfrm>
            <a:off x="9006840" y="2057400"/>
            <a:ext cx="914" cy="27432"/>
          </a:xfrm>
          <a:prstGeom prst="line">
            <a:avLst/>
          </a:prstGeom>
          <a:noFill/>
          <a:ln w="25400">
            <a:solidFill>
              <a:srgbClr val="2DD4BF"/>
            </a:solidFill>
            <a:prstDash val="solid"/>
            <a:tailEnd type="triangle"/>
          </a:ln>
        </p:spPr>
      </p:sp>
      <p:sp>
        <p:nvSpPr>
          <p:cNvPr id="16" name="Shape 14"/>
          <p:cNvSpPr/>
          <p:nvPr/>
        </p:nvSpPr>
        <p:spPr>
          <a:xfrm>
            <a:off x="6309360" y="2112264"/>
            <a:ext cx="5394960" cy="402336"/>
          </a:xfrm>
          <a:prstGeom prst="roundRect">
            <a:avLst>
              <a:gd name="adj" fmla="val 18182"/>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6446520" y="2112264"/>
            <a:ext cx="512064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Identify Requirement</a:t>
            </a:r>
            <a:endParaRPr lang="en-US" sz="1250" dirty="0"/>
          </a:p>
        </p:txBody>
      </p:sp>
      <p:sp>
        <p:nvSpPr>
          <p:cNvPr id="18" name="Shape 16"/>
          <p:cNvSpPr/>
          <p:nvPr/>
        </p:nvSpPr>
        <p:spPr>
          <a:xfrm>
            <a:off x="9006840" y="2542032"/>
            <a:ext cx="914" cy="27432"/>
          </a:xfrm>
          <a:prstGeom prst="line">
            <a:avLst/>
          </a:prstGeom>
          <a:noFill/>
          <a:ln w="25400">
            <a:solidFill>
              <a:srgbClr val="2DD4BF"/>
            </a:solidFill>
            <a:prstDash val="solid"/>
            <a:tailEnd type="triangle"/>
          </a:ln>
        </p:spPr>
      </p:sp>
      <p:sp>
        <p:nvSpPr>
          <p:cNvPr id="19" name="Shape 17"/>
          <p:cNvSpPr/>
          <p:nvPr/>
        </p:nvSpPr>
        <p:spPr>
          <a:xfrm>
            <a:off x="6309360" y="2596896"/>
            <a:ext cx="5394960" cy="402336"/>
          </a:xfrm>
          <a:prstGeom prst="roundRect">
            <a:avLst>
              <a:gd name="adj" fmla="val 18182"/>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6446520" y="2596896"/>
            <a:ext cx="512064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Check Rate Book</a:t>
            </a:r>
            <a:endParaRPr lang="en-US" sz="1250" dirty="0"/>
          </a:p>
        </p:txBody>
      </p:sp>
      <p:sp>
        <p:nvSpPr>
          <p:cNvPr id="21" name="Shape 19"/>
          <p:cNvSpPr/>
          <p:nvPr/>
        </p:nvSpPr>
        <p:spPr>
          <a:xfrm>
            <a:off x="9006840" y="3026664"/>
            <a:ext cx="914" cy="27432"/>
          </a:xfrm>
          <a:prstGeom prst="line">
            <a:avLst/>
          </a:prstGeom>
          <a:noFill/>
          <a:ln w="25400">
            <a:solidFill>
              <a:srgbClr val="2DD4BF"/>
            </a:solidFill>
            <a:prstDash val="solid"/>
            <a:tailEnd type="triangle"/>
          </a:ln>
        </p:spPr>
      </p:sp>
      <p:sp>
        <p:nvSpPr>
          <p:cNvPr id="22" name="Shape 20"/>
          <p:cNvSpPr/>
          <p:nvPr/>
        </p:nvSpPr>
        <p:spPr>
          <a:xfrm>
            <a:off x="6309360" y="3081528"/>
            <a:ext cx="5394960" cy="402336"/>
          </a:xfrm>
          <a:prstGeom prst="roundRect">
            <a:avLst>
              <a:gd name="adj" fmla="val 18182"/>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6446520" y="3081528"/>
            <a:ext cx="512064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Check Change Log</a:t>
            </a:r>
            <a:endParaRPr lang="en-US" sz="1250" dirty="0"/>
          </a:p>
        </p:txBody>
      </p:sp>
      <p:sp>
        <p:nvSpPr>
          <p:cNvPr id="24" name="Shape 22"/>
          <p:cNvSpPr/>
          <p:nvPr/>
        </p:nvSpPr>
        <p:spPr>
          <a:xfrm>
            <a:off x="9006840" y="3511296"/>
            <a:ext cx="914" cy="27432"/>
          </a:xfrm>
          <a:prstGeom prst="line">
            <a:avLst/>
          </a:prstGeom>
          <a:noFill/>
          <a:ln w="25400">
            <a:solidFill>
              <a:srgbClr val="2DD4BF"/>
            </a:solidFill>
            <a:prstDash val="solid"/>
            <a:tailEnd type="triangle"/>
          </a:ln>
        </p:spPr>
      </p:sp>
      <p:sp>
        <p:nvSpPr>
          <p:cNvPr id="25" name="Shape 23"/>
          <p:cNvSpPr/>
          <p:nvPr/>
        </p:nvSpPr>
        <p:spPr>
          <a:xfrm>
            <a:off x="6309360" y="3566160"/>
            <a:ext cx="5394960" cy="402336"/>
          </a:xfrm>
          <a:prstGeom prst="roundRect">
            <a:avLst>
              <a:gd name="adj" fmla="val 18182"/>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6446520" y="3566160"/>
            <a:ext cx="512064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Identify Version</a:t>
            </a:r>
            <a:endParaRPr lang="en-US" sz="1250" dirty="0"/>
          </a:p>
        </p:txBody>
      </p:sp>
      <p:sp>
        <p:nvSpPr>
          <p:cNvPr id="27" name="Shape 25"/>
          <p:cNvSpPr/>
          <p:nvPr/>
        </p:nvSpPr>
        <p:spPr>
          <a:xfrm>
            <a:off x="9006840" y="3995928"/>
            <a:ext cx="914" cy="27432"/>
          </a:xfrm>
          <a:prstGeom prst="line">
            <a:avLst/>
          </a:prstGeom>
          <a:noFill/>
          <a:ln w="25400">
            <a:solidFill>
              <a:srgbClr val="2DD4BF"/>
            </a:solidFill>
            <a:prstDash val="solid"/>
            <a:tailEnd type="triangle"/>
          </a:ln>
        </p:spPr>
      </p:sp>
      <p:sp>
        <p:nvSpPr>
          <p:cNvPr id="28" name="Shape 26"/>
          <p:cNvSpPr/>
          <p:nvPr/>
        </p:nvSpPr>
        <p:spPr>
          <a:xfrm>
            <a:off x="6309360" y="4050792"/>
            <a:ext cx="5394960" cy="402336"/>
          </a:xfrm>
          <a:prstGeom prst="roundRect">
            <a:avLst>
              <a:gd name="adj" fmla="val 18182"/>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9" name="Text 27"/>
          <p:cNvSpPr/>
          <p:nvPr/>
        </p:nvSpPr>
        <p:spPr>
          <a:xfrm>
            <a:off x="6446520" y="4050792"/>
            <a:ext cx="512064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Understand Pricing Change</a:t>
            </a:r>
            <a:endParaRPr lang="en-US" sz="1250" dirty="0"/>
          </a:p>
        </p:txBody>
      </p:sp>
      <p:sp>
        <p:nvSpPr>
          <p:cNvPr id="30" name="Shape 28"/>
          <p:cNvSpPr/>
          <p:nvPr/>
        </p:nvSpPr>
        <p:spPr>
          <a:xfrm>
            <a:off x="9006840" y="4480560"/>
            <a:ext cx="914" cy="27432"/>
          </a:xfrm>
          <a:prstGeom prst="line">
            <a:avLst/>
          </a:prstGeom>
          <a:noFill/>
          <a:ln w="25400">
            <a:solidFill>
              <a:srgbClr val="2DD4BF"/>
            </a:solidFill>
            <a:prstDash val="solid"/>
            <a:tailEnd type="triangle"/>
          </a:ln>
        </p:spPr>
      </p:sp>
      <p:sp>
        <p:nvSpPr>
          <p:cNvPr id="31" name="Shape 29"/>
          <p:cNvSpPr/>
          <p:nvPr/>
        </p:nvSpPr>
        <p:spPr>
          <a:xfrm>
            <a:off x="6309360" y="4535424"/>
            <a:ext cx="5394960" cy="402336"/>
          </a:xfrm>
          <a:prstGeom prst="roundRect">
            <a:avLst>
              <a:gd name="adj" fmla="val 18182"/>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2" name="Text 30"/>
          <p:cNvSpPr/>
          <p:nvPr/>
        </p:nvSpPr>
        <p:spPr>
          <a:xfrm>
            <a:off x="6446520" y="4535424"/>
            <a:ext cx="512064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Prepare Test Data</a:t>
            </a:r>
            <a:endParaRPr lang="en-US" sz="1250" dirty="0"/>
          </a:p>
        </p:txBody>
      </p:sp>
      <p:sp>
        <p:nvSpPr>
          <p:cNvPr id="33" name="Shape 31"/>
          <p:cNvSpPr/>
          <p:nvPr/>
        </p:nvSpPr>
        <p:spPr>
          <a:xfrm>
            <a:off x="9006840" y="4965192"/>
            <a:ext cx="914" cy="27432"/>
          </a:xfrm>
          <a:prstGeom prst="line">
            <a:avLst/>
          </a:prstGeom>
          <a:noFill/>
          <a:ln w="25400">
            <a:solidFill>
              <a:srgbClr val="2DD4BF"/>
            </a:solidFill>
            <a:prstDash val="solid"/>
            <a:tailEnd type="triangle"/>
          </a:ln>
        </p:spPr>
      </p:sp>
      <p:sp>
        <p:nvSpPr>
          <p:cNvPr id="34" name="Shape 32"/>
          <p:cNvSpPr/>
          <p:nvPr/>
        </p:nvSpPr>
        <p:spPr>
          <a:xfrm>
            <a:off x="6309360" y="5020056"/>
            <a:ext cx="5394960" cy="402336"/>
          </a:xfrm>
          <a:prstGeom prst="roundRect">
            <a:avLst>
              <a:gd name="adj" fmla="val 18182"/>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5" name="Text 33"/>
          <p:cNvSpPr/>
          <p:nvPr/>
        </p:nvSpPr>
        <p:spPr>
          <a:xfrm>
            <a:off x="6446520" y="5020056"/>
            <a:ext cx="5120640" cy="402336"/>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Execute &amp; Validate</a:t>
            </a:r>
            <a:endParaRPr lang="en-US" sz="1250" dirty="0"/>
          </a:p>
        </p:txBody>
      </p:sp>
      <p:sp>
        <p:nvSpPr>
          <p:cNvPr id="36" name="Text 34"/>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37" name="Text 35"/>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8" name="Text 36"/>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Athena Frontend &amp; Home Code</a:t>
            </a:r>
            <a:endParaRPr lang="en-US" sz="3000" dirty="0"/>
          </a:p>
        </p:txBody>
      </p:sp>
      <p:sp>
        <p:nvSpPr>
          <p:cNvPr id="7" name="Shape 5"/>
          <p:cNvSpPr/>
          <p:nvPr/>
        </p:nvSpPr>
        <p:spPr>
          <a:xfrm>
            <a:off x="493776" y="1906524"/>
            <a:ext cx="402336" cy="402336"/>
          </a:xfrm>
          <a:prstGeom prst="ellipse">
            <a:avLst/>
          </a:prstGeom>
          <a:solidFill>
            <a:srgbClr val="101A30"/>
          </a:solidFill>
          <a:ln w="19050">
            <a:solidFill>
              <a:srgbClr val="2DD4BF"/>
            </a:solidFill>
            <a:prstDash val="solid"/>
          </a:ln>
        </p:spPr>
      </p:sp>
      <p:sp>
        <p:nvSpPr>
          <p:cNvPr id="8" name="Text 6"/>
          <p:cNvSpPr/>
          <p:nvPr/>
        </p:nvSpPr>
        <p:spPr>
          <a:xfrm>
            <a:off x="493776" y="1906524"/>
            <a:ext cx="402336" cy="402336"/>
          </a:xfrm>
          <a:prstGeom prst="rect">
            <a:avLst/>
          </a:prstGeom>
          <a:noFill/>
          <a:ln/>
        </p:spPr>
        <p:txBody>
          <a:bodyPr wrap="square" rtlCol="0" anchor="ctr"/>
          <a:lstStyle/>
          <a:p>
            <a:pPr algn="ctr" indent="0" marL="0">
              <a:buNone/>
            </a:pPr>
            <a:r>
              <a:rPr lang="en-US" sz="1144" b="1" dirty="0">
                <a:solidFill>
                  <a:srgbClr val="2DD4BF"/>
                </a:solidFill>
                <a:latin typeface="Calibri" pitchFamily="34" charset="0"/>
                <a:ea typeface="Calibri" pitchFamily="34" charset="-122"/>
                <a:cs typeface="Calibri" pitchFamily="34" charset="-120"/>
              </a:rPr>
              <a:t>1</a:t>
            </a:r>
            <a:endParaRPr lang="en-US" sz="1144" dirty="0"/>
          </a:p>
        </p:txBody>
      </p:sp>
      <p:sp>
        <p:nvSpPr>
          <p:cNvPr id="9" name="Text 7"/>
          <p:cNvSpPr/>
          <p:nvPr/>
        </p:nvSpPr>
        <p:spPr>
          <a:xfrm>
            <a:off x="1005840" y="1691640"/>
            <a:ext cx="4846320" cy="868680"/>
          </a:xfrm>
          <a:prstGeom prst="rect">
            <a:avLst/>
          </a:prstGeom>
          <a:noFill/>
          <a:ln/>
        </p:spPr>
        <p:txBody>
          <a:bodyPr wrap="square" rtlCol="0" anchor="ctr"/>
          <a:lstStyle/>
          <a:p>
            <a:pPr indent="0" marL="0">
              <a:lnSpc>
                <a:spcPct val="105000"/>
              </a:lnSpc>
              <a:buNone/>
            </a:pPr>
            <a:r>
              <a:rPr lang="en-US" sz="1200" dirty="0">
                <a:solidFill>
                  <a:srgbClr val="F3F6FB"/>
                </a:solidFill>
                <a:latin typeface="Calibri" pitchFamily="34" charset="0"/>
                <a:ea typeface="Calibri" pitchFamily="34" charset="-122"/>
                <a:cs typeface="Calibri" pitchFamily="34" charset="-120"/>
              </a:rPr>
              <a:t>Open the Athena frontend.</a:t>
            </a:r>
            <a:endParaRPr lang="en-US" sz="1200" dirty="0"/>
          </a:p>
        </p:txBody>
      </p:sp>
      <p:sp>
        <p:nvSpPr>
          <p:cNvPr id="10" name="Shape 8"/>
          <p:cNvSpPr/>
          <p:nvPr/>
        </p:nvSpPr>
        <p:spPr>
          <a:xfrm>
            <a:off x="493776" y="2775204"/>
            <a:ext cx="402336" cy="402336"/>
          </a:xfrm>
          <a:prstGeom prst="ellipse">
            <a:avLst/>
          </a:prstGeom>
          <a:solidFill>
            <a:srgbClr val="101A30"/>
          </a:solidFill>
          <a:ln w="19050">
            <a:solidFill>
              <a:srgbClr val="2DD4BF"/>
            </a:solidFill>
            <a:prstDash val="solid"/>
          </a:ln>
        </p:spPr>
      </p:sp>
      <p:sp>
        <p:nvSpPr>
          <p:cNvPr id="11" name="Text 9"/>
          <p:cNvSpPr/>
          <p:nvPr/>
        </p:nvSpPr>
        <p:spPr>
          <a:xfrm>
            <a:off x="493776" y="2775204"/>
            <a:ext cx="402336" cy="402336"/>
          </a:xfrm>
          <a:prstGeom prst="rect">
            <a:avLst/>
          </a:prstGeom>
          <a:noFill/>
          <a:ln/>
        </p:spPr>
        <p:txBody>
          <a:bodyPr wrap="square" rtlCol="0" anchor="ctr"/>
          <a:lstStyle/>
          <a:p>
            <a:pPr algn="ctr" indent="0" marL="0">
              <a:buNone/>
            </a:pPr>
            <a:r>
              <a:rPr lang="en-US" sz="1144" b="1" dirty="0">
                <a:solidFill>
                  <a:srgbClr val="2DD4BF"/>
                </a:solidFill>
                <a:latin typeface="Calibri" pitchFamily="34" charset="0"/>
                <a:ea typeface="Calibri" pitchFamily="34" charset="-122"/>
                <a:cs typeface="Calibri" pitchFamily="34" charset="-120"/>
              </a:rPr>
              <a:t>2</a:t>
            </a:r>
            <a:endParaRPr lang="en-US" sz="1144" dirty="0"/>
          </a:p>
        </p:txBody>
      </p:sp>
      <p:sp>
        <p:nvSpPr>
          <p:cNvPr id="12" name="Text 10"/>
          <p:cNvSpPr/>
          <p:nvPr/>
        </p:nvSpPr>
        <p:spPr>
          <a:xfrm>
            <a:off x="1005840" y="2560320"/>
            <a:ext cx="4846320" cy="868680"/>
          </a:xfrm>
          <a:prstGeom prst="rect">
            <a:avLst/>
          </a:prstGeom>
          <a:noFill/>
          <a:ln/>
        </p:spPr>
        <p:txBody>
          <a:bodyPr wrap="square" rtlCol="0" anchor="ctr"/>
          <a:lstStyle/>
          <a:p>
            <a:pPr indent="0" marL="0">
              <a:lnSpc>
                <a:spcPct val="105000"/>
              </a:lnSpc>
              <a:buNone/>
            </a:pPr>
            <a:r>
              <a:rPr lang="en-US" sz="1200" dirty="0">
                <a:solidFill>
                  <a:srgbClr val="F3F6FB"/>
                </a:solidFill>
                <a:latin typeface="Calibri" pitchFamily="34" charset="0"/>
                <a:ea typeface="Calibri" pitchFamily="34" charset="-122"/>
                <a:cs typeface="Calibri" pitchFamily="34" charset="-120"/>
              </a:rPr>
              <a:t>Enter the required Home information.</a:t>
            </a:r>
            <a:endParaRPr lang="en-US" sz="1200" dirty="0"/>
          </a:p>
        </p:txBody>
      </p:sp>
      <p:sp>
        <p:nvSpPr>
          <p:cNvPr id="13" name="Shape 11"/>
          <p:cNvSpPr/>
          <p:nvPr/>
        </p:nvSpPr>
        <p:spPr>
          <a:xfrm>
            <a:off x="493776" y="3643884"/>
            <a:ext cx="402336" cy="402336"/>
          </a:xfrm>
          <a:prstGeom prst="ellipse">
            <a:avLst/>
          </a:prstGeom>
          <a:solidFill>
            <a:srgbClr val="101A30"/>
          </a:solidFill>
          <a:ln w="19050">
            <a:solidFill>
              <a:srgbClr val="2DD4BF"/>
            </a:solidFill>
            <a:prstDash val="solid"/>
          </a:ln>
        </p:spPr>
      </p:sp>
      <p:sp>
        <p:nvSpPr>
          <p:cNvPr id="14" name="Text 12"/>
          <p:cNvSpPr/>
          <p:nvPr/>
        </p:nvSpPr>
        <p:spPr>
          <a:xfrm>
            <a:off x="493776" y="3643884"/>
            <a:ext cx="402336" cy="402336"/>
          </a:xfrm>
          <a:prstGeom prst="rect">
            <a:avLst/>
          </a:prstGeom>
          <a:noFill/>
          <a:ln/>
        </p:spPr>
        <p:txBody>
          <a:bodyPr wrap="square" rtlCol="0" anchor="ctr"/>
          <a:lstStyle/>
          <a:p>
            <a:pPr algn="ctr" indent="0" marL="0">
              <a:buNone/>
            </a:pPr>
            <a:r>
              <a:rPr lang="en-US" sz="1144" b="1" dirty="0">
                <a:solidFill>
                  <a:srgbClr val="2DD4BF"/>
                </a:solidFill>
                <a:latin typeface="Calibri" pitchFamily="34" charset="0"/>
                <a:ea typeface="Calibri" pitchFamily="34" charset="-122"/>
                <a:cs typeface="Calibri" pitchFamily="34" charset="-120"/>
              </a:rPr>
              <a:t>3</a:t>
            </a:r>
            <a:endParaRPr lang="en-US" sz="1144" dirty="0"/>
          </a:p>
        </p:txBody>
      </p:sp>
      <p:sp>
        <p:nvSpPr>
          <p:cNvPr id="15" name="Text 13"/>
          <p:cNvSpPr/>
          <p:nvPr/>
        </p:nvSpPr>
        <p:spPr>
          <a:xfrm>
            <a:off x="1005840" y="3429000"/>
            <a:ext cx="4846320" cy="868680"/>
          </a:xfrm>
          <a:prstGeom prst="rect">
            <a:avLst/>
          </a:prstGeom>
          <a:noFill/>
          <a:ln/>
        </p:spPr>
        <p:txBody>
          <a:bodyPr wrap="square" rtlCol="0" anchor="ctr"/>
          <a:lstStyle/>
          <a:p>
            <a:pPr indent="0" marL="0">
              <a:lnSpc>
                <a:spcPct val="105000"/>
              </a:lnSpc>
              <a:buNone/>
            </a:pPr>
            <a:r>
              <a:rPr lang="en-US" sz="1200" dirty="0">
                <a:solidFill>
                  <a:srgbClr val="F3F6FB"/>
                </a:solidFill>
                <a:latin typeface="Calibri" pitchFamily="34" charset="0"/>
                <a:ea typeface="Calibri" pitchFamily="34" charset="-122"/>
                <a:cs typeface="Calibri" pitchFamily="34" charset="-120"/>
              </a:rPr>
              <a:t>Create the Home code / quote.</a:t>
            </a:r>
            <a:endParaRPr lang="en-US" sz="1200" dirty="0"/>
          </a:p>
        </p:txBody>
      </p:sp>
      <p:sp>
        <p:nvSpPr>
          <p:cNvPr id="16" name="Shape 14"/>
          <p:cNvSpPr/>
          <p:nvPr/>
        </p:nvSpPr>
        <p:spPr>
          <a:xfrm>
            <a:off x="493776" y="4512564"/>
            <a:ext cx="402336" cy="402336"/>
          </a:xfrm>
          <a:prstGeom prst="ellipse">
            <a:avLst/>
          </a:prstGeom>
          <a:solidFill>
            <a:srgbClr val="101A30"/>
          </a:solidFill>
          <a:ln w="19050">
            <a:solidFill>
              <a:srgbClr val="2DD4BF"/>
            </a:solidFill>
            <a:prstDash val="solid"/>
          </a:ln>
        </p:spPr>
      </p:sp>
      <p:sp>
        <p:nvSpPr>
          <p:cNvPr id="17" name="Text 15"/>
          <p:cNvSpPr/>
          <p:nvPr/>
        </p:nvSpPr>
        <p:spPr>
          <a:xfrm>
            <a:off x="493776" y="4512564"/>
            <a:ext cx="402336" cy="402336"/>
          </a:xfrm>
          <a:prstGeom prst="rect">
            <a:avLst/>
          </a:prstGeom>
          <a:noFill/>
          <a:ln/>
        </p:spPr>
        <p:txBody>
          <a:bodyPr wrap="square" rtlCol="0" anchor="ctr"/>
          <a:lstStyle/>
          <a:p>
            <a:pPr algn="ctr" indent="0" marL="0">
              <a:buNone/>
            </a:pPr>
            <a:r>
              <a:rPr lang="en-US" sz="1144" b="1" dirty="0">
                <a:solidFill>
                  <a:srgbClr val="2DD4BF"/>
                </a:solidFill>
                <a:latin typeface="Calibri" pitchFamily="34" charset="0"/>
                <a:ea typeface="Calibri" pitchFamily="34" charset="-122"/>
                <a:cs typeface="Calibri" pitchFamily="34" charset="-120"/>
              </a:rPr>
              <a:t>4</a:t>
            </a:r>
            <a:endParaRPr lang="en-US" sz="1144" dirty="0"/>
          </a:p>
        </p:txBody>
      </p:sp>
      <p:sp>
        <p:nvSpPr>
          <p:cNvPr id="18" name="Text 16"/>
          <p:cNvSpPr/>
          <p:nvPr/>
        </p:nvSpPr>
        <p:spPr>
          <a:xfrm>
            <a:off x="1005840" y="4297680"/>
            <a:ext cx="4846320" cy="868680"/>
          </a:xfrm>
          <a:prstGeom prst="rect">
            <a:avLst/>
          </a:prstGeom>
          <a:noFill/>
          <a:ln/>
        </p:spPr>
        <p:txBody>
          <a:bodyPr wrap="square" rtlCol="0" anchor="ctr"/>
          <a:lstStyle/>
          <a:p>
            <a:pPr indent="0" marL="0">
              <a:lnSpc>
                <a:spcPct val="105000"/>
              </a:lnSpc>
              <a:buNone/>
            </a:pPr>
            <a:r>
              <a:rPr lang="en-US" sz="1200" dirty="0">
                <a:solidFill>
                  <a:srgbClr val="F3F6FB"/>
                </a:solidFill>
                <a:latin typeface="Calibri" pitchFamily="34" charset="0"/>
                <a:ea typeface="Calibri" pitchFamily="34" charset="-122"/>
                <a:cs typeface="Calibri" pitchFamily="34" charset="-120"/>
              </a:rPr>
              <a:t>Generate the transaction.</a:t>
            </a:r>
            <a:endParaRPr lang="en-US" sz="1200" dirty="0"/>
          </a:p>
        </p:txBody>
      </p:sp>
      <p:sp>
        <p:nvSpPr>
          <p:cNvPr id="19" name="Shape 17"/>
          <p:cNvSpPr/>
          <p:nvPr/>
        </p:nvSpPr>
        <p:spPr>
          <a:xfrm>
            <a:off x="493776" y="5381244"/>
            <a:ext cx="402336" cy="402336"/>
          </a:xfrm>
          <a:prstGeom prst="ellipse">
            <a:avLst/>
          </a:prstGeom>
          <a:solidFill>
            <a:srgbClr val="101A30"/>
          </a:solidFill>
          <a:ln w="19050">
            <a:solidFill>
              <a:srgbClr val="2DD4BF"/>
            </a:solidFill>
            <a:prstDash val="solid"/>
          </a:ln>
        </p:spPr>
      </p:sp>
      <p:sp>
        <p:nvSpPr>
          <p:cNvPr id="20" name="Text 18"/>
          <p:cNvSpPr/>
          <p:nvPr/>
        </p:nvSpPr>
        <p:spPr>
          <a:xfrm>
            <a:off x="493776" y="5381244"/>
            <a:ext cx="402336" cy="402336"/>
          </a:xfrm>
          <a:prstGeom prst="rect">
            <a:avLst/>
          </a:prstGeom>
          <a:noFill/>
          <a:ln/>
        </p:spPr>
        <p:txBody>
          <a:bodyPr wrap="square" rtlCol="0" anchor="ctr"/>
          <a:lstStyle/>
          <a:p>
            <a:pPr algn="ctr" indent="0" marL="0">
              <a:buNone/>
            </a:pPr>
            <a:r>
              <a:rPr lang="en-US" sz="1144" b="1" dirty="0">
                <a:solidFill>
                  <a:srgbClr val="2DD4BF"/>
                </a:solidFill>
                <a:latin typeface="Calibri" pitchFamily="34" charset="0"/>
                <a:ea typeface="Calibri" pitchFamily="34" charset="-122"/>
                <a:cs typeface="Calibri" pitchFamily="34" charset="-120"/>
              </a:rPr>
              <a:t>5</a:t>
            </a:r>
            <a:endParaRPr lang="en-US" sz="1144" dirty="0"/>
          </a:p>
        </p:txBody>
      </p:sp>
      <p:sp>
        <p:nvSpPr>
          <p:cNvPr id="21" name="Text 19"/>
          <p:cNvSpPr/>
          <p:nvPr/>
        </p:nvSpPr>
        <p:spPr>
          <a:xfrm>
            <a:off x="1005840" y="5166360"/>
            <a:ext cx="4846320" cy="868680"/>
          </a:xfrm>
          <a:prstGeom prst="rect">
            <a:avLst/>
          </a:prstGeom>
          <a:noFill/>
          <a:ln/>
        </p:spPr>
        <p:txBody>
          <a:bodyPr wrap="square" rtlCol="0" anchor="ctr"/>
          <a:lstStyle/>
          <a:p>
            <a:pPr indent="0" marL="0">
              <a:lnSpc>
                <a:spcPct val="105000"/>
              </a:lnSpc>
              <a:buNone/>
            </a:pPr>
            <a:r>
              <a:rPr lang="en-US" sz="1200" dirty="0">
                <a:solidFill>
                  <a:srgbClr val="F3F6FB"/>
                </a:solidFill>
                <a:latin typeface="Calibri" pitchFamily="34" charset="0"/>
                <a:ea typeface="Calibri" pitchFamily="34" charset="-122"/>
                <a:cs typeface="Calibri" pitchFamily="34" charset="-120"/>
              </a:rPr>
              <a:t>Extract the API request for backend/API validation.</a:t>
            </a:r>
            <a:endParaRPr lang="en-US" sz="1200" dirty="0"/>
          </a:p>
        </p:txBody>
      </p:sp>
      <p:sp>
        <p:nvSpPr>
          <p:cNvPr id="22" name="Shape 20"/>
          <p:cNvSpPr/>
          <p:nvPr/>
        </p:nvSpPr>
        <p:spPr>
          <a:xfrm>
            <a:off x="6309360" y="1645920"/>
            <a:ext cx="5394960" cy="2286000"/>
          </a:xfrm>
          <a:prstGeom prst="roundRect">
            <a:avLst>
              <a:gd name="adj" fmla="val 3200"/>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3" name="Shape 21"/>
          <p:cNvSpPr/>
          <p:nvPr/>
        </p:nvSpPr>
        <p:spPr>
          <a:xfrm>
            <a:off x="6537960" y="1874520"/>
            <a:ext cx="91440" cy="91440"/>
          </a:xfrm>
          <a:prstGeom prst="roundRect">
            <a:avLst>
              <a:gd name="adj" fmla="val 50000"/>
            </a:avLst>
          </a:prstGeom>
          <a:solidFill>
            <a:srgbClr val="2DD4BF"/>
          </a:solidFill>
          <a:ln/>
        </p:spPr>
      </p:sp>
      <p:sp>
        <p:nvSpPr>
          <p:cNvPr id="24" name="Text 22"/>
          <p:cNvSpPr/>
          <p:nvPr/>
        </p:nvSpPr>
        <p:spPr>
          <a:xfrm>
            <a:off x="6720840" y="1792224"/>
            <a:ext cx="4754880" cy="292608"/>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Request Usage</a:t>
            </a:r>
            <a:endParaRPr lang="en-US" sz="1400" dirty="0"/>
          </a:p>
        </p:txBody>
      </p:sp>
      <p:sp>
        <p:nvSpPr>
          <p:cNvPr id="25" name="Text 23"/>
          <p:cNvSpPr/>
          <p:nvPr/>
        </p:nvSpPr>
        <p:spPr>
          <a:xfrm>
            <a:off x="6583680" y="2231136"/>
            <a:ext cx="4846320" cy="1517904"/>
          </a:xfrm>
          <a:prstGeom prst="rect">
            <a:avLst/>
          </a:prstGeom>
          <a:noFill/>
          <a:ln/>
        </p:spPr>
        <p:txBody>
          <a:bodyPr wrap="square" rtlCol="0" anchor="t"/>
          <a:lstStyle/>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API testing</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Field validation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Mapping validation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ReadyAPI execution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Backend validation</a:t>
            </a:r>
            <a:endParaRPr lang="en-US" sz="1200" dirty="0"/>
          </a:p>
        </p:txBody>
      </p:sp>
      <p:sp>
        <p:nvSpPr>
          <p:cNvPr id="26" name="Shape 24"/>
          <p:cNvSpPr/>
          <p:nvPr/>
        </p:nvSpPr>
        <p:spPr>
          <a:xfrm>
            <a:off x="6309360" y="4114800"/>
            <a:ext cx="5394960" cy="1965960"/>
          </a:xfrm>
          <a:prstGeom prst="roundRect">
            <a:avLst>
              <a:gd name="adj" fmla="val 3721"/>
            </a:avLst>
          </a:prstGeom>
          <a:solidFill>
            <a:srgbClr val="3D3117"/>
          </a:solidFill>
          <a:ln w="16510">
            <a:solidFill>
              <a:srgbClr val="F5B942"/>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6537960" y="4251960"/>
            <a:ext cx="4937760" cy="274320"/>
          </a:xfrm>
          <a:prstGeom prst="rect">
            <a:avLst/>
          </a:prstGeom>
          <a:noFill/>
          <a:ln/>
        </p:spPr>
        <p:txBody>
          <a:bodyPr wrap="square" rtlCol="0" anchor="ctr"/>
          <a:lstStyle/>
          <a:p>
            <a:pPr indent="0" marL="0">
              <a:buNone/>
            </a:pPr>
            <a:r>
              <a:rPr lang="en-US" sz="1150" b="1" spc="100" kern="0" dirty="0">
                <a:solidFill>
                  <a:srgbClr val="F5B942"/>
                </a:solidFill>
                <a:latin typeface="Calibri" pitchFamily="34" charset="0"/>
                <a:ea typeface="Calibri" pitchFamily="34" charset="-122"/>
                <a:cs typeface="Calibri" pitchFamily="34" charset="-120"/>
              </a:rPr>
              <a:t>IMPORTANT DEPLOYMENT POINT</a:t>
            </a:r>
            <a:endParaRPr lang="en-US" sz="1150" dirty="0"/>
          </a:p>
        </p:txBody>
      </p:sp>
      <p:sp>
        <p:nvSpPr>
          <p:cNvPr id="28" name="Text 26"/>
          <p:cNvSpPr/>
          <p:nvPr/>
        </p:nvSpPr>
        <p:spPr>
          <a:xfrm>
            <a:off x="6537960" y="4572000"/>
            <a:ext cx="4937760" cy="1417320"/>
          </a:xfrm>
          <a:prstGeom prst="rect">
            <a:avLst/>
          </a:prstGeom>
          <a:noFill/>
          <a:ln/>
        </p:spPr>
        <p:txBody>
          <a:bodyPr wrap="square" rtlCol="0" anchor="t"/>
          <a:lstStyle/>
          <a:p>
            <a:pPr indent="0" marL="0">
              <a:lnSpc>
                <a:spcPct val="120000"/>
              </a:lnSpc>
              <a:buNone/>
            </a:pPr>
            <a:r>
              <a:rPr lang="en-US" sz="1150" i="1" dirty="0">
                <a:solidFill>
                  <a:srgbClr val="F5B942"/>
                </a:solidFill>
                <a:latin typeface="Calibri" pitchFamily="34" charset="0"/>
                <a:ea typeface="Calibri" pitchFamily="34" charset="-122"/>
                <a:cs typeface="Calibri" pitchFamily="34" charset="-120"/>
              </a:rPr>
              <a:t>After a new deployment, a new Home code/request may need to be generated so the latest changes are reflected in the corresponding logs and request/response data.</a:t>
            </a:r>
            <a:endParaRPr lang="en-US" sz="1150" dirty="0"/>
          </a:p>
        </p:txBody>
      </p:sp>
      <p:sp>
        <p:nvSpPr>
          <p:cNvPr id="29" name="Shape 27"/>
          <p:cNvSpPr/>
          <p:nvPr/>
        </p:nvSpPr>
        <p:spPr>
          <a:xfrm>
            <a:off x="457200" y="4663440"/>
            <a:ext cx="5394960" cy="1417320"/>
          </a:xfrm>
          <a:prstGeom prst="roundRect">
            <a:avLst>
              <a:gd name="adj" fmla="val 5161"/>
            </a:avLst>
          </a:prstGeom>
          <a:solidFill>
            <a:srgbClr val="101A30"/>
          </a:solidFill>
          <a:ln w="12700">
            <a:solidFill>
              <a:srgbClr val="2DD4BF"/>
            </a:solidFill>
            <a:prstDash val="solid"/>
          </a:ln>
        </p:spPr>
      </p:sp>
      <p:sp>
        <p:nvSpPr>
          <p:cNvPr id="30" name="Text 28"/>
          <p:cNvSpPr/>
          <p:nvPr/>
        </p:nvSpPr>
        <p:spPr>
          <a:xfrm>
            <a:off x="685800" y="4663440"/>
            <a:ext cx="4937760" cy="1417320"/>
          </a:xfrm>
          <a:prstGeom prst="rect">
            <a:avLst/>
          </a:prstGeom>
          <a:noFill/>
          <a:ln/>
        </p:spPr>
        <p:txBody>
          <a:bodyPr wrap="square" rtlCol="0" anchor="ctr"/>
          <a:lstStyle/>
          <a:p>
            <a:pPr indent="0" marL="0">
              <a:buNone/>
            </a:pPr>
            <a:r>
              <a:rPr lang="en-US" sz="1150" i="1" dirty="0">
                <a:solidFill>
                  <a:srgbClr val="97A3BE"/>
                </a:solidFill>
                <a:latin typeface="Calibri" pitchFamily="34" charset="0"/>
                <a:ea typeface="Calibri" pitchFamily="34" charset="-122"/>
                <a:cs typeface="Calibri" pitchFamily="34" charset="-120"/>
              </a:rPr>
              <a:t>Athena gives us the frontend transaction; the extracted request helps validate what is actually sent to the backend.</a:t>
            </a:r>
            <a:endParaRPr lang="en-US" sz="1150" dirty="0"/>
          </a:p>
        </p:txBody>
      </p:sp>
      <p:sp>
        <p:nvSpPr>
          <p:cNvPr id="31" name="Text 29"/>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32" name="Text 30"/>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3" name="Text 31"/>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Mapping Document &amp; Field Validation</a:t>
            </a:r>
            <a:endParaRPr lang="en-US" sz="3000" dirty="0"/>
          </a:p>
        </p:txBody>
      </p:sp>
      <p:sp>
        <p:nvSpPr>
          <p:cNvPr id="7" name="Shape 5"/>
          <p:cNvSpPr/>
          <p:nvPr/>
        </p:nvSpPr>
        <p:spPr>
          <a:xfrm>
            <a:off x="457200" y="1645920"/>
            <a:ext cx="5394960" cy="1783080"/>
          </a:xfrm>
          <a:prstGeom prst="roundRect">
            <a:avLst>
              <a:gd name="adj" fmla="val 410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874520"/>
            <a:ext cx="91440" cy="91440"/>
          </a:xfrm>
          <a:prstGeom prst="roundRect">
            <a:avLst>
              <a:gd name="adj" fmla="val 50000"/>
            </a:avLst>
          </a:prstGeom>
          <a:solidFill>
            <a:srgbClr val="2DD4BF"/>
          </a:solidFill>
          <a:ln/>
        </p:spPr>
      </p:sp>
      <p:sp>
        <p:nvSpPr>
          <p:cNvPr id="9" name="Text 7"/>
          <p:cNvSpPr/>
          <p:nvPr/>
        </p:nvSpPr>
        <p:spPr>
          <a:xfrm>
            <a:off x="868680" y="1792224"/>
            <a:ext cx="4754880" cy="292608"/>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Mapping Document — Key Information</a:t>
            </a:r>
            <a:endParaRPr lang="en-US" sz="1400" dirty="0"/>
          </a:p>
        </p:txBody>
      </p:sp>
      <p:sp>
        <p:nvSpPr>
          <p:cNvPr id="10" name="Text 8"/>
          <p:cNvSpPr/>
          <p:nvPr/>
        </p:nvSpPr>
        <p:spPr>
          <a:xfrm>
            <a:off x="731520" y="2231136"/>
            <a:ext cx="4846320" cy="1014984"/>
          </a:xfrm>
          <a:prstGeom prst="rect">
            <a:avLst/>
          </a:prstGeom>
          <a:noFill/>
          <a:ln/>
        </p:spPr>
        <p:txBody>
          <a:bodyPr wrap="square" rtlCol="0" anchor="t"/>
          <a:lstStyle/>
          <a:p>
            <a:pPr marL="177800" indent="-177800">
              <a:lnSpc>
                <a:spcPct val="112000"/>
              </a:lnSpc>
              <a:spcAft>
                <a:spcPts val="1000"/>
              </a:spcAft>
              <a:buSzPct val="100000"/>
              <a:buChar char="•"/>
            </a:pPr>
            <a:r>
              <a:rPr lang="en-US" sz="1080" dirty="0">
                <a:solidFill>
                  <a:srgbClr val="F3F6FB"/>
                </a:solidFill>
                <a:latin typeface="Calibri" pitchFamily="34" charset="0"/>
                <a:ea typeface="Calibri" pitchFamily="34" charset="-122"/>
                <a:cs typeface="Calibri" pitchFamily="34" charset="-120"/>
              </a:rPr>
              <a:t>Field / Column Name</a:t>
            </a:r>
            <a:endParaRPr lang="en-US" sz="1080" dirty="0"/>
          </a:p>
          <a:p>
            <a:pPr marL="177800" indent="-177800">
              <a:lnSpc>
                <a:spcPct val="112000"/>
              </a:lnSpc>
              <a:spcAft>
                <a:spcPts val="1000"/>
              </a:spcAft>
              <a:buSzPct val="100000"/>
              <a:buChar char="•"/>
            </a:pPr>
            <a:r>
              <a:rPr lang="en-US" sz="1080" dirty="0">
                <a:solidFill>
                  <a:srgbClr val="F3F6FB"/>
                </a:solidFill>
                <a:latin typeface="Calibri" pitchFamily="34" charset="0"/>
                <a:ea typeface="Calibri" pitchFamily="34" charset="-122"/>
                <a:cs typeface="Calibri" pitchFamily="34" charset="-120"/>
              </a:rPr>
              <a:t>Data Type</a:t>
            </a:r>
            <a:endParaRPr lang="en-US" sz="1080" dirty="0"/>
          </a:p>
          <a:p>
            <a:pPr marL="177800" indent="-177800">
              <a:lnSpc>
                <a:spcPct val="112000"/>
              </a:lnSpc>
              <a:spcAft>
                <a:spcPts val="1000"/>
              </a:spcAft>
              <a:buSzPct val="100000"/>
              <a:buChar char="•"/>
            </a:pPr>
            <a:r>
              <a:rPr lang="en-US" sz="1080" dirty="0">
                <a:solidFill>
                  <a:srgbClr val="F3F6FB"/>
                </a:solidFill>
                <a:latin typeface="Calibri" pitchFamily="34" charset="0"/>
                <a:ea typeface="Calibri" pitchFamily="34" charset="-122"/>
                <a:cs typeface="Calibri" pitchFamily="34" charset="-120"/>
              </a:rPr>
              <a:t>Mandatory / Optional</a:t>
            </a:r>
            <a:endParaRPr lang="en-US" sz="1080" dirty="0"/>
          </a:p>
          <a:p>
            <a:pPr marL="177800" indent="-177800">
              <a:lnSpc>
                <a:spcPct val="112000"/>
              </a:lnSpc>
              <a:spcAft>
                <a:spcPts val="1000"/>
              </a:spcAft>
              <a:buSzPct val="100000"/>
              <a:buChar char="•"/>
            </a:pPr>
            <a:r>
              <a:rPr lang="en-US" sz="1080" dirty="0">
                <a:solidFill>
                  <a:srgbClr val="F3F6FB"/>
                </a:solidFill>
                <a:latin typeface="Calibri" pitchFamily="34" charset="0"/>
                <a:ea typeface="Calibri" pitchFamily="34" charset="-122"/>
                <a:cs typeface="Calibri" pitchFamily="34" charset="-120"/>
              </a:rPr>
              <a:t>Sample / Expected Value</a:t>
            </a:r>
            <a:endParaRPr lang="en-US" sz="1080" dirty="0"/>
          </a:p>
          <a:p>
            <a:pPr marL="177800" indent="-177800">
              <a:lnSpc>
                <a:spcPct val="112000"/>
              </a:lnSpc>
              <a:spcAft>
                <a:spcPts val="1000"/>
              </a:spcAft>
              <a:buSzPct val="100000"/>
              <a:buChar char="•"/>
            </a:pPr>
            <a:r>
              <a:rPr lang="en-US" sz="1080" dirty="0">
                <a:solidFill>
                  <a:srgbClr val="F3F6FB"/>
                </a:solidFill>
                <a:latin typeface="Calibri" pitchFamily="34" charset="0"/>
                <a:ea typeface="Calibri" pitchFamily="34" charset="-122"/>
                <a:cs typeface="Calibri" pitchFamily="34" charset="-120"/>
              </a:rPr>
              <a:t>Version / Update Information</a:t>
            </a:r>
            <a:endParaRPr lang="en-US" sz="1080" dirty="0"/>
          </a:p>
        </p:txBody>
      </p:sp>
      <p:sp>
        <p:nvSpPr>
          <p:cNvPr id="11" name="Shape 9"/>
          <p:cNvSpPr/>
          <p:nvPr/>
        </p:nvSpPr>
        <p:spPr>
          <a:xfrm>
            <a:off x="457200" y="3566160"/>
            <a:ext cx="5394960" cy="2377440"/>
          </a:xfrm>
          <a:prstGeom prst="roundRect">
            <a:avLst>
              <a:gd name="adj" fmla="val 3077"/>
            </a:avLst>
          </a:prstGeom>
          <a:solidFill>
            <a:srgbClr val="101A30"/>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685800" y="3703320"/>
            <a:ext cx="4937760" cy="274320"/>
          </a:xfrm>
          <a:prstGeom prst="rect">
            <a:avLst/>
          </a:prstGeom>
          <a:noFill/>
          <a:ln/>
        </p:spPr>
        <p:txBody>
          <a:bodyPr wrap="square" rtlCol="0" anchor="ctr"/>
          <a:lstStyle/>
          <a:p>
            <a:pPr indent="0" marL="0">
              <a:buNone/>
            </a:pPr>
            <a:r>
              <a:rPr lang="en-US" sz="1150" b="1" spc="100" kern="0" dirty="0">
                <a:solidFill>
                  <a:srgbClr val="2DD4BF"/>
                </a:solidFill>
                <a:latin typeface="Calibri" pitchFamily="34" charset="0"/>
                <a:ea typeface="Calibri" pitchFamily="34" charset="-122"/>
                <a:cs typeface="Calibri" pitchFamily="34" charset="-120"/>
              </a:rPr>
              <a:t>VALIDATION CHECKS</a:t>
            </a:r>
            <a:endParaRPr lang="en-US" sz="1150" dirty="0"/>
          </a:p>
        </p:txBody>
      </p:sp>
      <p:sp>
        <p:nvSpPr>
          <p:cNvPr id="13" name="Shape 11"/>
          <p:cNvSpPr/>
          <p:nvPr/>
        </p:nvSpPr>
        <p:spPr>
          <a:xfrm>
            <a:off x="722376" y="4078224"/>
            <a:ext cx="329184" cy="329184"/>
          </a:xfrm>
          <a:prstGeom prst="ellipse">
            <a:avLst/>
          </a:prstGeom>
          <a:solidFill>
            <a:srgbClr val="101A30"/>
          </a:solidFill>
          <a:ln w="19050">
            <a:solidFill>
              <a:srgbClr val="2DD4BF"/>
            </a:solidFill>
            <a:prstDash val="solid"/>
          </a:ln>
        </p:spPr>
      </p:sp>
      <p:sp>
        <p:nvSpPr>
          <p:cNvPr id="14" name="Text 12"/>
          <p:cNvSpPr/>
          <p:nvPr/>
        </p:nvSpPr>
        <p:spPr>
          <a:xfrm>
            <a:off x="722376" y="407822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15" name="Text 13"/>
          <p:cNvSpPr/>
          <p:nvPr/>
        </p:nvSpPr>
        <p:spPr>
          <a:xfrm>
            <a:off x="1143000" y="4023360"/>
            <a:ext cx="187452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Field name &amp; presence</a:t>
            </a:r>
            <a:endParaRPr lang="en-US" sz="1150" dirty="0"/>
          </a:p>
        </p:txBody>
      </p:sp>
      <p:sp>
        <p:nvSpPr>
          <p:cNvPr id="16" name="Shape 14"/>
          <p:cNvSpPr/>
          <p:nvPr/>
        </p:nvSpPr>
        <p:spPr>
          <a:xfrm>
            <a:off x="3328416" y="4078224"/>
            <a:ext cx="329184" cy="329184"/>
          </a:xfrm>
          <a:prstGeom prst="ellipse">
            <a:avLst/>
          </a:prstGeom>
          <a:solidFill>
            <a:srgbClr val="101A30"/>
          </a:solidFill>
          <a:ln w="19050">
            <a:solidFill>
              <a:srgbClr val="2DD4BF"/>
            </a:solidFill>
            <a:prstDash val="solid"/>
          </a:ln>
        </p:spPr>
      </p:sp>
      <p:sp>
        <p:nvSpPr>
          <p:cNvPr id="17" name="Text 15"/>
          <p:cNvSpPr/>
          <p:nvPr/>
        </p:nvSpPr>
        <p:spPr>
          <a:xfrm>
            <a:off x="3328416" y="407822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18" name="Text 16"/>
          <p:cNvSpPr/>
          <p:nvPr/>
        </p:nvSpPr>
        <p:spPr>
          <a:xfrm>
            <a:off x="3749040" y="4023360"/>
            <a:ext cx="187452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Expected value / format</a:t>
            </a:r>
            <a:endParaRPr lang="en-US" sz="1150" dirty="0"/>
          </a:p>
        </p:txBody>
      </p:sp>
      <p:sp>
        <p:nvSpPr>
          <p:cNvPr id="19" name="Shape 17"/>
          <p:cNvSpPr/>
          <p:nvPr/>
        </p:nvSpPr>
        <p:spPr>
          <a:xfrm>
            <a:off x="722376" y="4443984"/>
            <a:ext cx="329184" cy="329184"/>
          </a:xfrm>
          <a:prstGeom prst="ellipse">
            <a:avLst/>
          </a:prstGeom>
          <a:solidFill>
            <a:srgbClr val="101A30"/>
          </a:solidFill>
          <a:ln w="19050">
            <a:solidFill>
              <a:srgbClr val="2DD4BF"/>
            </a:solidFill>
            <a:prstDash val="solid"/>
          </a:ln>
        </p:spPr>
      </p:sp>
      <p:sp>
        <p:nvSpPr>
          <p:cNvPr id="20" name="Text 18"/>
          <p:cNvSpPr/>
          <p:nvPr/>
        </p:nvSpPr>
        <p:spPr>
          <a:xfrm>
            <a:off x="722376" y="444398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21" name="Text 19"/>
          <p:cNvSpPr/>
          <p:nvPr/>
        </p:nvSpPr>
        <p:spPr>
          <a:xfrm>
            <a:off x="1143000" y="4389120"/>
            <a:ext cx="187452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Data type</a:t>
            </a:r>
            <a:endParaRPr lang="en-US" sz="1150" dirty="0"/>
          </a:p>
        </p:txBody>
      </p:sp>
      <p:sp>
        <p:nvSpPr>
          <p:cNvPr id="22" name="Shape 20"/>
          <p:cNvSpPr/>
          <p:nvPr/>
        </p:nvSpPr>
        <p:spPr>
          <a:xfrm>
            <a:off x="3328416" y="4443984"/>
            <a:ext cx="329184" cy="329184"/>
          </a:xfrm>
          <a:prstGeom prst="ellipse">
            <a:avLst/>
          </a:prstGeom>
          <a:solidFill>
            <a:srgbClr val="101A30"/>
          </a:solidFill>
          <a:ln w="19050">
            <a:solidFill>
              <a:srgbClr val="2DD4BF"/>
            </a:solidFill>
            <a:prstDash val="solid"/>
          </a:ln>
        </p:spPr>
      </p:sp>
      <p:sp>
        <p:nvSpPr>
          <p:cNvPr id="23" name="Text 21"/>
          <p:cNvSpPr/>
          <p:nvPr/>
        </p:nvSpPr>
        <p:spPr>
          <a:xfrm>
            <a:off x="3328416" y="444398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24" name="Text 22"/>
          <p:cNvSpPr/>
          <p:nvPr/>
        </p:nvSpPr>
        <p:spPr>
          <a:xfrm>
            <a:off x="3749040" y="4389120"/>
            <a:ext cx="187452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Mandatory field</a:t>
            </a:r>
            <a:endParaRPr lang="en-US" sz="1150" dirty="0"/>
          </a:p>
        </p:txBody>
      </p:sp>
      <p:sp>
        <p:nvSpPr>
          <p:cNvPr id="25" name="Shape 23"/>
          <p:cNvSpPr/>
          <p:nvPr/>
        </p:nvSpPr>
        <p:spPr>
          <a:xfrm>
            <a:off x="722376" y="4809744"/>
            <a:ext cx="329184" cy="329184"/>
          </a:xfrm>
          <a:prstGeom prst="ellipse">
            <a:avLst/>
          </a:prstGeom>
          <a:solidFill>
            <a:srgbClr val="101A30"/>
          </a:solidFill>
          <a:ln w="19050">
            <a:solidFill>
              <a:srgbClr val="2DD4BF"/>
            </a:solidFill>
            <a:prstDash val="solid"/>
          </a:ln>
        </p:spPr>
      </p:sp>
      <p:sp>
        <p:nvSpPr>
          <p:cNvPr id="26" name="Text 24"/>
          <p:cNvSpPr/>
          <p:nvPr/>
        </p:nvSpPr>
        <p:spPr>
          <a:xfrm>
            <a:off x="722376" y="480974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27" name="Text 25"/>
          <p:cNvSpPr/>
          <p:nvPr/>
        </p:nvSpPr>
        <p:spPr>
          <a:xfrm>
            <a:off x="1143000" y="4754880"/>
            <a:ext cx="187452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Range / boundary values</a:t>
            </a:r>
            <a:endParaRPr lang="en-US" sz="1150" dirty="0"/>
          </a:p>
        </p:txBody>
      </p:sp>
      <p:sp>
        <p:nvSpPr>
          <p:cNvPr id="28" name="Shape 26"/>
          <p:cNvSpPr/>
          <p:nvPr/>
        </p:nvSpPr>
        <p:spPr>
          <a:xfrm>
            <a:off x="3328416" y="4809744"/>
            <a:ext cx="329184" cy="329184"/>
          </a:xfrm>
          <a:prstGeom prst="ellipse">
            <a:avLst/>
          </a:prstGeom>
          <a:solidFill>
            <a:srgbClr val="101A30"/>
          </a:solidFill>
          <a:ln w="19050">
            <a:solidFill>
              <a:srgbClr val="2DD4BF"/>
            </a:solidFill>
            <a:prstDash val="solid"/>
          </a:ln>
        </p:spPr>
      </p:sp>
      <p:sp>
        <p:nvSpPr>
          <p:cNvPr id="29" name="Text 27"/>
          <p:cNvSpPr/>
          <p:nvPr/>
        </p:nvSpPr>
        <p:spPr>
          <a:xfrm>
            <a:off x="3328416" y="480974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30" name="Text 28"/>
          <p:cNvSpPr/>
          <p:nvPr/>
        </p:nvSpPr>
        <p:spPr>
          <a:xfrm>
            <a:off x="3749040" y="4754880"/>
            <a:ext cx="187452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Case sensitivity</a:t>
            </a:r>
            <a:endParaRPr lang="en-US" sz="1150" dirty="0"/>
          </a:p>
        </p:txBody>
      </p:sp>
      <p:sp>
        <p:nvSpPr>
          <p:cNvPr id="31" name="Shape 29"/>
          <p:cNvSpPr/>
          <p:nvPr/>
        </p:nvSpPr>
        <p:spPr>
          <a:xfrm>
            <a:off x="722376" y="5175504"/>
            <a:ext cx="329184" cy="329184"/>
          </a:xfrm>
          <a:prstGeom prst="ellipse">
            <a:avLst/>
          </a:prstGeom>
          <a:solidFill>
            <a:srgbClr val="101A30"/>
          </a:solidFill>
          <a:ln w="19050">
            <a:solidFill>
              <a:srgbClr val="2DD4BF"/>
            </a:solidFill>
            <a:prstDash val="solid"/>
          </a:ln>
        </p:spPr>
      </p:sp>
      <p:sp>
        <p:nvSpPr>
          <p:cNvPr id="32" name="Text 30"/>
          <p:cNvSpPr/>
          <p:nvPr/>
        </p:nvSpPr>
        <p:spPr>
          <a:xfrm>
            <a:off x="722376" y="517550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33" name="Text 31"/>
          <p:cNvSpPr/>
          <p:nvPr/>
        </p:nvSpPr>
        <p:spPr>
          <a:xfrm>
            <a:off x="1143000" y="5120640"/>
            <a:ext cx="187452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Alphanumeric / numeric validation</a:t>
            </a:r>
            <a:endParaRPr lang="en-US" sz="1150" dirty="0"/>
          </a:p>
        </p:txBody>
      </p:sp>
      <p:sp>
        <p:nvSpPr>
          <p:cNvPr id="34" name="Shape 32"/>
          <p:cNvSpPr/>
          <p:nvPr/>
        </p:nvSpPr>
        <p:spPr>
          <a:xfrm>
            <a:off x="3328416" y="5175504"/>
            <a:ext cx="329184" cy="329184"/>
          </a:xfrm>
          <a:prstGeom prst="ellipse">
            <a:avLst/>
          </a:prstGeom>
          <a:solidFill>
            <a:srgbClr val="101A30"/>
          </a:solidFill>
          <a:ln w="19050">
            <a:solidFill>
              <a:srgbClr val="2DD4BF"/>
            </a:solidFill>
            <a:prstDash val="solid"/>
          </a:ln>
        </p:spPr>
      </p:sp>
      <p:sp>
        <p:nvSpPr>
          <p:cNvPr id="35" name="Text 33"/>
          <p:cNvSpPr/>
          <p:nvPr/>
        </p:nvSpPr>
        <p:spPr>
          <a:xfrm>
            <a:off x="3328416" y="517550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36" name="Text 34"/>
          <p:cNvSpPr/>
          <p:nvPr/>
        </p:nvSpPr>
        <p:spPr>
          <a:xfrm>
            <a:off x="3749040" y="5120640"/>
            <a:ext cx="187452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Positive &amp; negative scenarios</a:t>
            </a:r>
            <a:endParaRPr lang="en-US" sz="1150" dirty="0"/>
          </a:p>
        </p:txBody>
      </p:sp>
      <p:sp>
        <p:nvSpPr>
          <p:cNvPr id="37" name="Shape 35"/>
          <p:cNvSpPr/>
          <p:nvPr/>
        </p:nvSpPr>
        <p:spPr>
          <a:xfrm>
            <a:off x="722376" y="5541264"/>
            <a:ext cx="329184" cy="329184"/>
          </a:xfrm>
          <a:prstGeom prst="ellipse">
            <a:avLst/>
          </a:prstGeom>
          <a:solidFill>
            <a:srgbClr val="101A30"/>
          </a:solidFill>
          <a:ln w="19050">
            <a:solidFill>
              <a:srgbClr val="2DD4BF"/>
            </a:solidFill>
            <a:prstDash val="solid"/>
          </a:ln>
        </p:spPr>
      </p:sp>
      <p:sp>
        <p:nvSpPr>
          <p:cNvPr id="38" name="Text 36"/>
          <p:cNvSpPr/>
          <p:nvPr/>
        </p:nvSpPr>
        <p:spPr>
          <a:xfrm>
            <a:off x="722376" y="554126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39" name="Text 37"/>
          <p:cNvSpPr/>
          <p:nvPr/>
        </p:nvSpPr>
        <p:spPr>
          <a:xfrm>
            <a:off x="1143000" y="5486400"/>
            <a:ext cx="187452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Request ↔ Response comparison</a:t>
            </a:r>
            <a:endParaRPr lang="en-US" sz="1150" dirty="0"/>
          </a:p>
        </p:txBody>
      </p:sp>
      <p:sp>
        <p:nvSpPr>
          <p:cNvPr id="40" name="Shape 38"/>
          <p:cNvSpPr/>
          <p:nvPr/>
        </p:nvSpPr>
        <p:spPr>
          <a:xfrm>
            <a:off x="6309360" y="1645920"/>
            <a:ext cx="5394960" cy="914400"/>
          </a:xfrm>
          <a:prstGeom prst="roundRect">
            <a:avLst>
              <a:gd name="adj" fmla="val 8000"/>
            </a:avLst>
          </a:prstGeom>
          <a:solidFill>
            <a:srgbClr val="12352A"/>
          </a:solidFill>
          <a:ln w="15240">
            <a:solidFill>
              <a:srgbClr val="3ED598"/>
            </a:solidFill>
            <a:prstDash val="solid"/>
          </a:ln>
          <a:effectLst>
            <a:outerShdw sx="100000" sy="100000" kx="0" ky="0" algn="bl" rotWithShape="0" blurRad="101600" dist="38100" dir="5400000">
              <a:srgbClr val="000000">
                <a:alpha val="45000"/>
              </a:srgbClr>
            </a:outerShdw>
          </a:effectLst>
        </p:spPr>
      </p:sp>
      <p:sp>
        <p:nvSpPr>
          <p:cNvPr id="41" name="Text 39"/>
          <p:cNvSpPr/>
          <p:nvPr/>
        </p:nvSpPr>
        <p:spPr>
          <a:xfrm>
            <a:off x="6537960" y="1737360"/>
            <a:ext cx="4937760" cy="274320"/>
          </a:xfrm>
          <a:prstGeom prst="rect">
            <a:avLst/>
          </a:prstGeom>
          <a:noFill/>
          <a:ln/>
        </p:spPr>
        <p:txBody>
          <a:bodyPr wrap="square" rtlCol="0" anchor="ctr"/>
          <a:lstStyle/>
          <a:p>
            <a:pPr indent="0" marL="0">
              <a:buNone/>
            </a:pPr>
            <a:r>
              <a:rPr lang="en-US" sz="1200" b="1" dirty="0">
                <a:solidFill>
                  <a:srgbClr val="3ED598"/>
                </a:solidFill>
                <a:latin typeface="Calibri" pitchFamily="34" charset="0"/>
                <a:ea typeface="Calibri" pitchFamily="34" charset="-122"/>
                <a:cs typeface="Calibri" pitchFamily="34" charset="-120"/>
              </a:rPr>
              <a:t>MATCH</a:t>
            </a:r>
            <a:endParaRPr lang="en-US" sz="1200" dirty="0"/>
          </a:p>
        </p:txBody>
      </p:sp>
      <p:sp>
        <p:nvSpPr>
          <p:cNvPr id="42" name="Text 40"/>
          <p:cNvSpPr/>
          <p:nvPr/>
        </p:nvSpPr>
        <p:spPr>
          <a:xfrm>
            <a:off x="6537960" y="2011680"/>
            <a:ext cx="4937760" cy="457200"/>
          </a:xfrm>
          <a:prstGeom prst="rect">
            <a:avLst/>
          </a:prstGeom>
          <a:noFill/>
          <a:ln/>
        </p:spPr>
        <p:txBody>
          <a:bodyPr wrap="square" rtlCol="0" anchor="t"/>
          <a:lstStyle/>
          <a:p>
            <a:pPr indent="0" marL="0">
              <a:buNone/>
            </a:pPr>
            <a:r>
              <a:rPr lang="en-US" sz="1100" dirty="0">
                <a:solidFill>
                  <a:srgbClr val="F3F6FB"/>
                </a:solidFill>
                <a:latin typeface="Calibri" pitchFamily="34" charset="0"/>
                <a:ea typeface="Calibri" pitchFamily="34" charset="-122"/>
                <a:cs typeface="Calibri" pitchFamily="34" charset="-120"/>
              </a:rPr>
              <a:t>Mapping Document EOW  =  XML/Request EOW</a:t>
            </a:r>
            <a:endParaRPr lang="en-US" sz="1100" dirty="0"/>
          </a:p>
        </p:txBody>
      </p:sp>
      <p:sp>
        <p:nvSpPr>
          <p:cNvPr id="43" name="Shape 41"/>
          <p:cNvSpPr/>
          <p:nvPr/>
        </p:nvSpPr>
        <p:spPr>
          <a:xfrm>
            <a:off x="6309360" y="2697480"/>
            <a:ext cx="5394960" cy="1051560"/>
          </a:xfrm>
          <a:prstGeom prst="roundRect">
            <a:avLst>
              <a:gd name="adj" fmla="val 6957"/>
            </a:avLst>
          </a:prstGeom>
          <a:solidFill>
            <a:srgbClr val="3D3117"/>
          </a:solidFill>
          <a:ln w="15240">
            <a:solidFill>
              <a:srgbClr val="F5B942"/>
            </a:solidFill>
            <a:prstDash val="solid"/>
          </a:ln>
          <a:effectLst>
            <a:outerShdw sx="100000" sy="100000" kx="0" ky="0" algn="bl" rotWithShape="0" blurRad="101600" dist="38100" dir="5400000">
              <a:srgbClr val="000000">
                <a:alpha val="45000"/>
              </a:srgbClr>
            </a:outerShdw>
          </a:effectLst>
        </p:spPr>
      </p:sp>
      <p:sp>
        <p:nvSpPr>
          <p:cNvPr id="44" name="Text 42"/>
          <p:cNvSpPr/>
          <p:nvPr/>
        </p:nvSpPr>
        <p:spPr>
          <a:xfrm>
            <a:off x="6537960" y="2788920"/>
            <a:ext cx="4937760" cy="274320"/>
          </a:xfrm>
          <a:prstGeom prst="rect">
            <a:avLst/>
          </a:prstGeom>
          <a:noFill/>
          <a:ln/>
        </p:spPr>
        <p:txBody>
          <a:bodyPr wrap="square" rtlCol="0" anchor="ctr"/>
          <a:lstStyle/>
          <a:p>
            <a:pPr indent="0" marL="0">
              <a:buNone/>
            </a:pPr>
            <a:r>
              <a:rPr lang="en-US" sz="1200" b="1" dirty="0">
                <a:solidFill>
                  <a:srgbClr val="F5B942"/>
                </a:solidFill>
                <a:latin typeface="Calibri" pitchFamily="34" charset="0"/>
                <a:ea typeface="Calibri" pitchFamily="34" charset="-122"/>
                <a:cs typeface="Calibri" pitchFamily="34" charset="-120"/>
              </a:rPr>
              <a:t>NEAR MATCH</a:t>
            </a:r>
            <a:endParaRPr lang="en-US" sz="1200" dirty="0"/>
          </a:p>
        </p:txBody>
      </p:sp>
      <p:sp>
        <p:nvSpPr>
          <p:cNvPr id="45" name="Text 43"/>
          <p:cNvSpPr/>
          <p:nvPr/>
        </p:nvSpPr>
        <p:spPr>
          <a:xfrm>
            <a:off x="6537960" y="3063240"/>
            <a:ext cx="4937760" cy="594360"/>
          </a:xfrm>
          <a:prstGeom prst="rect">
            <a:avLst/>
          </a:prstGeom>
          <a:noFill/>
          <a:ln/>
        </p:spPr>
        <p:txBody>
          <a:bodyPr wrap="square" rtlCol="0" anchor="t"/>
          <a:lstStyle/>
          <a:p>
            <a:pPr indent="0" marL="0">
              <a:lnSpc>
                <a:spcPct val="115000"/>
              </a:lnSpc>
              <a:buNone/>
            </a:pPr>
            <a:r>
              <a:rPr lang="en-US" sz="1100" dirty="0">
                <a:solidFill>
                  <a:srgbClr val="F3F6FB"/>
                </a:solidFill>
                <a:latin typeface="Calibri" pitchFamily="34" charset="0"/>
                <a:ea typeface="Calibri" pitchFamily="34" charset="-122"/>
                <a:cs typeface="Calibri" pitchFamily="34" charset="-120"/>
              </a:rPr>
              <a:t>Mapping Document “CT proxy”  ↔  XML “CT_proxy”</a:t>
            </a:r>
            <a:endParaRPr lang="en-US" sz="1100" dirty="0"/>
          </a:p>
        </p:txBody>
      </p:sp>
      <p:sp>
        <p:nvSpPr>
          <p:cNvPr id="46" name="Shape 44"/>
          <p:cNvSpPr/>
          <p:nvPr/>
        </p:nvSpPr>
        <p:spPr>
          <a:xfrm>
            <a:off x="6309360" y="3886200"/>
            <a:ext cx="5394960" cy="2057400"/>
          </a:xfrm>
          <a:prstGeom prst="roundRect">
            <a:avLst>
              <a:gd name="adj" fmla="val 3556"/>
            </a:avLst>
          </a:prstGeom>
          <a:solidFill>
            <a:srgbClr val="18233F"/>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47" name="Text 45"/>
          <p:cNvSpPr/>
          <p:nvPr/>
        </p:nvSpPr>
        <p:spPr>
          <a:xfrm>
            <a:off x="6537960" y="4023360"/>
            <a:ext cx="4937760" cy="274320"/>
          </a:xfrm>
          <a:prstGeom prst="rect">
            <a:avLst/>
          </a:prstGeom>
          <a:noFill/>
          <a:ln/>
        </p:spPr>
        <p:txBody>
          <a:bodyPr wrap="square" rtlCol="0" anchor="ctr"/>
          <a:lstStyle/>
          <a:p>
            <a:pPr indent="0" marL="0">
              <a:buNone/>
            </a:pPr>
            <a:r>
              <a:rPr lang="en-US" sz="1150" b="1" spc="100" kern="0" dirty="0">
                <a:solidFill>
                  <a:srgbClr val="2DD4BF"/>
                </a:solidFill>
                <a:latin typeface="Calibri" pitchFamily="34" charset="0"/>
                <a:ea typeface="Calibri" pitchFamily="34" charset="-122"/>
                <a:cs typeface="Calibri" pitchFamily="34" charset="-120"/>
              </a:rPr>
              <a:t>FIELD VALIDATION EXAMPLE</a:t>
            </a:r>
            <a:endParaRPr lang="en-US" sz="1150" dirty="0"/>
          </a:p>
        </p:txBody>
      </p:sp>
      <p:sp>
        <p:nvSpPr>
          <p:cNvPr id="48" name="Text 46"/>
          <p:cNvSpPr/>
          <p:nvPr/>
        </p:nvSpPr>
        <p:spPr>
          <a:xfrm>
            <a:off x="6537960" y="4370832"/>
            <a:ext cx="4937760" cy="1463040"/>
          </a:xfrm>
          <a:prstGeom prst="rect">
            <a:avLst/>
          </a:prstGeom>
          <a:noFill/>
          <a:ln/>
        </p:spPr>
        <p:txBody>
          <a:bodyPr wrap="square" rtlCol="0" anchor="t"/>
          <a:lstStyle/>
          <a:p>
            <a:pPr indent="0" marL="0">
              <a:lnSpc>
                <a:spcPct val="150000"/>
              </a:lnSpc>
              <a:buNone/>
            </a:pPr>
            <a:r>
              <a:rPr lang="en-US" sz="1200" dirty="0">
                <a:solidFill>
                  <a:srgbClr val="F3F6FB"/>
                </a:solidFill>
                <a:latin typeface="Calibri" pitchFamily="34" charset="0"/>
                <a:ea typeface="Calibri" pitchFamily="34" charset="-122"/>
                <a:cs typeface="Calibri" pitchFamily="34" charset="-120"/>
              </a:rPr>
              <a:t>Valid Value → Execute → Expected Response</a:t>
            </a:r>
            <a:endParaRPr lang="en-US" sz="1200" dirty="0"/>
          </a:p>
          <a:p>
            <a:pPr indent="0" marL="0">
              <a:lnSpc>
                <a:spcPct val="150000"/>
              </a:lnSpc>
              <a:buNone/>
            </a:pPr>
            <a:endParaRPr lang="en-US" sz="1200" dirty="0"/>
          </a:p>
          <a:p>
            <a:pPr indent="0" marL="0">
              <a:lnSpc>
                <a:spcPct val="150000"/>
              </a:lnSpc>
              <a:buNone/>
            </a:pPr>
            <a:r>
              <a:rPr lang="en-US" sz="1200" dirty="0">
                <a:solidFill>
                  <a:srgbClr val="F3F6FB"/>
                </a:solidFill>
                <a:latin typeface="Calibri" pitchFamily="34" charset="0"/>
                <a:ea typeface="Calibri" pitchFamily="34" charset="-122"/>
                <a:cs typeface="Calibri" pitchFamily="34" charset="-120"/>
              </a:rPr>
              <a:t>Invalid Value → Execute → Expected Error / Decline</a:t>
            </a:r>
            <a:endParaRPr lang="en-US" sz="1200" dirty="0"/>
          </a:p>
        </p:txBody>
      </p:sp>
      <p:sp>
        <p:nvSpPr>
          <p:cNvPr id="49" name="Text 47"/>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50" name="Text 48"/>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51" name="Text 49"/>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Backend Logs &amp; Request/Response Validation</a:t>
            </a:r>
            <a:endParaRPr lang="en-US" sz="3000" dirty="0"/>
          </a:p>
        </p:txBody>
      </p:sp>
      <p:sp>
        <p:nvSpPr>
          <p:cNvPr id="7" name="Shape 5"/>
          <p:cNvSpPr/>
          <p:nvPr/>
        </p:nvSpPr>
        <p:spPr>
          <a:xfrm>
            <a:off x="457200" y="1645920"/>
            <a:ext cx="5394960" cy="3200400"/>
          </a:xfrm>
          <a:prstGeom prst="roundRect">
            <a:avLst>
              <a:gd name="adj" fmla="val 2286"/>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874520"/>
            <a:ext cx="91440" cy="91440"/>
          </a:xfrm>
          <a:prstGeom prst="roundRect">
            <a:avLst>
              <a:gd name="adj" fmla="val 50000"/>
            </a:avLst>
          </a:prstGeom>
          <a:solidFill>
            <a:srgbClr val="2DD4BF"/>
          </a:solidFill>
          <a:ln/>
        </p:spPr>
      </p:sp>
      <p:sp>
        <p:nvSpPr>
          <p:cNvPr id="9" name="Text 7"/>
          <p:cNvSpPr/>
          <p:nvPr/>
        </p:nvSpPr>
        <p:spPr>
          <a:xfrm>
            <a:off x="868680" y="1792224"/>
            <a:ext cx="4754880" cy="292608"/>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Logs Can Help Validate</a:t>
            </a:r>
            <a:endParaRPr lang="en-US" sz="1400" dirty="0"/>
          </a:p>
        </p:txBody>
      </p:sp>
      <p:sp>
        <p:nvSpPr>
          <p:cNvPr id="10" name="Text 8"/>
          <p:cNvSpPr/>
          <p:nvPr/>
        </p:nvSpPr>
        <p:spPr>
          <a:xfrm>
            <a:off x="731520" y="2231136"/>
            <a:ext cx="4846320" cy="2432304"/>
          </a:xfrm>
          <a:prstGeom prst="rect">
            <a:avLst/>
          </a:prstGeom>
          <a:noFill/>
          <a:ln/>
        </p:spPr>
        <p:txBody>
          <a:bodyPr wrap="square" rtlCol="0" anchor="t"/>
          <a:lstStyle/>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Request information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Response information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Backend fields</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Coverage-related values</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Pricing-related information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Other mapping-document fields</a:t>
            </a:r>
            <a:endParaRPr lang="en-US" sz="1200" dirty="0"/>
          </a:p>
        </p:txBody>
      </p:sp>
      <p:sp>
        <p:nvSpPr>
          <p:cNvPr id="11" name="Shape 9"/>
          <p:cNvSpPr/>
          <p:nvPr/>
        </p:nvSpPr>
        <p:spPr>
          <a:xfrm>
            <a:off x="457200" y="4983480"/>
            <a:ext cx="5394960" cy="1051560"/>
          </a:xfrm>
          <a:prstGeom prst="roundRect">
            <a:avLst>
              <a:gd name="adj" fmla="val 6957"/>
            </a:avLst>
          </a:prstGeom>
          <a:solidFill>
            <a:srgbClr val="3D3117"/>
          </a:solidFill>
          <a:ln w="12700">
            <a:solidFill>
              <a:srgbClr val="F5B942"/>
            </a:solidFill>
            <a:prstDash val="solid"/>
          </a:ln>
        </p:spPr>
      </p:sp>
      <p:sp>
        <p:nvSpPr>
          <p:cNvPr id="12" name="Text 10"/>
          <p:cNvSpPr/>
          <p:nvPr/>
        </p:nvSpPr>
        <p:spPr>
          <a:xfrm>
            <a:off x="685800" y="4983480"/>
            <a:ext cx="4937760" cy="1051560"/>
          </a:xfrm>
          <a:prstGeom prst="rect">
            <a:avLst/>
          </a:prstGeom>
          <a:noFill/>
          <a:ln/>
        </p:spPr>
        <p:txBody>
          <a:bodyPr wrap="square" rtlCol="0" anchor="ctr"/>
          <a:lstStyle/>
          <a:p>
            <a:pPr indent="0" marL="0">
              <a:buNone/>
            </a:pPr>
            <a:r>
              <a:rPr lang="en-US" sz="1100" b="1" i="1" dirty="0">
                <a:solidFill>
                  <a:srgbClr val="F5B942"/>
                </a:solidFill>
                <a:latin typeface="Calibri" pitchFamily="34" charset="0"/>
                <a:ea typeface="Calibri" pitchFamily="34" charset="-122"/>
                <a:cs typeface="Calibri" pitchFamily="34" charset="-120"/>
              </a:rPr>
              <a:t>New Deployment → New Home Code → New Request/Logs → Validate Latest Change</a:t>
            </a:r>
            <a:endParaRPr lang="en-US" sz="1100" dirty="0"/>
          </a:p>
        </p:txBody>
      </p:sp>
      <p:sp>
        <p:nvSpPr>
          <p:cNvPr id="13" name="Shape 11"/>
          <p:cNvSpPr/>
          <p:nvPr/>
        </p:nvSpPr>
        <p:spPr>
          <a:xfrm>
            <a:off x="6309360" y="162763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6446520" y="162763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Athena</a:t>
            </a:r>
            <a:endParaRPr lang="en-US" sz="1250" dirty="0"/>
          </a:p>
        </p:txBody>
      </p:sp>
      <p:sp>
        <p:nvSpPr>
          <p:cNvPr id="15" name="Shape 13"/>
          <p:cNvSpPr/>
          <p:nvPr/>
        </p:nvSpPr>
        <p:spPr>
          <a:xfrm>
            <a:off x="9006840" y="2093976"/>
            <a:ext cx="914" cy="36576"/>
          </a:xfrm>
          <a:prstGeom prst="line">
            <a:avLst/>
          </a:prstGeom>
          <a:noFill/>
          <a:ln w="25400">
            <a:solidFill>
              <a:srgbClr val="2DD4BF"/>
            </a:solidFill>
            <a:prstDash val="solid"/>
            <a:tailEnd type="triangle"/>
          </a:ln>
        </p:spPr>
      </p:sp>
      <p:sp>
        <p:nvSpPr>
          <p:cNvPr id="16" name="Shape 14"/>
          <p:cNvSpPr/>
          <p:nvPr/>
        </p:nvSpPr>
        <p:spPr>
          <a:xfrm>
            <a:off x="6309360" y="2157984"/>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6446520" y="2157984"/>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Home Code</a:t>
            </a:r>
            <a:endParaRPr lang="en-US" sz="1250" dirty="0"/>
          </a:p>
        </p:txBody>
      </p:sp>
      <p:sp>
        <p:nvSpPr>
          <p:cNvPr id="18" name="Shape 16"/>
          <p:cNvSpPr/>
          <p:nvPr/>
        </p:nvSpPr>
        <p:spPr>
          <a:xfrm>
            <a:off x="9006840" y="2624328"/>
            <a:ext cx="914" cy="36576"/>
          </a:xfrm>
          <a:prstGeom prst="line">
            <a:avLst/>
          </a:prstGeom>
          <a:noFill/>
          <a:ln w="25400">
            <a:solidFill>
              <a:srgbClr val="2DD4BF"/>
            </a:solidFill>
            <a:prstDash val="solid"/>
            <a:tailEnd type="triangle"/>
          </a:ln>
        </p:spPr>
      </p:sp>
      <p:sp>
        <p:nvSpPr>
          <p:cNvPr id="19" name="Shape 17"/>
          <p:cNvSpPr/>
          <p:nvPr/>
        </p:nvSpPr>
        <p:spPr>
          <a:xfrm>
            <a:off x="6309360" y="2688336"/>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6446520" y="2688336"/>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Backend Processing</a:t>
            </a:r>
            <a:endParaRPr lang="en-US" sz="1250" dirty="0"/>
          </a:p>
        </p:txBody>
      </p:sp>
      <p:sp>
        <p:nvSpPr>
          <p:cNvPr id="21" name="Shape 19"/>
          <p:cNvSpPr/>
          <p:nvPr/>
        </p:nvSpPr>
        <p:spPr>
          <a:xfrm>
            <a:off x="9006840" y="3154680"/>
            <a:ext cx="914" cy="36576"/>
          </a:xfrm>
          <a:prstGeom prst="line">
            <a:avLst/>
          </a:prstGeom>
          <a:noFill/>
          <a:ln w="25400">
            <a:solidFill>
              <a:srgbClr val="2DD4BF"/>
            </a:solidFill>
            <a:prstDash val="solid"/>
            <a:tailEnd type="triangle"/>
          </a:ln>
        </p:spPr>
      </p:sp>
      <p:sp>
        <p:nvSpPr>
          <p:cNvPr id="22" name="Shape 20"/>
          <p:cNvSpPr/>
          <p:nvPr/>
        </p:nvSpPr>
        <p:spPr>
          <a:xfrm>
            <a:off x="6309360" y="3218688"/>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6446520" y="3218688"/>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Logs</a:t>
            </a:r>
            <a:endParaRPr lang="en-US" sz="1250" dirty="0"/>
          </a:p>
        </p:txBody>
      </p:sp>
      <p:sp>
        <p:nvSpPr>
          <p:cNvPr id="24" name="Shape 22"/>
          <p:cNvSpPr/>
          <p:nvPr/>
        </p:nvSpPr>
        <p:spPr>
          <a:xfrm>
            <a:off x="9006840" y="3685032"/>
            <a:ext cx="914" cy="36576"/>
          </a:xfrm>
          <a:prstGeom prst="line">
            <a:avLst/>
          </a:prstGeom>
          <a:noFill/>
          <a:ln w="25400">
            <a:solidFill>
              <a:srgbClr val="2DD4BF"/>
            </a:solidFill>
            <a:prstDash val="solid"/>
            <a:tailEnd type="triangle"/>
          </a:ln>
        </p:spPr>
      </p:sp>
      <p:sp>
        <p:nvSpPr>
          <p:cNvPr id="25" name="Shape 23"/>
          <p:cNvSpPr/>
          <p:nvPr/>
        </p:nvSpPr>
        <p:spPr>
          <a:xfrm>
            <a:off x="6309360" y="3749040"/>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6446520" y="3749040"/>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Request / Response</a:t>
            </a:r>
            <a:endParaRPr lang="en-US" sz="1250" dirty="0"/>
          </a:p>
        </p:txBody>
      </p:sp>
      <p:sp>
        <p:nvSpPr>
          <p:cNvPr id="27" name="Shape 25"/>
          <p:cNvSpPr/>
          <p:nvPr/>
        </p:nvSpPr>
        <p:spPr>
          <a:xfrm>
            <a:off x="9006840" y="4215384"/>
            <a:ext cx="914" cy="36576"/>
          </a:xfrm>
          <a:prstGeom prst="line">
            <a:avLst/>
          </a:prstGeom>
          <a:noFill/>
          <a:ln w="25400">
            <a:solidFill>
              <a:srgbClr val="2DD4BF"/>
            </a:solidFill>
            <a:prstDash val="solid"/>
            <a:tailEnd type="triangle"/>
          </a:ln>
        </p:spPr>
      </p:sp>
      <p:sp>
        <p:nvSpPr>
          <p:cNvPr id="28" name="Shape 26"/>
          <p:cNvSpPr/>
          <p:nvPr/>
        </p:nvSpPr>
        <p:spPr>
          <a:xfrm>
            <a:off x="6309360" y="4279392"/>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9" name="Text 27"/>
          <p:cNvSpPr/>
          <p:nvPr/>
        </p:nvSpPr>
        <p:spPr>
          <a:xfrm>
            <a:off x="6446520" y="4279392"/>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Identify Required Fields</a:t>
            </a:r>
            <a:endParaRPr lang="en-US" sz="1250" dirty="0"/>
          </a:p>
        </p:txBody>
      </p:sp>
      <p:sp>
        <p:nvSpPr>
          <p:cNvPr id="30" name="Shape 28"/>
          <p:cNvSpPr/>
          <p:nvPr/>
        </p:nvSpPr>
        <p:spPr>
          <a:xfrm>
            <a:off x="9006840" y="4745736"/>
            <a:ext cx="914" cy="36576"/>
          </a:xfrm>
          <a:prstGeom prst="line">
            <a:avLst/>
          </a:prstGeom>
          <a:noFill/>
          <a:ln w="25400">
            <a:solidFill>
              <a:srgbClr val="2DD4BF"/>
            </a:solidFill>
            <a:prstDash val="solid"/>
            <a:tailEnd type="triangle"/>
          </a:ln>
        </p:spPr>
      </p:sp>
      <p:sp>
        <p:nvSpPr>
          <p:cNvPr id="31" name="Shape 29"/>
          <p:cNvSpPr/>
          <p:nvPr/>
        </p:nvSpPr>
        <p:spPr>
          <a:xfrm>
            <a:off x="6309360" y="4809744"/>
            <a:ext cx="5394960" cy="438912"/>
          </a:xfrm>
          <a:prstGeom prst="roundRect">
            <a:avLst>
              <a:gd name="adj" fmla="val 16667"/>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2" name="Text 30"/>
          <p:cNvSpPr/>
          <p:nvPr/>
        </p:nvSpPr>
        <p:spPr>
          <a:xfrm>
            <a:off x="6446520" y="4809744"/>
            <a:ext cx="5120640" cy="43891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Compare with Mapping / Requirement</a:t>
            </a:r>
            <a:endParaRPr lang="en-US" sz="1250" dirty="0"/>
          </a:p>
        </p:txBody>
      </p:sp>
      <p:sp>
        <p:nvSpPr>
          <p:cNvPr id="33" name="Text 31"/>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34" name="Text 32"/>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5" name="Text 33"/>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ReadyAPI Framework</a:t>
            </a:r>
            <a:endParaRPr lang="en-US" sz="3000" dirty="0"/>
          </a:p>
        </p:txBody>
      </p:sp>
      <p:sp>
        <p:nvSpPr>
          <p:cNvPr id="7" name="Shape 5"/>
          <p:cNvSpPr/>
          <p:nvPr/>
        </p:nvSpPr>
        <p:spPr>
          <a:xfrm>
            <a:off x="457200" y="1645920"/>
            <a:ext cx="5394960" cy="1965960"/>
          </a:xfrm>
          <a:prstGeom prst="roundRect">
            <a:avLst>
              <a:gd name="adj" fmla="val 3721"/>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874520"/>
            <a:ext cx="91440" cy="91440"/>
          </a:xfrm>
          <a:prstGeom prst="roundRect">
            <a:avLst>
              <a:gd name="adj" fmla="val 50000"/>
            </a:avLst>
          </a:prstGeom>
          <a:solidFill>
            <a:srgbClr val="2DD4BF"/>
          </a:solidFill>
          <a:ln/>
        </p:spPr>
      </p:sp>
      <p:sp>
        <p:nvSpPr>
          <p:cNvPr id="9" name="Text 7"/>
          <p:cNvSpPr/>
          <p:nvPr/>
        </p:nvSpPr>
        <p:spPr>
          <a:xfrm>
            <a:off x="868680" y="1792224"/>
            <a:ext cx="4754880" cy="292608"/>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1. Input Sheet / Data Source</a:t>
            </a:r>
            <a:endParaRPr lang="en-US" sz="1400" dirty="0"/>
          </a:p>
        </p:txBody>
      </p:sp>
      <p:sp>
        <p:nvSpPr>
          <p:cNvPr id="10" name="Text 8"/>
          <p:cNvSpPr/>
          <p:nvPr/>
        </p:nvSpPr>
        <p:spPr>
          <a:xfrm>
            <a:off x="731520" y="2231136"/>
            <a:ext cx="4846320" cy="1197864"/>
          </a:xfrm>
          <a:prstGeom prst="rect">
            <a:avLst/>
          </a:prstGeom>
          <a:noFill/>
          <a:ln/>
        </p:spPr>
        <p:txBody>
          <a:bodyPr wrap="square" rtlCol="0" anchor="t"/>
          <a:lstStyle/>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Transaction date</a:t>
            </a:r>
            <a:endParaRPr lang="en-US" sz="1030" dirty="0"/>
          </a:p>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Transaction status</a:t>
            </a:r>
            <a:endParaRPr lang="en-US" sz="1030" dirty="0"/>
          </a:p>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Transaction type</a:t>
            </a:r>
            <a:endParaRPr lang="en-US" sz="1030" dirty="0"/>
          </a:p>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Channel</a:t>
            </a:r>
            <a:endParaRPr lang="en-US" sz="1030" dirty="0"/>
          </a:p>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Home-related fields</a:t>
            </a:r>
            <a:endParaRPr lang="en-US" sz="1030" dirty="0"/>
          </a:p>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Other required test data</a:t>
            </a:r>
            <a:endParaRPr lang="en-US" sz="1030" dirty="0"/>
          </a:p>
        </p:txBody>
      </p:sp>
      <p:sp>
        <p:nvSpPr>
          <p:cNvPr id="11" name="Shape 9"/>
          <p:cNvSpPr/>
          <p:nvPr/>
        </p:nvSpPr>
        <p:spPr>
          <a:xfrm>
            <a:off x="457200" y="3721608"/>
            <a:ext cx="5394960" cy="1188720"/>
          </a:xfrm>
          <a:prstGeom prst="roundRect">
            <a:avLst>
              <a:gd name="adj" fmla="val 6154"/>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2" name="Shape 10"/>
          <p:cNvSpPr/>
          <p:nvPr/>
        </p:nvSpPr>
        <p:spPr>
          <a:xfrm>
            <a:off x="685800" y="3950208"/>
            <a:ext cx="91440" cy="91440"/>
          </a:xfrm>
          <a:prstGeom prst="roundRect">
            <a:avLst>
              <a:gd name="adj" fmla="val 50000"/>
            </a:avLst>
          </a:prstGeom>
          <a:solidFill>
            <a:srgbClr val="2DD4BF"/>
          </a:solidFill>
          <a:ln/>
        </p:spPr>
      </p:sp>
      <p:sp>
        <p:nvSpPr>
          <p:cNvPr id="13" name="Text 11"/>
          <p:cNvSpPr/>
          <p:nvPr/>
        </p:nvSpPr>
        <p:spPr>
          <a:xfrm>
            <a:off x="868680" y="3867912"/>
            <a:ext cx="4754880" cy="292608"/>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2. C Data Sync</a:t>
            </a:r>
            <a:endParaRPr lang="en-US" sz="1400" dirty="0"/>
          </a:p>
        </p:txBody>
      </p:sp>
      <p:sp>
        <p:nvSpPr>
          <p:cNvPr id="14" name="Text 12"/>
          <p:cNvSpPr/>
          <p:nvPr/>
        </p:nvSpPr>
        <p:spPr>
          <a:xfrm>
            <a:off x="731520" y="4306824"/>
            <a:ext cx="4846320" cy="420624"/>
          </a:xfrm>
          <a:prstGeom prst="rect">
            <a:avLst/>
          </a:prstGeom>
          <a:noFill/>
          <a:ln/>
        </p:spPr>
        <p:txBody>
          <a:bodyPr wrap="square" rtlCol="0" anchor="t"/>
          <a:lstStyle/>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Stores response data obtained after execution</a:t>
            </a:r>
            <a:endParaRPr lang="en-US" sz="1030" dirty="0"/>
          </a:p>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Initially empty</a:t>
            </a:r>
            <a:endParaRPr lang="en-US" sz="1030" dirty="0"/>
          </a:p>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Populated after execution</a:t>
            </a:r>
            <a:endParaRPr lang="en-US" sz="1030" dirty="0"/>
          </a:p>
        </p:txBody>
      </p:sp>
      <p:sp>
        <p:nvSpPr>
          <p:cNvPr id="15" name="Shape 13"/>
          <p:cNvSpPr/>
          <p:nvPr/>
        </p:nvSpPr>
        <p:spPr>
          <a:xfrm>
            <a:off x="457200" y="5020056"/>
            <a:ext cx="5394960" cy="1188720"/>
          </a:xfrm>
          <a:prstGeom prst="roundRect">
            <a:avLst>
              <a:gd name="adj" fmla="val 6154"/>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6" name="Shape 14"/>
          <p:cNvSpPr/>
          <p:nvPr/>
        </p:nvSpPr>
        <p:spPr>
          <a:xfrm>
            <a:off x="685800" y="5248656"/>
            <a:ext cx="91440" cy="91440"/>
          </a:xfrm>
          <a:prstGeom prst="roundRect">
            <a:avLst>
              <a:gd name="adj" fmla="val 50000"/>
            </a:avLst>
          </a:prstGeom>
          <a:solidFill>
            <a:srgbClr val="2DD4BF"/>
          </a:solidFill>
          <a:ln/>
        </p:spPr>
      </p:sp>
      <p:sp>
        <p:nvSpPr>
          <p:cNvPr id="17" name="Text 15"/>
          <p:cNvSpPr/>
          <p:nvPr/>
        </p:nvSpPr>
        <p:spPr>
          <a:xfrm>
            <a:off x="868680" y="5166360"/>
            <a:ext cx="4754880" cy="292608"/>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3. XML Data Sync</a:t>
            </a:r>
            <a:endParaRPr lang="en-US" sz="1400" dirty="0"/>
          </a:p>
        </p:txBody>
      </p:sp>
      <p:sp>
        <p:nvSpPr>
          <p:cNvPr id="18" name="Text 16"/>
          <p:cNvSpPr/>
          <p:nvPr/>
        </p:nvSpPr>
        <p:spPr>
          <a:xfrm>
            <a:off x="731520" y="5605272"/>
            <a:ext cx="4846320" cy="420624"/>
          </a:xfrm>
          <a:prstGeom prst="rect">
            <a:avLst/>
          </a:prstGeom>
          <a:noFill/>
          <a:ln/>
        </p:spPr>
        <p:txBody>
          <a:bodyPr wrap="square" rtlCol="0" anchor="t"/>
          <a:lstStyle/>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Output / reference data</a:t>
            </a:r>
            <a:endParaRPr lang="en-US" sz="1030" dirty="0"/>
          </a:p>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Contains expected values</a:t>
            </a:r>
            <a:endParaRPr lang="en-US" sz="1030" dirty="0"/>
          </a:p>
          <a:p>
            <a:pPr marL="177800" indent="-177800">
              <a:lnSpc>
                <a:spcPct val="112000"/>
              </a:lnSpc>
              <a:spcAft>
                <a:spcPts val="1000"/>
              </a:spcAft>
              <a:buSzPct val="100000"/>
              <a:buChar char="•"/>
            </a:pPr>
            <a:r>
              <a:rPr lang="en-US" sz="1030" dirty="0">
                <a:solidFill>
                  <a:srgbClr val="F3F6FB"/>
                </a:solidFill>
                <a:latin typeface="Calibri" pitchFamily="34" charset="0"/>
                <a:ea typeface="Calibri" pitchFamily="34" charset="-122"/>
                <a:cs typeface="Calibri" pitchFamily="34" charset="-120"/>
              </a:rPr>
              <a:t>Used to compare actual response against expected result</a:t>
            </a:r>
            <a:endParaRPr lang="en-US" sz="1030" dirty="0"/>
          </a:p>
        </p:txBody>
      </p:sp>
      <p:sp>
        <p:nvSpPr>
          <p:cNvPr id="19" name="Shape 17"/>
          <p:cNvSpPr/>
          <p:nvPr/>
        </p:nvSpPr>
        <p:spPr>
          <a:xfrm>
            <a:off x="6309360" y="1645920"/>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6446520" y="1645920"/>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Input / Excel Data</a:t>
            </a:r>
            <a:endParaRPr lang="en-US" sz="1250" dirty="0"/>
          </a:p>
        </p:txBody>
      </p:sp>
      <p:sp>
        <p:nvSpPr>
          <p:cNvPr id="21" name="Shape 19"/>
          <p:cNvSpPr/>
          <p:nvPr/>
        </p:nvSpPr>
        <p:spPr>
          <a:xfrm>
            <a:off x="9006840" y="2020824"/>
            <a:ext cx="914" cy="27432"/>
          </a:xfrm>
          <a:prstGeom prst="line">
            <a:avLst/>
          </a:prstGeom>
          <a:noFill/>
          <a:ln w="25400">
            <a:solidFill>
              <a:srgbClr val="2DD4BF"/>
            </a:solidFill>
            <a:prstDash val="solid"/>
            <a:tailEnd type="triangle"/>
          </a:ln>
        </p:spPr>
      </p:sp>
      <p:sp>
        <p:nvSpPr>
          <p:cNvPr id="22" name="Shape 20"/>
          <p:cNvSpPr/>
          <p:nvPr/>
        </p:nvSpPr>
        <p:spPr>
          <a:xfrm>
            <a:off x="6309360" y="2075688"/>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6446520" y="2075688"/>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Data Source / Properties</a:t>
            </a:r>
            <a:endParaRPr lang="en-US" sz="1250" dirty="0"/>
          </a:p>
        </p:txBody>
      </p:sp>
      <p:sp>
        <p:nvSpPr>
          <p:cNvPr id="24" name="Shape 22"/>
          <p:cNvSpPr/>
          <p:nvPr/>
        </p:nvSpPr>
        <p:spPr>
          <a:xfrm>
            <a:off x="9006840" y="2450592"/>
            <a:ext cx="914" cy="27432"/>
          </a:xfrm>
          <a:prstGeom prst="line">
            <a:avLst/>
          </a:prstGeom>
          <a:noFill/>
          <a:ln w="25400">
            <a:solidFill>
              <a:srgbClr val="2DD4BF"/>
            </a:solidFill>
            <a:prstDash val="solid"/>
            <a:tailEnd type="triangle"/>
          </a:ln>
        </p:spPr>
      </p:sp>
      <p:sp>
        <p:nvSpPr>
          <p:cNvPr id="25" name="Shape 23"/>
          <p:cNvSpPr/>
          <p:nvPr/>
        </p:nvSpPr>
        <p:spPr>
          <a:xfrm>
            <a:off x="6309360" y="2505456"/>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6446520" y="2505456"/>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Dynamic API Request</a:t>
            </a:r>
            <a:endParaRPr lang="en-US" sz="1250" dirty="0"/>
          </a:p>
        </p:txBody>
      </p:sp>
      <p:sp>
        <p:nvSpPr>
          <p:cNvPr id="27" name="Shape 25"/>
          <p:cNvSpPr/>
          <p:nvPr/>
        </p:nvSpPr>
        <p:spPr>
          <a:xfrm>
            <a:off x="9006840" y="2880360"/>
            <a:ext cx="914" cy="27432"/>
          </a:xfrm>
          <a:prstGeom prst="line">
            <a:avLst/>
          </a:prstGeom>
          <a:noFill/>
          <a:ln w="25400">
            <a:solidFill>
              <a:srgbClr val="2DD4BF"/>
            </a:solidFill>
            <a:prstDash val="solid"/>
            <a:tailEnd type="triangle"/>
          </a:ln>
        </p:spPr>
      </p:sp>
      <p:sp>
        <p:nvSpPr>
          <p:cNvPr id="28" name="Shape 26"/>
          <p:cNvSpPr/>
          <p:nvPr/>
        </p:nvSpPr>
        <p:spPr>
          <a:xfrm>
            <a:off x="6309360" y="2935224"/>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9" name="Text 27"/>
          <p:cNvSpPr/>
          <p:nvPr/>
        </p:nvSpPr>
        <p:spPr>
          <a:xfrm>
            <a:off x="6446520" y="2935224"/>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ReadyAPI Execution</a:t>
            </a:r>
            <a:endParaRPr lang="en-US" sz="1250" dirty="0"/>
          </a:p>
        </p:txBody>
      </p:sp>
      <p:sp>
        <p:nvSpPr>
          <p:cNvPr id="30" name="Shape 28"/>
          <p:cNvSpPr/>
          <p:nvPr/>
        </p:nvSpPr>
        <p:spPr>
          <a:xfrm>
            <a:off x="9006840" y="3310128"/>
            <a:ext cx="914" cy="27432"/>
          </a:xfrm>
          <a:prstGeom prst="line">
            <a:avLst/>
          </a:prstGeom>
          <a:noFill/>
          <a:ln w="25400">
            <a:solidFill>
              <a:srgbClr val="2DD4BF"/>
            </a:solidFill>
            <a:prstDash val="solid"/>
            <a:tailEnd type="triangle"/>
          </a:ln>
        </p:spPr>
      </p:sp>
      <p:sp>
        <p:nvSpPr>
          <p:cNvPr id="31" name="Shape 29"/>
          <p:cNvSpPr/>
          <p:nvPr/>
        </p:nvSpPr>
        <p:spPr>
          <a:xfrm>
            <a:off x="6309360" y="3364992"/>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2" name="Text 30"/>
          <p:cNvSpPr/>
          <p:nvPr/>
        </p:nvSpPr>
        <p:spPr>
          <a:xfrm>
            <a:off x="6446520" y="3364992"/>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API Response</a:t>
            </a:r>
            <a:endParaRPr lang="en-US" sz="1250" dirty="0"/>
          </a:p>
        </p:txBody>
      </p:sp>
      <p:sp>
        <p:nvSpPr>
          <p:cNvPr id="33" name="Shape 31"/>
          <p:cNvSpPr/>
          <p:nvPr/>
        </p:nvSpPr>
        <p:spPr>
          <a:xfrm>
            <a:off x="9006840" y="3739896"/>
            <a:ext cx="914" cy="27432"/>
          </a:xfrm>
          <a:prstGeom prst="line">
            <a:avLst/>
          </a:prstGeom>
          <a:noFill/>
          <a:ln w="25400">
            <a:solidFill>
              <a:srgbClr val="2DD4BF"/>
            </a:solidFill>
            <a:prstDash val="solid"/>
            <a:tailEnd type="triangle"/>
          </a:ln>
        </p:spPr>
      </p:sp>
      <p:sp>
        <p:nvSpPr>
          <p:cNvPr id="34" name="Shape 32"/>
          <p:cNvSpPr/>
          <p:nvPr/>
        </p:nvSpPr>
        <p:spPr>
          <a:xfrm>
            <a:off x="6309360" y="3794760"/>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5" name="Text 33"/>
          <p:cNvSpPr/>
          <p:nvPr/>
        </p:nvSpPr>
        <p:spPr>
          <a:xfrm>
            <a:off x="6446520" y="3794760"/>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 Data Sync</a:t>
            </a:r>
            <a:endParaRPr lang="en-US" sz="1250" dirty="0"/>
          </a:p>
        </p:txBody>
      </p:sp>
      <p:sp>
        <p:nvSpPr>
          <p:cNvPr id="36" name="Shape 34"/>
          <p:cNvSpPr/>
          <p:nvPr/>
        </p:nvSpPr>
        <p:spPr>
          <a:xfrm>
            <a:off x="9006840" y="4169664"/>
            <a:ext cx="914" cy="27432"/>
          </a:xfrm>
          <a:prstGeom prst="line">
            <a:avLst/>
          </a:prstGeom>
          <a:noFill/>
          <a:ln w="25400">
            <a:solidFill>
              <a:srgbClr val="2DD4BF"/>
            </a:solidFill>
            <a:prstDash val="solid"/>
            <a:tailEnd type="triangle"/>
          </a:ln>
        </p:spPr>
      </p:sp>
      <p:sp>
        <p:nvSpPr>
          <p:cNvPr id="37" name="Shape 35"/>
          <p:cNvSpPr/>
          <p:nvPr/>
        </p:nvSpPr>
        <p:spPr>
          <a:xfrm>
            <a:off x="6309360" y="4224528"/>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8" name="Text 36"/>
          <p:cNvSpPr/>
          <p:nvPr/>
        </p:nvSpPr>
        <p:spPr>
          <a:xfrm>
            <a:off x="6446520" y="4224528"/>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XML Data Sync</a:t>
            </a:r>
            <a:endParaRPr lang="en-US" sz="1250" dirty="0"/>
          </a:p>
        </p:txBody>
      </p:sp>
      <p:sp>
        <p:nvSpPr>
          <p:cNvPr id="39" name="Shape 37"/>
          <p:cNvSpPr/>
          <p:nvPr/>
        </p:nvSpPr>
        <p:spPr>
          <a:xfrm>
            <a:off x="9006840" y="4599432"/>
            <a:ext cx="914" cy="27432"/>
          </a:xfrm>
          <a:prstGeom prst="line">
            <a:avLst/>
          </a:prstGeom>
          <a:noFill/>
          <a:ln w="25400">
            <a:solidFill>
              <a:srgbClr val="2DD4BF"/>
            </a:solidFill>
            <a:prstDash val="solid"/>
            <a:tailEnd type="triangle"/>
          </a:ln>
        </p:spPr>
      </p:sp>
      <p:sp>
        <p:nvSpPr>
          <p:cNvPr id="40" name="Shape 38"/>
          <p:cNvSpPr/>
          <p:nvPr/>
        </p:nvSpPr>
        <p:spPr>
          <a:xfrm>
            <a:off x="6309360" y="4654296"/>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41" name="Text 39"/>
          <p:cNvSpPr/>
          <p:nvPr/>
        </p:nvSpPr>
        <p:spPr>
          <a:xfrm>
            <a:off x="6446520" y="4654296"/>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Validation</a:t>
            </a:r>
            <a:endParaRPr lang="en-US" sz="1250" dirty="0"/>
          </a:p>
        </p:txBody>
      </p:sp>
      <p:sp>
        <p:nvSpPr>
          <p:cNvPr id="42" name="Shape 40"/>
          <p:cNvSpPr/>
          <p:nvPr/>
        </p:nvSpPr>
        <p:spPr>
          <a:xfrm>
            <a:off x="6309360" y="5120640"/>
            <a:ext cx="5394960" cy="1280160"/>
          </a:xfrm>
          <a:prstGeom prst="roundRect">
            <a:avLst>
              <a:gd name="adj" fmla="val 5714"/>
            </a:avLst>
          </a:prstGeom>
          <a:solidFill>
            <a:srgbClr val="101A30"/>
          </a:solidFill>
          <a:ln w="12700">
            <a:solidFill>
              <a:srgbClr val="2DD4BF"/>
            </a:solidFill>
            <a:prstDash val="solid"/>
          </a:ln>
        </p:spPr>
      </p:sp>
      <p:sp>
        <p:nvSpPr>
          <p:cNvPr id="43" name="Text 41"/>
          <p:cNvSpPr/>
          <p:nvPr/>
        </p:nvSpPr>
        <p:spPr>
          <a:xfrm>
            <a:off x="6492240" y="5120640"/>
            <a:ext cx="5029200" cy="1280160"/>
          </a:xfrm>
          <a:prstGeom prst="rect">
            <a:avLst/>
          </a:prstGeom>
          <a:noFill/>
          <a:ln/>
        </p:spPr>
        <p:txBody>
          <a:bodyPr wrap="square" rtlCol="0" anchor="ctr"/>
          <a:lstStyle/>
          <a:p>
            <a:pPr indent="0" marL="0">
              <a:lnSpc>
                <a:spcPct val="130000"/>
              </a:lnSpc>
              <a:buNone/>
            </a:pPr>
            <a:r>
              <a:rPr lang="en-US" sz="1050" b="1" dirty="0">
                <a:solidFill>
                  <a:srgbClr val="F3F6FB"/>
                </a:solidFill>
                <a:latin typeface="Calibri" pitchFamily="34" charset="0"/>
                <a:ea typeface="Calibri" pitchFamily="34" charset="-122"/>
                <a:cs typeface="Calibri" pitchFamily="34" charset="-120"/>
              </a:rPr>
              <a:t>Input: </a:t>
            </a:r>
            <a:pPr indent="0" marL="0">
              <a:lnSpc>
                <a:spcPct val="130000"/>
              </a:lnSpc>
              <a:buNone/>
            </a:pPr>
            <a:r>
              <a:rPr lang="en-US" sz="1050" dirty="0">
                <a:solidFill>
                  <a:srgbClr val="97A3BE"/>
                </a:solidFill>
                <a:latin typeface="Calibri" pitchFamily="34" charset="0"/>
                <a:ea typeface="Calibri" pitchFamily="34" charset="-122"/>
                <a:cs typeface="Calibri" pitchFamily="34" charset="-120"/>
              </a:rPr>
              <a:t>Test data / transaction details / Home fields
</a:t>
            </a:r>
            <a:endParaRPr lang="en-US" sz="1050" dirty="0"/>
          </a:p>
          <a:p>
            <a:pPr indent="0" marL="0">
              <a:lnSpc>
                <a:spcPct val="130000"/>
              </a:lnSpc>
              <a:buNone/>
            </a:pPr>
            <a:r>
              <a:rPr lang="en-US" sz="1050" b="1" dirty="0">
                <a:solidFill>
                  <a:srgbClr val="F3F6FB"/>
                </a:solidFill>
                <a:latin typeface="Calibri" pitchFamily="34" charset="0"/>
                <a:ea typeface="Calibri" pitchFamily="34" charset="-122"/>
                <a:cs typeface="Calibri" pitchFamily="34" charset="-120"/>
              </a:rPr>
              <a:t>Output: </a:t>
            </a:r>
            <a:pPr indent="0" marL="0">
              <a:lnSpc>
                <a:spcPct val="130000"/>
              </a:lnSpc>
              <a:buNone/>
            </a:pPr>
            <a:r>
              <a:rPr lang="en-US" sz="1050" dirty="0">
                <a:solidFill>
                  <a:srgbClr val="97A3BE"/>
                </a:solidFill>
                <a:latin typeface="Calibri" pitchFamily="34" charset="0"/>
                <a:ea typeface="Calibri" pitchFamily="34" charset="-122"/>
                <a:cs typeface="Calibri" pitchFamily="34" charset="-120"/>
              </a:rPr>
              <a:t>API response → C Data Sync → XML/reference data → Validation result</a:t>
            </a:r>
            <a:endParaRPr lang="en-US" sz="1050" dirty="0"/>
          </a:p>
        </p:txBody>
      </p:sp>
      <p:sp>
        <p:nvSpPr>
          <p:cNvPr id="44" name="Text 42"/>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45" name="Text 43"/>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46" name="Text 44"/>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Home Pricing Test Scenarios</a:t>
            </a:r>
            <a:endParaRPr lang="en-US" sz="3000" dirty="0"/>
          </a:p>
        </p:txBody>
      </p:sp>
      <p:sp>
        <p:nvSpPr>
          <p:cNvPr id="7" name="Shape 5"/>
          <p:cNvSpPr/>
          <p:nvPr/>
        </p:nvSpPr>
        <p:spPr>
          <a:xfrm>
            <a:off x="457200" y="1645920"/>
            <a:ext cx="5394960" cy="2788920"/>
          </a:xfrm>
          <a:prstGeom prst="roundRect">
            <a:avLst>
              <a:gd name="adj" fmla="val 262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874520"/>
            <a:ext cx="91440" cy="91440"/>
          </a:xfrm>
          <a:prstGeom prst="roundRect">
            <a:avLst>
              <a:gd name="adj" fmla="val 50000"/>
            </a:avLst>
          </a:prstGeom>
          <a:solidFill>
            <a:srgbClr val="2DD4BF"/>
          </a:solidFill>
          <a:ln/>
        </p:spPr>
      </p:sp>
      <p:sp>
        <p:nvSpPr>
          <p:cNvPr id="9" name="Text 7"/>
          <p:cNvSpPr/>
          <p:nvPr/>
        </p:nvSpPr>
        <p:spPr>
          <a:xfrm>
            <a:off x="868680" y="1792224"/>
            <a:ext cx="4754880" cy="292608"/>
          </a:xfrm>
          <a:prstGeom prst="rect">
            <a:avLst/>
          </a:prstGeom>
          <a:noFill/>
          <a:ln/>
        </p:spPr>
        <p:txBody>
          <a:bodyPr wrap="square"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Main Testing Areas</a:t>
            </a:r>
            <a:endParaRPr lang="en-US" sz="1400" dirty="0"/>
          </a:p>
        </p:txBody>
      </p:sp>
      <p:sp>
        <p:nvSpPr>
          <p:cNvPr id="10" name="Text 8"/>
          <p:cNvSpPr/>
          <p:nvPr/>
        </p:nvSpPr>
        <p:spPr>
          <a:xfrm>
            <a:off x="731520" y="2231136"/>
            <a:ext cx="4846320" cy="2020824"/>
          </a:xfrm>
          <a:prstGeom prst="rect">
            <a:avLst/>
          </a:prstGeom>
          <a:noFill/>
          <a:ln/>
        </p:spPr>
        <p:txBody>
          <a:bodyPr wrap="square" rtlCol="0" anchor="t"/>
          <a:lstStyle/>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Pricing changes &amp; coverage values</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Field-level validation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Positive &amp; negative scenarios</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Different property/bedroom conditions</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Different channels &amp; pricing tiers</a:t>
            </a:r>
            <a:endParaRPr lang="en-US" sz="1200" dirty="0"/>
          </a:p>
        </p:txBody>
      </p:sp>
      <p:sp>
        <p:nvSpPr>
          <p:cNvPr id="11" name="Shape 9"/>
          <p:cNvSpPr/>
          <p:nvPr/>
        </p:nvSpPr>
        <p:spPr>
          <a:xfrm>
            <a:off x="457200" y="4572000"/>
            <a:ext cx="5394960" cy="1417320"/>
          </a:xfrm>
          <a:prstGeom prst="roundRect">
            <a:avLst>
              <a:gd name="adj" fmla="val 5161"/>
            </a:avLst>
          </a:prstGeom>
          <a:solidFill>
            <a:srgbClr val="3D3117"/>
          </a:solidFill>
          <a:ln w="16510">
            <a:solidFill>
              <a:srgbClr val="F5B942"/>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685800" y="4709160"/>
            <a:ext cx="4937760" cy="274320"/>
          </a:xfrm>
          <a:prstGeom prst="rect">
            <a:avLst/>
          </a:prstGeom>
          <a:noFill/>
          <a:ln/>
        </p:spPr>
        <p:txBody>
          <a:bodyPr wrap="square" rtlCol="0" anchor="ctr"/>
          <a:lstStyle/>
          <a:p>
            <a:pPr indent="0" marL="0">
              <a:buNone/>
            </a:pPr>
            <a:r>
              <a:rPr lang="en-US" sz="1150" b="1" spc="100" kern="0" dirty="0">
                <a:solidFill>
                  <a:srgbClr val="F5B942"/>
                </a:solidFill>
                <a:latin typeface="Calibri" pitchFamily="34" charset="0"/>
                <a:ea typeface="Calibri" pitchFamily="34" charset="-122"/>
                <a:cs typeface="Calibri" pitchFamily="34" charset="-120"/>
              </a:rPr>
              <a:t>PRINCIPLE</a:t>
            </a:r>
            <a:endParaRPr lang="en-US" sz="1150" dirty="0"/>
          </a:p>
        </p:txBody>
      </p:sp>
      <p:sp>
        <p:nvSpPr>
          <p:cNvPr id="13" name="Text 11"/>
          <p:cNvSpPr/>
          <p:nvPr/>
        </p:nvSpPr>
        <p:spPr>
          <a:xfrm>
            <a:off x="685800" y="5029200"/>
            <a:ext cx="4937760" cy="914400"/>
          </a:xfrm>
          <a:prstGeom prst="rect">
            <a:avLst/>
          </a:prstGeom>
          <a:noFill/>
          <a:ln/>
        </p:spPr>
        <p:txBody>
          <a:bodyPr wrap="square" rtlCol="0" anchor="t"/>
          <a:lstStyle/>
          <a:p>
            <a:pPr indent="0" marL="0">
              <a:lnSpc>
                <a:spcPct val="115000"/>
              </a:lnSpc>
              <a:buNone/>
            </a:pPr>
            <a:r>
              <a:rPr lang="en-US" sz="1050" i="1" dirty="0">
                <a:solidFill>
                  <a:srgbClr val="F5B942"/>
                </a:solidFill>
                <a:latin typeface="Calibri" pitchFamily="34" charset="0"/>
                <a:ea typeface="Calibri" pitchFamily="34" charset="-122"/>
                <a:cs typeface="Calibri" pitchFamily="34" charset="-120"/>
              </a:rPr>
              <a:t>For a specific user story, the relevant field/value is changed while the rest of the test data is maintained appropriately.</a:t>
            </a:r>
            <a:endParaRPr lang="en-US" sz="1050" dirty="0"/>
          </a:p>
        </p:txBody>
      </p:sp>
      <p:sp>
        <p:nvSpPr>
          <p:cNvPr id="14" name="Shape 12"/>
          <p:cNvSpPr/>
          <p:nvPr/>
        </p:nvSpPr>
        <p:spPr>
          <a:xfrm>
            <a:off x="6309360" y="1627632"/>
            <a:ext cx="5394960" cy="502920"/>
          </a:xfrm>
          <a:prstGeom prst="roundRect">
            <a:avLst>
              <a:gd name="adj" fmla="val 14545"/>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5" name="Text 13"/>
          <p:cNvSpPr/>
          <p:nvPr/>
        </p:nvSpPr>
        <p:spPr>
          <a:xfrm>
            <a:off x="6446520" y="1627632"/>
            <a:ext cx="5120640" cy="50292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Input — Bedroom = 6</a:t>
            </a:r>
            <a:endParaRPr lang="en-US" sz="1250" dirty="0"/>
          </a:p>
        </p:txBody>
      </p:sp>
      <p:sp>
        <p:nvSpPr>
          <p:cNvPr id="16" name="Shape 14"/>
          <p:cNvSpPr/>
          <p:nvPr/>
        </p:nvSpPr>
        <p:spPr>
          <a:xfrm>
            <a:off x="9006840" y="2157984"/>
            <a:ext cx="914" cy="82296"/>
          </a:xfrm>
          <a:prstGeom prst="line">
            <a:avLst/>
          </a:prstGeom>
          <a:noFill/>
          <a:ln w="25400">
            <a:solidFill>
              <a:srgbClr val="2DD4BF"/>
            </a:solidFill>
            <a:prstDash val="solid"/>
            <a:tailEnd type="triangle"/>
          </a:ln>
        </p:spPr>
      </p:sp>
      <p:sp>
        <p:nvSpPr>
          <p:cNvPr id="17" name="Shape 15"/>
          <p:cNvSpPr/>
          <p:nvPr/>
        </p:nvSpPr>
        <p:spPr>
          <a:xfrm>
            <a:off x="6309360" y="2267712"/>
            <a:ext cx="5394960" cy="502920"/>
          </a:xfrm>
          <a:prstGeom prst="roundRect">
            <a:avLst>
              <a:gd name="adj" fmla="val 14545"/>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8" name="Text 16"/>
          <p:cNvSpPr/>
          <p:nvPr/>
        </p:nvSpPr>
        <p:spPr>
          <a:xfrm>
            <a:off x="6446520" y="2267712"/>
            <a:ext cx="5120640" cy="50292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Execute Request</a:t>
            </a:r>
            <a:endParaRPr lang="en-US" sz="1250" dirty="0"/>
          </a:p>
        </p:txBody>
      </p:sp>
      <p:sp>
        <p:nvSpPr>
          <p:cNvPr id="19" name="Shape 17"/>
          <p:cNvSpPr/>
          <p:nvPr/>
        </p:nvSpPr>
        <p:spPr>
          <a:xfrm>
            <a:off x="9006840" y="2798064"/>
            <a:ext cx="914" cy="82296"/>
          </a:xfrm>
          <a:prstGeom prst="line">
            <a:avLst/>
          </a:prstGeom>
          <a:noFill/>
          <a:ln w="25400">
            <a:solidFill>
              <a:srgbClr val="2DD4BF"/>
            </a:solidFill>
            <a:prstDash val="solid"/>
            <a:tailEnd type="triangle"/>
          </a:ln>
        </p:spPr>
      </p:sp>
      <p:sp>
        <p:nvSpPr>
          <p:cNvPr id="20" name="Shape 18"/>
          <p:cNvSpPr/>
          <p:nvPr/>
        </p:nvSpPr>
        <p:spPr>
          <a:xfrm>
            <a:off x="6309360" y="2907792"/>
            <a:ext cx="5394960" cy="502920"/>
          </a:xfrm>
          <a:prstGeom prst="roundRect">
            <a:avLst>
              <a:gd name="adj" fmla="val 14545"/>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1" name="Text 19"/>
          <p:cNvSpPr/>
          <p:nvPr/>
        </p:nvSpPr>
        <p:spPr>
          <a:xfrm>
            <a:off x="6446520" y="2907792"/>
            <a:ext cx="5120640" cy="50292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Pricing Response</a:t>
            </a:r>
            <a:endParaRPr lang="en-US" sz="1250" dirty="0"/>
          </a:p>
        </p:txBody>
      </p:sp>
      <p:sp>
        <p:nvSpPr>
          <p:cNvPr id="22" name="Shape 20"/>
          <p:cNvSpPr/>
          <p:nvPr/>
        </p:nvSpPr>
        <p:spPr>
          <a:xfrm>
            <a:off x="9006840" y="3438144"/>
            <a:ext cx="914" cy="82296"/>
          </a:xfrm>
          <a:prstGeom prst="line">
            <a:avLst/>
          </a:prstGeom>
          <a:noFill/>
          <a:ln w="25400">
            <a:solidFill>
              <a:srgbClr val="2DD4BF"/>
            </a:solidFill>
            <a:prstDash val="solid"/>
            <a:tailEnd type="triangle"/>
          </a:ln>
        </p:spPr>
      </p:sp>
      <p:sp>
        <p:nvSpPr>
          <p:cNvPr id="23" name="Shape 21"/>
          <p:cNvSpPr/>
          <p:nvPr/>
        </p:nvSpPr>
        <p:spPr>
          <a:xfrm>
            <a:off x="6309360" y="3547872"/>
            <a:ext cx="5394960" cy="502920"/>
          </a:xfrm>
          <a:prstGeom prst="roundRect">
            <a:avLst>
              <a:gd name="adj" fmla="val 14545"/>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6446520" y="3547872"/>
            <a:ext cx="5120640" cy="50292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Check Load</a:t>
            </a:r>
            <a:endParaRPr lang="en-US" sz="1250" dirty="0"/>
          </a:p>
        </p:txBody>
      </p:sp>
      <p:sp>
        <p:nvSpPr>
          <p:cNvPr id="25" name="Shape 23"/>
          <p:cNvSpPr/>
          <p:nvPr/>
        </p:nvSpPr>
        <p:spPr>
          <a:xfrm>
            <a:off x="9006840" y="4078224"/>
            <a:ext cx="914" cy="82296"/>
          </a:xfrm>
          <a:prstGeom prst="line">
            <a:avLst/>
          </a:prstGeom>
          <a:noFill/>
          <a:ln w="25400">
            <a:solidFill>
              <a:srgbClr val="2DD4BF"/>
            </a:solidFill>
            <a:prstDash val="solid"/>
            <a:tailEnd type="triangle"/>
          </a:ln>
        </p:spPr>
      </p:sp>
      <p:sp>
        <p:nvSpPr>
          <p:cNvPr id="26" name="Shape 24"/>
          <p:cNvSpPr/>
          <p:nvPr/>
        </p:nvSpPr>
        <p:spPr>
          <a:xfrm>
            <a:off x="6309360" y="4187952"/>
            <a:ext cx="5394960" cy="502920"/>
          </a:xfrm>
          <a:prstGeom prst="roundRect">
            <a:avLst>
              <a:gd name="adj" fmla="val 14545"/>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6446520" y="4187952"/>
            <a:ext cx="5120640" cy="50292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Check Premium</a:t>
            </a:r>
            <a:endParaRPr lang="en-US" sz="1250" dirty="0"/>
          </a:p>
        </p:txBody>
      </p:sp>
      <p:sp>
        <p:nvSpPr>
          <p:cNvPr id="28" name="Shape 26"/>
          <p:cNvSpPr/>
          <p:nvPr/>
        </p:nvSpPr>
        <p:spPr>
          <a:xfrm>
            <a:off x="9006840" y="4718304"/>
            <a:ext cx="914" cy="82296"/>
          </a:xfrm>
          <a:prstGeom prst="line">
            <a:avLst/>
          </a:prstGeom>
          <a:noFill/>
          <a:ln w="25400">
            <a:solidFill>
              <a:srgbClr val="2DD4BF"/>
            </a:solidFill>
            <a:prstDash val="solid"/>
            <a:tailEnd type="triangle"/>
          </a:ln>
        </p:spPr>
      </p:sp>
      <p:sp>
        <p:nvSpPr>
          <p:cNvPr id="29" name="Shape 27"/>
          <p:cNvSpPr/>
          <p:nvPr/>
        </p:nvSpPr>
        <p:spPr>
          <a:xfrm>
            <a:off x="6309360" y="4828032"/>
            <a:ext cx="5394960" cy="502920"/>
          </a:xfrm>
          <a:prstGeom prst="roundRect">
            <a:avLst>
              <a:gd name="adj" fmla="val 14545"/>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0" name="Text 28"/>
          <p:cNvSpPr/>
          <p:nvPr/>
        </p:nvSpPr>
        <p:spPr>
          <a:xfrm>
            <a:off x="6446520" y="4828032"/>
            <a:ext cx="5120640" cy="50292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Expected vs Actual</a:t>
            </a:r>
            <a:endParaRPr lang="en-US" sz="1250" dirty="0"/>
          </a:p>
        </p:txBody>
      </p:sp>
      <p:sp>
        <p:nvSpPr>
          <p:cNvPr id="31" name="Shape 29"/>
          <p:cNvSpPr/>
          <p:nvPr/>
        </p:nvSpPr>
        <p:spPr>
          <a:xfrm>
            <a:off x="6309360" y="5212080"/>
            <a:ext cx="5394960" cy="777240"/>
          </a:xfrm>
          <a:prstGeom prst="roundRect">
            <a:avLst>
              <a:gd name="adj" fmla="val 9412"/>
            </a:avLst>
          </a:prstGeom>
          <a:solidFill>
            <a:srgbClr val="101A30"/>
          </a:solidFill>
          <a:ln w="12700">
            <a:solidFill>
              <a:srgbClr val="2DD4BF"/>
            </a:solidFill>
            <a:prstDash val="solid"/>
          </a:ln>
        </p:spPr>
      </p:sp>
      <p:sp>
        <p:nvSpPr>
          <p:cNvPr id="32" name="Text 30"/>
          <p:cNvSpPr/>
          <p:nvPr/>
        </p:nvSpPr>
        <p:spPr>
          <a:xfrm>
            <a:off x="6492240" y="5212080"/>
            <a:ext cx="5029200" cy="777240"/>
          </a:xfrm>
          <a:prstGeom prst="rect">
            <a:avLst/>
          </a:prstGeom>
          <a:noFill/>
          <a:ln/>
        </p:spPr>
        <p:txBody>
          <a:bodyPr wrap="square" rtlCol="0" anchor="ctr"/>
          <a:lstStyle/>
          <a:p>
            <a:pPr indent="0" marL="0">
              <a:buNone/>
            </a:pPr>
            <a:r>
              <a:rPr lang="en-US" sz="1050" i="1" dirty="0">
                <a:solidFill>
                  <a:srgbClr val="97A3BE"/>
                </a:solidFill>
                <a:latin typeface="Calibri" pitchFamily="34" charset="0"/>
                <a:ea typeface="Calibri" pitchFamily="34" charset="-122"/>
                <a:cs typeface="Calibri" pitchFamily="34" charset="-120"/>
              </a:rPr>
              <a:t>Negative testing: change a field to an invalid value to verify the expected error/decline occurs.</a:t>
            </a:r>
            <a:endParaRPr lang="en-US" sz="1050" dirty="0"/>
          </a:p>
        </p:txBody>
      </p:sp>
      <p:sp>
        <p:nvSpPr>
          <p:cNvPr id="33" name="Text 31"/>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34" name="Text 32"/>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5" name="Text 33"/>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Pricing Tiers &amp; Channel Validation</a:t>
            </a:r>
            <a:endParaRPr lang="en-US" sz="3000" dirty="0"/>
          </a:p>
        </p:txBody>
      </p:sp>
      <p:sp>
        <p:nvSpPr>
          <p:cNvPr id="7" name="Shape 5"/>
          <p:cNvSpPr/>
          <p:nvPr/>
        </p:nvSpPr>
        <p:spPr>
          <a:xfrm>
            <a:off x="457200" y="2521001"/>
            <a:ext cx="1645920" cy="1502359"/>
          </a:xfrm>
          <a:prstGeom prst="roundRect">
            <a:avLst>
              <a:gd name="adj" fmla="val 4869"/>
            </a:avLst>
          </a:prstGeom>
          <a:solidFill>
            <a:srgbClr val="2E2417"/>
          </a:solidFill>
          <a:ln w="19050">
            <a:solidFill>
              <a:srgbClr val="CD9B6A"/>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457200" y="2649017"/>
            <a:ext cx="1645920" cy="365760"/>
          </a:xfrm>
          <a:prstGeom prst="rect">
            <a:avLst/>
          </a:prstGeom>
          <a:noFill/>
          <a:ln/>
        </p:spPr>
        <p:txBody>
          <a:bodyPr wrap="square" rtlCol="0" anchor="ctr"/>
          <a:lstStyle/>
          <a:p>
            <a:pPr algn="ctr" indent="0" marL="0">
              <a:buNone/>
            </a:pPr>
            <a:r>
              <a:rPr lang="en-US" sz="1500" b="1" dirty="0">
                <a:solidFill>
                  <a:srgbClr val="CD9B6A"/>
                </a:solidFill>
                <a:latin typeface="Calibri" pitchFamily="34" charset="0"/>
                <a:ea typeface="Calibri" pitchFamily="34" charset="-122"/>
                <a:cs typeface="Calibri" pitchFamily="34" charset="-120"/>
              </a:rPr>
              <a:t>BRONZE</a:t>
            </a:r>
            <a:endParaRPr lang="en-US" sz="1500" dirty="0"/>
          </a:p>
        </p:txBody>
      </p:sp>
      <p:sp>
        <p:nvSpPr>
          <p:cNvPr id="9" name="Text 7"/>
          <p:cNvSpPr/>
          <p:nvPr/>
        </p:nvSpPr>
        <p:spPr>
          <a:xfrm>
            <a:off x="457200" y="2996489"/>
            <a:ext cx="1645920" cy="274320"/>
          </a:xfrm>
          <a:prstGeom prst="rect">
            <a:avLst/>
          </a:prstGeom>
          <a:noFill/>
          <a:ln/>
        </p:spPr>
        <p:txBody>
          <a:bodyPr wrap="square" rtlCol="0" anchor="ctr"/>
          <a:lstStyle/>
          <a:p>
            <a:pPr algn="ctr" indent="0" marL="0">
              <a:buNone/>
            </a:pPr>
            <a:r>
              <a:rPr lang="en-US" sz="1000" i="1" dirty="0">
                <a:solidFill>
                  <a:srgbClr val="97A3BE"/>
                </a:solidFill>
                <a:latin typeface="Calibri" pitchFamily="34" charset="0"/>
                <a:ea typeface="Calibri" pitchFamily="34" charset="-122"/>
                <a:cs typeface="Calibri" pitchFamily="34" charset="-120"/>
              </a:rPr>
              <a:t>Lower tier</a:t>
            </a:r>
            <a:endParaRPr lang="en-US" sz="1000" dirty="0"/>
          </a:p>
        </p:txBody>
      </p:sp>
      <p:sp>
        <p:nvSpPr>
          <p:cNvPr id="10" name="Text 8"/>
          <p:cNvSpPr/>
          <p:nvPr/>
        </p:nvSpPr>
        <p:spPr>
          <a:xfrm>
            <a:off x="594360" y="3343961"/>
            <a:ext cx="1371600" cy="542239"/>
          </a:xfrm>
          <a:prstGeom prst="rect">
            <a:avLst/>
          </a:prstGeom>
          <a:noFill/>
          <a:ln/>
        </p:spPr>
        <p:txBody>
          <a:bodyPr wrap="square" rtlCol="0" anchor="t"/>
          <a:lstStyle/>
          <a:p>
            <a:pPr algn="ctr" indent="0" marL="0">
              <a:lnSpc>
                <a:spcPct val="115000"/>
              </a:lnSpc>
              <a:buNone/>
            </a:pPr>
            <a:r>
              <a:rPr lang="en-US" sz="1050" dirty="0">
                <a:solidFill>
                  <a:srgbClr val="F3F6FB"/>
                </a:solidFill>
                <a:latin typeface="Calibri" pitchFamily="34" charset="0"/>
                <a:ea typeface="Calibri" pitchFamily="34" charset="-122"/>
                <a:cs typeface="Calibri" pitchFamily="34" charset="-120"/>
              </a:rPr>
              <a:t>Lower premium.</a:t>
            </a:r>
            <a:endParaRPr lang="en-US" sz="1050" dirty="0"/>
          </a:p>
          <a:p>
            <a:pPr algn="ctr" indent="0" marL="0">
              <a:lnSpc>
                <a:spcPct val="115000"/>
              </a:lnSpc>
              <a:buNone/>
            </a:pPr>
            <a:r>
              <a:rPr lang="en-US" sz="1050" dirty="0">
                <a:solidFill>
                  <a:srgbClr val="F3F6FB"/>
                </a:solidFill>
                <a:latin typeface="Calibri" pitchFamily="34" charset="0"/>
                <a:ea typeface="Calibri" pitchFamily="34" charset="-122"/>
                <a:cs typeface="Calibri" pitchFamily="34" charset="-120"/>
              </a:rPr>
              <a:t>Lower coverage.</a:t>
            </a:r>
            <a:endParaRPr lang="en-US" sz="1050" dirty="0"/>
          </a:p>
        </p:txBody>
      </p:sp>
      <p:sp>
        <p:nvSpPr>
          <p:cNvPr id="11" name="Shape 9"/>
          <p:cNvSpPr/>
          <p:nvPr/>
        </p:nvSpPr>
        <p:spPr>
          <a:xfrm>
            <a:off x="2468880" y="2060600"/>
            <a:ext cx="1645920" cy="1962760"/>
          </a:xfrm>
          <a:prstGeom prst="roundRect">
            <a:avLst>
              <a:gd name="adj" fmla="val 4444"/>
            </a:avLst>
          </a:prstGeom>
          <a:solidFill>
            <a:srgbClr val="262B33"/>
          </a:solidFill>
          <a:ln w="19050">
            <a:solidFill>
              <a:srgbClr val="C7CDD6"/>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2468880" y="2188616"/>
            <a:ext cx="1645920" cy="365760"/>
          </a:xfrm>
          <a:prstGeom prst="rect">
            <a:avLst/>
          </a:prstGeom>
          <a:noFill/>
          <a:ln/>
        </p:spPr>
        <p:txBody>
          <a:bodyPr wrap="square" rtlCol="0" anchor="ctr"/>
          <a:lstStyle/>
          <a:p>
            <a:pPr algn="ctr" indent="0" marL="0">
              <a:buNone/>
            </a:pPr>
            <a:r>
              <a:rPr lang="en-US" sz="1500" b="1" dirty="0">
                <a:solidFill>
                  <a:srgbClr val="C7CDD6"/>
                </a:solidFill>
                <a:latin typeface="Calibri" pitchFamily="34" charset="0"/>
                <a:ea typeface="Calibri" pitchFamily="34" charset="-122"/>
                <a:cs typeface="Calibri" pitchFamily="34" charset="-120"/>
              </a:rPr>
              <a:t>SILVER</a:t>
            </a:r>
            <a:endParaRPr lang="en-US" sz="1500" dirty="0"/>
          </a:p>
        </p:txBody>
      </p:sp>
      <p:sp>
        <p:nvSpPr>
          <p:cNvPr id="13" name="Text 11"/>
          <p:cNvSpPr/>
          <p:nvPr/>
        </p:nvSpPr>
        <p:spPr>
          <a:xfrm>
            <a:off x="2468880" y="2536088"/>
            <a:ext cx="1645920" cy="274320"/>
          </a:xfrm>
          <a:prstGeom prst="rect">
            <a:avLst/>
          </a:prstGeom>
          <a:noFill/>
          <a:ln/>
        </p:spPr>
        <p:txBody>
          <a:bodyPr wrap="square" rtlCol="0" anchor="ctr"/>
          <a:lstStyle/>
          <a:p>
            <a:pPr algn="ctr" indent="0" marL="0">
              <a:buNone/>
            </a:pPr>
            <a:r>
              <a:rPr lang="en-US" sz="1000" i="1" dirty="0">
                <a:solidFill>
                  <a:srgbClr val="97A3BE"/>
                </a:solidFill>
                <a:latin typeface="Calibri" pitchFamily="34" charset="0"/>
                <a:ea typeface="Calibri" pitchFamily="34" charset="-122"/>
                <a:cs typeface="Calibri" pitchFamily="34" charset="-120"/>
              </a:rPr>
              <a:t>Middle tier</a:t>
            </a:r>
            <a:endParaRPr lang="en-US" sz="1000" dirty="0"/>
          </a:p>
        </p:txBody>
      </p:sp>
      <p:sp>
        <p:nvSpPr>
          <p:cNvPr id="14" name="Text 12"/>
          <p:cNvSpPr/>
          <p:nvPr/>
        </p:nvSpPr>
        <p:spPr>
          <a:xfrm>
            <a:off x="2606040" y="2883560"/>
            <a:ext cx="1371600" cy="1002640"/>
          </a:xfrm>
          <a:prstGeom prst="rect">
            <a:avLst/>
          </a:prstGeom>
          <a:noFill/>
          <a:ln/>
        </p:spPr>
        <p:txBody>
          <a:bodyPr wrap="square" rtlCol="0" anchor="t"/>
          <a:lstStyle/>
          <a:p>
            <a:pPr algn="ctr" indent="0" marL="0">
              <a:lnSpc>
                <a:spcPct val="115000"/>
              </a:lnSpc>
              <a:buNone/>
            </a:pPr>
            <a:r>
              <a:rPr lang="en-US" sz="1050" dirty="0">
                <a:solidFill>
                  <a:srgbClr val="F3F6FB"/>
                </a:solidFill>
                <a:latin typeface="Calibri" pitchFamily="34" charset="0"/>
                <a:ea typeface="Calibri" pitchFamily="34" charset="-122"/>
                <a:cs typeface="Calibri" pitchFamily="34" charset="-120"/>
              </a:rPr>
              <a:t>Intermediate</a:t>
            </a:r>
            <a:endParaRPr lang="en-US" sz="1050" dirty="0"/>
          </a:p>
          <a:p>
            <a:pPr algn="ctr" indent="0" marL="0">
              <a:lnSpc>
                <a:spcPct val="115000"/>
              </a:lnSpc>
              <a:buNone/>
            </a:pPr>
            <a:r>
              <a:rPr lang="en-US" sz="1050" dirty="0">
                <a:solidFill>
                  <a:srgbClr val="F3F6FB"/>
                </a:solidFill>
                <a:latin typeface="Calibri" pitchFamily="34" charset="0"/>
                <a:ea typeface="Calibri" pitchFamily="34" charset="-122"/>
                <a:cs typeface="Calibri" pitchFamily="34" charset="-120"/>
              </a:rPr>
              <a:t>premium/coverage.</a:t>
            </a:r>
            <a:endParaRPr lang="en-US" sz="1050" dirty="0"/>
          </a:p>
        </p:txBody>
      </p:sp>
      <p:sp>
        <p:nvSpPr>
          <p:cNvPr id="15" name="Shape 13"/>
          <p:cNvSpPr/>
          <p:nvPr/>
        </p:nvSpPr>
        <p:spPr>
          <a:xfrm>
            <a:off x="4480560" y="1600200"/>
            <a:ext cx="1645920" cy="2423160"/>
          </a:xfrm>
          <a:prstGeom prst="roundRect">
            <a:avLst>
              <a:gd name="adj" fmla="val 4444"/>
            </a:avLst>
          </a:prstGeom>
          <a:solidFill>
            <a:srgbClr val="3D3117"/>
          </a:solidFill>
          <a:ln w="19050">
            <a:solidFill>
              <a:srgbClr val="F5B942"/>
            </a:solidFill>
            <a:prstDash val="solid"/>
          </a:ln>
          <a:effectLst>
            <a:outerShdw sx="100000" sy="100000" kx="0" ky="0" algn="bl" rotWithShape="0" blurRad="101600" dist="38100" dir="5400000">
              <a:srgbClr val="000000">
                <a:alpha val="45000"/>
              </a:srgbClr>
            </a:outerShdw>
          </a:effectLst>
        </p:spPr>
      </p:sp>
      <p:sp>
        <p:nvSpPr>
          <p:cNvPr id="16" name="Text 14"/>
          <p:cNvSpPr/>
          <p:nvPr/>
        </p:nvSpPr>
        <p:spPr>
          <a:xfrm>
            <a:off x="4480560" y="1728216"/>
            <a:ext cx="1645920" cy="365760"/>
          </a:xfrm>
          <a:prstGeom prst="rect">
            <a:avLst/>
          </a:prstGeom>
          <a:noFill/>
          <a:ln/>
        </p:spPr>
        <p:txBody>
          <a:bodyPr wrap="square" rtlCol="0" anchor="ctr"/>
          <a:lstStyle/>
          <a:p>
            <a:pPr algn="ctr" indent="0" marL="0">
              <a:buNone/>
            </a:pPr>
            <a:r>
              <a:rPr lang="en-US" sz="1500" b="1" dirty="0">
                <a:solidFill>
                  <a:srgbClr val="F5B942"/>
                </a:solidFill>
                <a:latin typeface="Calibri" pitchFamily="34" charset="0"/>
                <a:ea typeface="Calibri" pitchFamily="34" charset="-122"/>
                <a:cs typeface="Calibri" pitchFamily="34" charset="-120"/>
              </a:rPr>
              <a:t>GOLD</a:t>
            </a:r>
            <a:endParaRPr lang="en-US" sz="1500" dirty="0"/>
          </a:p>
        </p:txBody>
      </p:sp>
      <p:sp>
        <p:nvSpPr>
          <p:cNvPr id="17" name="Text 15"/>
          <p:cNvSpPr/>
          <p:nvPr/>
        </p:nvSpPr>
        <p:spPr>
          <a:xfrm>
            <a:off x="4480560" y="2075688"/>
            <a:ext cx="1645920" cy="274320"/>
          </a:xfrm>
          <a:prstGeom prst="rect">
            <a:avLst/>
          </a:prstGeom>
          <a:noFill/>
          <a:ln/>
        </p:spPr>
        <p:txBody>
          <a:bodyPr wrap="square" rtlCol="0" anchor="ctr"/>
          <a:lstStyle/>
          <a:p>
            <a:pPr algn="ctr" indent="0" marL="0">
              <a:buNone/>
            </a:pPr>
            <a:r>
              <a:rPr lang="en-US" sz="1000" i="1" dirty="0">
                <a:solidFill>
                  <a:srgbClr val="97A3BE"/>
                </a:solidFill>
                <a:latin typeface="Calibri" pitchFamily="34" charset="0"/>
                <a:ea typeface="Calibri" pitchFamily="34" charset="-122"/>
                <a:cs typeface="Calibri" pitchFamily="34" charset="-120"/>
              </a:rPr>
              <a:t>Higher tier</a:t>
            </a:r>
            <a:endParaRPr lang="en-US" sz="1000" dirty="0"/>
          </a:p>
        </p:txBody>
      </p:sp>
      <p:sp>
        <p:nvSpPr>
          <p:cNvPr id="18" name="Text 16"/>
          <p:cNvSpPr/>
          <p:nvPr/>
        </p:nvSpPr>
        <p:spPr>
          <a:xfrm>
            <a:off x="4617720" y="2423160"/>
            <a:ext cx="1371600" cy="1463040"/>
          </a:xfrm>
          <a:prstGeom prst="rect">
            <a:avLst/>
          </a:prstGeom>
          <a:noFill/>
          <a:ln/>
        </p:spPr>
        <p:txBody>
          <a:bodyPr wrap="square" rtlCol="0" anchor="t"/>
          <a:lstStyle/>
          <a:p>
            <a:pPr algn="ctr" indent="0" marL="0">
              <a:lnSpc>
                <a:spcPct val="115000"/>
              </a:lnSpc>
              <a:buNone/>
            </a:pPr>
            <a:r>
              <a:rPr lang="en-US" sz="1050" dirty="0">
                <a:solidFill>
                  <a:srgbClr val="F3F6FB"/>
                </a:solidFill>
                <a:latin typeface="Calibri" pitchFamily="34" charset="0"/>
                <a:ea typeface="Calibri" pitchFamily="34" charset="-122"/>
                <a:cs typeface="Calibri" pitchFamily="34" charset="-120"/>
              </a:rPr>
              <a:t>Higher premium.</a:t>
            </a:r>
            <a:endParaRPr lang="en-US" sz="1050" dirty="0"/>
          </a:p>
          <a:p>
            <a:pPr algn="ctr" indent="0" marL="0">
              <a:lnSpc>
                <a:spcPct val="115000"/>
              </a:lnSpc>
              <a:buNone/>
            </a:pPr>
            <a:r>
              <a:rPr lang="en-US" sz="1050" dirty="0">
                <a:solidFill>
                  <a:srgbClr val="F3F6FB"/>
                </a:solidFill>
                <a:latin typeface="Calibri" pitchFamily="34" charset="0"/>
                <a:ea typeface="Calibri" pitchFamily="34" charset="-122"/>
                <a:cs typeface="Calibri" pitchFamily="34" charset="-120"/>
              </a:rPr>
              <a:t>Broader coverage.</a:t>
            </a:r>
            <a:endParaRPr lang="en-US" sz="1050" dirty="0"/>
          </a:p>
        </p:txBody>
      </p:sp>
      <p:sp>
        <p:nvSpPr>
          <p:cNvPr id="19" name="Shape 17"/>
          <p:cNvSpPr/>
          <p:nvPr/>
        </p:nvSpPr>
        <p:spPr>
          <a:xfrm>
            <a:off x="457200" y="4160520"/>
            <a:ext cx="5669280" cy="548640"/>
          </a:xfrm>
          <a:prstGeom prst="roundRect">
            <a:avLst>
              <a:gd name="adj" fmla="val 13333"/>
            </a:avLst>
          </a:prstGeom>
          <a:solidFill>
            <a:srgbClr val="101A30"/>
          </a:solidFill>
          <a:ln w="12700">
            <a:solidFill>
              <a:srgbClr val="2DD4BF"/>
            </a:solidFill>
            <a:prstDash val="solid"/>
          </a:ln>
        </p:spPr>
      </p:sp>
      <p:sp>
        <p:nvSpPr>
          <p:cNvPr id="20" name="Text 18"/>
          <p:cNvSpPr/>
          <p:nvPr/>
        </p:nvSpPr>
        <p:spPr>
          <a:xfrm>
            <a:off x="640080" y="4160520"/>
            <a:ext cx="5394960" cy="548640"/>
          </a:xfrm>
          <a:prstGeom prst="rect">
            <a:avLst/>
          </a:prstGeom>
          <a:noFill/>
          <a:ln/>
        </p:spPr>
        <p:txBody>
          <a:bodyPr wrap="square" rtlCol="0" anchor="ctr"/>
          <a:lstStyle/>
          <a:p>
            <a:pPr indent="0" marL="0">
              <a:buNone/>
            </a:pPr>
            <a:r>
              <a:rPr lang="en-US" sz="1050" i="1" dirty="0">
                <a:solidFill>
                  <a:srgbClr val="97A3BE"/>
                </a:solidFill>
                <a:latin typeface="Calibri" pitchFamily="34" charset="0"/>
                <a:ea typeface="Calibri" pitchFamily="34" charset="-122"/>
                <a:cs typeface="Calibri" pitchFamily="34" charset="-120"/>
              </a:rPr>
              <a:t>Validate that Bronze, Silver and Gold return the expected premium and coverage according to the requirement.</a:t>
            </a:r>
            <a:endParaRPr lang="en-US" sz="1050" dirty="0"/>
          </a:p>
        </p:txBody>
      </p:sp>
      <p:sp>
        <p:nvSpPr>
          <p:cNvPr id="21" name="Shape 19"/>
          <p:cNvSpPr/>
          <p:nvPr/>
        </p:nvSpPr>
        <p:spPr>
          <a:xfrm>
            <a:off x="6309360" y="1600200"/>
            <a:ext cx="5394960" cy="3108960"/>
          </a:xfrm>
          <a:prstGeom prst="roundRect">
            <a:avLst>
              <a:gd name="adj" fmla="val 2353"/>
            </a:avLst>
          </a:prstGeom>
          <a:solidFill>
            <a:srgbClr val="101A30"/>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2" name="Text 20"/>
          <p:cNvSpPr/>
          <p:nvPr/>
        </p:nvSpPr>
        <p:spPr>
          <a:xfrm>
            <a:off x="6537960" y="1755648"/>
            <a:ext cx="4937760" cy="292608"/>
          </a:xfrm>
          <a:prstGeom prst="rect">
            <a:avLst/>
          </a:prstGeom>
          <a:noFill/>
          <a:ln/>
        </p:spPr>
        <p:txBody>
          <a:bodyPr wrap="square" rtlCol="0" anchor="ctr"/>
          <a:lstStyle/>
          <a:p>
            <a:pPr indent="0" marL="0">
              <a:buNone/>
            </a:pPr>
            <a:r>
              <a:rPr lang="en-US" sz="1200" b="1" spc="100" kern="0" dirty="0">
                <a:solidFill>
                  <a:srgbClr val="2DD4BF"/>
                </a:solidFill>
                <a:latin typeface="Calibri" pitchFamily="34" charset="0"/>
                <a:ea typeface="Calibri" pitchFamily="34" charset="-122"/>
                <a:cs typeface="Calibri" pitchFamily="34" charset="-120"/>
              </a:rPr>
              <a:t>CHANNEL VALIDATION</a:t>
            </a:r>
            <a:endParaRPr lang="en-US" sz="1200" dirty="0"/>
          </a:p>
        </p:txBody>
      </p:sp>
      <p:sp>
        <p:nvSpPr>
          <p:cNvPr id="23" name="Shape 21"/>
          <p:cNvSpPr/>
          <p:nvPr/>
        </p:nvSpPr>
        <p:spPr>
          <a:xfrm>
            <a:off x="6675120" y="2231136"/>
            <a:ext cx="566928" cy="566928"/>
          </a:xfrm>
          <a:prstGeom prst="ellipse">
            <a:avLst/>
          </a:prstGeom>
          <a:solidFill>
            <a:srgbClr val="101A30"/>
          </a:solidFill>
          <a:ln w="19050">
            <a:solidFill>
              <a:srgbClr val="2DD4BF"/>
            </a:solidFill>
            <a:prstDash val="solid"/>
          </a:ln>
        </p:spPr>
      </p:sp>
      <p:sp>
        <p:nvSpPr>
          <p:cNvPr id="24" name="Text 22"/>
          <p:cNvSpPr/>
          <p:nvPr/>
        </p:nvSpPr>
        <p:spPr>
          <a:xfrm>
            <a:off x="6675120" y="2231136"/>
            <a:ext cx="566928" cy="566928"/>
          </a:xfrm>
          <a:prstGeom prst="rect">
            <a:avLst/>
          </a:prstGeom>
          <a:noFill/>
          <a:ln/>
        </p:spPr>
        <p:txBody>
          <a:bodyPr wrap="square" rtlCol="0" anchor="ctr"/>
          <a:lstStyle/>
          <a:p>
            <a:pPr algn="ctr" indent="0" marL="0">
              <a:buNone/>
            </a:pPr>
            <a:r>
              <a:rPr lang="en-US" sz="1612" b="1" dirty="0">
                <a:solidFill>
                  <a:srgbClr val="2DD4BF"/>
                </a:solidFill>
                <a:latin typeface="Calibri" pitchFamily="34" charset="0"/>
                <a:ea typeface="Calibri" pitchFamily="34" charset="-122"/>
                <a:cs typeface="Calibri" pitchFamily="34" charset="-120"/>
              </a:rPr>
              <a:t>W</a:t>
            </a:r>
            <a:endParaRPr lang="en-US" sz="1612" dirty="0"/>
          </a:p>
        </p:txBody>
      </p:sp>
      <p:sp>
        <p:nvSpPr>
          <p:cNvPr id="25" name="Text 23"/>
          <p:cNvSpPr/>
          <p:nvPr/>
        </p:nvSpPr>
        <p:spPr>
          <a:xfrm>
            <a:off x="6409944" y="2852928"/>
            <a:ext cx="1097280" cy="274320"/>
          </a:xfrm>
          <a:prstGeom prst="rect">
            <a:avLst/>
          </a:prstGeom>
          <a:noFill/>
          <a:ln/>
        </p:spPr>
        <p:txBody>
          <a:bodyPr wrap="square" rtlCol="0" anchor="ctr"/>
          <a:lstStyle/>
          <a:p>
            <a:pPr algn="ctr" indent="0" marL="0">
              <a:buNone/>
            </a:pPr>
            <a:r>
              <a:rPr lang="en-US" sz="950" dirty="0">
                <a:solidFill>
                  <a:srgbClr val="F3F6FB"/>
                </a:solidFill>
                <a:latin typeface="Calibri" pitchFamily="34" charset="0"/>
                <a:ea typeface="Calibri" pitchFamily="34" charset="-122"/>
                <a:cs typeface="Calibri" pitchFamily="34" charset="-120"/>
              </a:rPr>
              <a:t>Web</a:t>
            </a:r>
            <a:endParaRPr lang="en-US" sz="950" dirty="0"/>
          </a:p>
        </p:txBody>
      </p:sp>
      <p:sp>
        <p:nvSpPr>
          <p:cNvPr id="26" name="Shape 24"/>
          <p:cNvSpPr/>
          <p:nvPr/>
        </p:nvSpPr>
        <p:spPr>
          <a:xfrm>
            <a:off x="7699248" y="2231136"/>
            <a:ext cx="566928" cy="566928"/>
          </a:xfrm>
          <a:prstGeom prst="ellipse">
            <a:avLst/>
          </a:prstGeom>
          <a:solidFill>
            <a:srgbClr val="101A30"/>
          </a:solidFill>
          <a:ln w="19050">
            <a:solidFill>
              <a:srgbClr val="2DD4BF"/>
            </a:solidFill>
            <a:prstDash val="solid"/>
          </a:ln>
        </p:spPr>
      </p:sp>
      <p:sp>
        <p:nvSpPr>
          <p:cNvPr id="27" name="Text 25"/>
          <p:cNvSpPr/>
          <p:nvPr/>
        </p:nvSpPr>
        <p:spPr>
          <a:xfrm>
            <a:off x="7699248" y="2231136"/>
            <a:ext cx="566928" cy="566928"/>
          </a:xfrm>
          <a:prstGeom prst="rect">
            <a:avLst/>
          </a:prstGeom>
          <a:noFill/>
          <a:ln/>
        </p:spPr>
        <p:txBody>
          <a:bodyPr wrap="square" rtlCol="0" anchor="ctr"/>
          <a:lstStyle/>
          <a:p>
            <a:pPr algn="ctr" indent="0" marL="0">
              <a:buNone/>
            </a:pPr>
            <a:r>
              <a:rPr lang="en-US" sz="1612" b="1" dirty="0">
                <a:solidFill>
                  <a:srgbClr val="2DD4BF"/>
                </a:solidFill>
                <a:latin typeface="Calibri" pitchFamily="34" charset="0"/>
                <a:ea typeface="Calibri" pitchFamily="34" charset="-122"/>
                <a:cs typeface="Calibri" pitchFamily="34" charset="-120"/>
              </a:rPr>
              <a:t>M</a:t>
            </a:r>
            <a:endParaRPr lang="en-US" sz="1612" dirty="0"/>
          </a:p>
        </p:txBody>
      </p:sp>
      <p:sp>
        <p:nvSpPr>
          <p:cNvPr id="28" name="Text 26"/>
          <p:cNvSpPr/>
          <p:nvPr/>
        </p:nvSpPr>
        <p:spPr>
          <a:xfrm>
            <a:off x="7434072" y="2852928"/>
            <a:ext cx="1097280" cy="274320"/>
          </a:xfrm>
          <a:prstGeom prst="rect">
            <a:avLst/>
          </a:prstGeom>
          <a:noFill/>
          <a:ln/>
        </p:spPr>
        <p:txBody>
          <a:bodyPr wrap="square" rtlCol="0" anchor="ctr"/>
          <a:lstStyle/>
          <a:p>
            <a:pPr algn="ctr" indent="0" marL="0">
              <a:buNone/>
            </a:pPr>
            <a:r>
              <a:rPr lang="en-US" sz="950" dirty="0">
                <a:solidFill>
                  <a:srgbClr val="F3F6FB"/>
                </a:solidFill>
                <a:latin typeface="Calibri" pitchFamily="34" charset="0"/>
                <a:ea typeface="Calibri" pitchFamily="34" charset="-122"/>
                <a:cs typeface="Calibri" pitchFamily="34" charset="-120"/>
              </a:rPr>
              <a:t>MSM</a:t>
            </a:r>
            <a:endParaRPr lang="en-US" sz="950" dirty="0"/>
          </a:p>
        </p:txBody>
      </p:sp>
      <p:sp>
        <p:nvSpPr>
          <p:cNvPr id="29" name="Shape 27"/>
          <p:cNvSpPr/>
          <p:nvPr/>
        </p:nvSpPr>
        <p:spPr>
          <a:xfrm>
            <a:off x="8723376" y="2231136"/>
            <a:ext cx="566928" cy="566928"/>
          </a:xfrm>
          <a:prstGeom prst="ellipse">
            <a:avLst/>
          </a:prstGeom>
          <a:solidFill>
            <a:srgbClr val="101A30"/>
          </a:solidFill>
          <a:ln w="19050">
            <a:solidFill>
              <a:srgbClr val="2DD4BF"/>
            </a:solidFill>
            <a:prstDash val="solid"/>
          </a:ln>
        </p:spPr>
      </p:sp>
      <p:sp>
        <p:nvSpPr>
          <p:cNvPr id="30" name="Text 28"/>
          <p:cNvSpPr/>
          <p:nvPr/>
        </p:nvSpPr>
        <p:spPr>
          <a:xfrm>
            <a:off x="8723376" y="2231136"/>
            <a:ext cx="566928" cy="566928"/>
          </a:xfrm>
          <a:prstGeom prst="rect">
            <a:avLst/>
          </a:prstGeom>
          <a:noFill/>
          <a:ln/>
        </p:spPr>
        <p:txBody>
          <a:bodyPr wrap="square" rtlCol="0" anchor="ctr"/>
          <a:lstStyle/>
          <a:p>
            <a:pPr algn="ctr" indent="0" marL="0">
              <a:buNone/>
            </a:pPr>
            <a:r>
              <a:rPr lang="en-US" sz="1612" b="1" dirty="0">
                <a:solidFill>
                  <a:srgbClr val="2DD4BF"/>
                </a:solidFill>
                <a:latin typeface="Calibri" pitchFamily="34" charset="0"/>
                <a:ea typeface="Calibri" pitchFamily="34" charset="-122"/>
                <a:cs typeface="Calibri" pitchFamily="34" charset="-120"/>
              </a:rPr>
              <a:t>C</a:t>
            </a:r>
            <a:endParaRPr lang="en-US" sz="1612" dirty="0"/>
          </a:p>
        </p:txBody>
      </p:sp>
      <p:sp>
        <p:nvSpPr>
          <p:cNvPr id="31" name="Text 29"/>
          <p:cNvSpPr/>
          <p:nvPr/>
        </p:nvSpPr>
        <p:spPr>
          <a:xfrm>
            <a:off x="8458200" y="2852928"/>
            <a:ext cx="1097280" cy="274320"/>
          </a:xfrm>
          <a:prstGeom prst="rect">
            <a:avLst/>
          </a:prstGeom>
          <a:noFill/>
          <a:ln/>
        </p:spPr>
        <p:txBody>
          <a:bodyPr wrap="square" rtlCol="0" anchor="ctr"/>
          <a:lstStyle/>
          <a:p>
            <a:pPr algn="ctr" indent="0" marL="0">
              <a:buNone/>
            </a:pPr>
            <a:r>
              <a:rPr lang="en-US" sz="950" dirty="0">
                <a:solidFill>
                  <a:srgbClr val="F3F6FB"/>
                </a:solidFill>
                <a:latin typeface="Calibri" pitchFamily="34" charset="0"/>
                <a:ea typeface="Calibri" pitchFamily="34" charset="-122"/>
                <a:cs typeface="Calibri" pitchFamily="34" charset="-120"/>
              </a:rPr>
              <a:t>CTM</a:t>
            </a:r>
            <a:endParaRPr lang="en-US" sz="950" dirty="0"/>
          </a:p>
        </p:txBody>
      </p:sp>
      <p:sp>
        <p:nvSpPr>
          <p:cNvPr id="32" name="Shape 30"/>
          <p:cNvSpPr/>
          <p:nvPr/>
        </p:nvSpPr>
        <p:spPr>
          <a:xfrm>
            <a:off x="9747504" y="2231136"/>
            <a:ext cx="566928" cy="566928"/>
          </a:xfrm>
          <a:prstGeom prst="ellipse">
            <a:avLst/>
          </a:prstGeom>
          <a:solidFill>
            <a:srgbClr val="101A30"/>
          </a:solidFill>
          <a:ln w="19050">
            <a:solidFill>
              <a:srgbClr val="2DD4BF"/>
            </a:solidFill>
            <a:prstDash val="solid"/>
          </a:ln>
        </p:spPr>
      </p:sp>
      <p:sp>
        <p:nvSpPr>
          <p:cNvPr id="33" name="Text 31"/>
          <p:cNvSpPr/>
          <p:nvPr/>
        </p:nvSpPr>
        <p:spPr>
          <a:xfrm>
            <a:off x="9747504" y="2231136"/>
            <a:ext cx="566928" cy="566928"/>
          </a:xfrm>
          <a:prstGeom prst="rect">
            <a:avLst/>
          </a:prstGeom>
          <a:noFill/>
          <a:ln/>
        </p:spPr>
        <p:txBody>
          <a:bodyPr wrap="square" rtlCol="0" anchor="ctr"/>
          <a:lstStyle/>
          <a:p>
            <a:pPr algn="ctr" indent="0" marL="0">
              <a:buNone/>
            </a:pPr>
            <a:r>
              <a:rPr lang="en-US" sz="1612" b="1" dirty="0">
                <a:solidFill>
                  <a:srgbClr val="2DD4BF"/>
                </a:solidFill>
                <a:latin typeface="Calibri" pitchFamily="34" charset="0"/>
                <a:ea typeface="Calibri" pitchFamily="34" charset="-122"/>
                <a:cs typeface="Calibri" pitchFamily="34" charset="-120"/>
              </a:rPr>
              <a:t>G</a:t>
            </a:r>
            <a:endParaRPr lang="en-US" sz="1612" dirty="0"/>
          </a:p>
        </p:txBody>
      </p:sp>
      <p:sp>
        <p:nvSpPr>
          <p:cNvPr id="34" name="Text 32"/>
          <p:cNvSpPr/>
          <p:nvPr/>
        </p:nvSpPr>
        <p:spPr>
          <a:xfrm>
            <a:off x="9482328" y="2852928"/>
            <a:ext cx="1097280" cy="274320"/>
          </a:xfrm>
          <a:prstGeom prst="rect">
            <a:avLst/>
          </a:prstGeom>
          <a:noFill/>
          <a:ln/>
        </p:spPr>
        <p:txBody>
          <a:bodyPr wrap="square" rtlCol="0" anchor="ctr"/>
          <a:lstStyle/>
          <a:p>
            <a:pPr algn="ctr" indent="0" marL="0">
              <a:buNone/>
            </a:pPr>
            <a:r>
              <a:rPr lang="en-US" sz="950" dirty="0">
                <a:solidFill>
                  <a:srgbClr val="F3F6FB"/>
                </a:solidFill>
                <a:latin typeface="Calibri" pitchFamily="34" charset="0"/>
                <a:ea typeface="Calibri" pitchFamily="34" charset="-122"/>
                <a:cs typeface="Calibri" pitchFamily="34" charset="-120"/>
              </a:rPr>
              <a:t>GOC</a:t>
            </a:r>
            <a:endParaRPr lang="en-US" sz="950" dirty="0"/>
          </a:p>
        </p:txBody>
      </p:sp>
      <p:sp>
        <p:nvSpPr>
          <p:cNvPr id="35" name="Shape 33"/>
          <p:cNvSpPr/>
          <p:nvPr/>
        </p:nvSpPr>
        <p:spPr>
          <a:xfrm>
            <a:off x="10771632" y="2231136"/>
            <a:ext cx="566928" cy="566928"/>
          </a:xfrm>
          <a:prstGeom prst="ellipse">
            <a:avLst/>
          </a:prstGeom>
          <a:solidFill>
            <a:srgbClr val="101A30"/>
          </a:solidFill>
          <a:ln w="19050">
            <a:solidFill>
              <a:srgbClr val="2DD4BF"/>
            </a:solidFill>
            <a:prstDash val="solid"/>
          </a:ln>
        </p:spPr>
      </p:sp>
      <p:sp>
        <p:nvSpPr>
          <p:cNvPr id="36" name="Text 34"/>
          <p:cNvSpPr/>
          <p:nvPr/>
        </p:nvSpPr>
        <p:spPr>
          <a:xfrm>
            <a:off x="10771632" y="2231136"/>
            <a:ext cx="566928" cy="566928"/>
          </a:xfrm>
          <a:prstGeom prst="rect">
            <a:avLst/>
          </a:prstGeom>
          <a:noFill/>
          <a:ln/>
        </p:spPr>
        <p:txBody>
          <a:bodyPr wrap="square" rtlCol="0" anchor="ctr"/>
          <a:lstStyle/>
          <a:p>
            <a:pPr algn="ctr" indent="0" marL="0">
              <a:buNone/>
            </a:pPr>
            <a:r>
              <a:rPr lang="en-US" sz="1612" b="1" dirty="0">
                <a:solidFill>
                  <a:srgbClr val="2DD4BF"/>
                </a:solidFill>
                <a:latin typeface="Calibri" pitchFamily="34" charset="0"/>
                <a:ea typeface="Calibri" pitchFamily="34" charset="-122"/>
                <a:cs typeface="Calibri" pitchFamily="34" charset="-120"/>
              </a:rPr>
              <a:t>C</a:t>
            </a:r>
            <a:endParaRPr lang="en-US" sz="1612" dirty="0"/>
          </a:p>
        </p:txBody>
      </p:sp>
      <p:sp>
        <p:nvSpPr>
          <p:cNvPr id="37" name="Text 35"/>
          <p:cNvSpPr/>
          <p:nvPr/>
        </p:nvSpPr>
        <p:spPr>
          <a:xfrm>
            <a:off x="10506456" y="2852928"/>
            <a:ext cx="1097280" cy="274320"/>
          </a:xfrm>
          <a:prstGeom prst="rect">
            <a:avLst/>
          </a:prstGeom>
          <a:noFill/>
          <a:ln/>
        </p:spPr>
        <p:txBody>
          <a:bodyPr wrap="square" rtlCol="0" anchor="ctr"/>
          <a:lstStyle/>
          <a:p>
            <a:pPr algn="ctr" indent="0" marL="0">
              <a:buNone/>
            </a:pPr>
            <a:r>
              <a:rPr lang="en-US" sz="950" dirty="0">
                <a:solidFill>
                  <a:srgbClr val="F3F6FB"/>
                </a:solidFill>
                <a:latin typeface="Calibri" pitchFamily="34" charset="0"/>
                <a:ea typeface="Calibri" pitchFamily="34" charset="-122"/>
                <a:cs typeface="Calibri" pitchFamily="34" charset="-120"/>
              </a:rPr>
              <a:t>CNF</a:t>
            </a:r>
            <a:endParaRPr lang="en-US" sz="950" dirty="0"/>
          </a:p>
        </p:txBody>
      </p:sp>
      <p:sp>
        <p:nvSpPr>
          <p:cNvPr id="38" name="Text 36"/>
          <p:cNvSpPr/>
          <p:nvPr/>
        </p:nvSpPr>
        <p:spPr>
          <a:xfrm>
            <a:off x="6537960" y="3337560"/>
            <a:ext cx="4937760" cy="1005840"/>
          </a:xfrm>
          <a:prstGeom prst="rect">
            <a:avLst/>
          </a:prstGeom>
          <a:noFill/>
          <a:ln/>
        </p:spPr>
        <p:txBody>
          <a:bodyPr wrap="square" rtlCol="0" anchor="t"/>
          <a:lstStyle/>
          <a:p>
            <a:pPr indent="0" marL="0">
              <a:buNone/>
            </a:pPr>
            <a:r>
              <a:rPr lang="en-US" sz="1100" i="1" dirty="0">
                <a:solidFill>
                  <a:srgbClr val="97A3BE"/>
                </a:solidFill>
                <a:latin typeface="Calibri" pitchFamily="34" charset="0"/>
                <a:ea typeface="Calibri" pitchFamily="34" charset="-122"/>
                <a:cs typeface="Calibri" pitchFamily="34" charset="-120"/>
              </a:rPr>
              <a:t>Same requirement validated across every channel.</a:t>
            </a:r>
            <a:endParaRPr lang="en-US" sz="1100" dirty="0"/>
          </a:p>
        </p:txBody>
      </p:sp>
      <p:sp>
        <p:nvSpPr>
          <p:cNvPr id="39" name="Shape 37"/>
          <p:cNvSpPr/>
          <p:nvPr/>
        </p:nvSpPr>
        <p:spPr>
          <a:xfrm>
            <a:off x="457200" y="4709160"/>
            <a:ext cx="11247120" cy="1371600"/>
          </a:xfrm>
          <a:prstGeom prst="roundRect">
            <a:avLst>
              <a:gd name="adj" fmla="val 5333"/>
            </a:avLst>
          </a:prstGeom>
          <a:solidFill>
            <a:srgbClr val="3D3117"/>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40" name="Text 38"/>
          <p:cNvSpPr/>
          <p:nvPr/>
        </p:nvSpPr>
        <p:spPr>
          <a:xfrm>
            <a:off x="685800" y="4709160"/>
            <a:ext cx="10789920" cy="1371600"/>
          </a:xfrm>
          <a:prstGeom prst="rect">
            <a:avLst/>
          </a:prstGeom>
          <a:noFill/>
          <a:ln/>
        </p:spPr>
        <p:txBody>
          <a:bodyPr wrap="square" rtlCol="0" anchor="ctr"/>
          <a:lstStyle/>
          <a:p>
            <a:pPr algn="ctr" indent="0" marL="0">
              <a:buNone/>
            </a:pPr>
            <a:r>
              <a:rPr lang="en-US" sz="1500" b="1" dirty="0">
                <a:solidFill>
                  <a:srgbClr val="F5B942"/>
                </a:solidFill>
                <a:latin typeface="Cambria" pitchFamily="34" charset="0"/>
                <a:ea typeface="Cambria" pitchFamily="34" charset="-122"/>
                <a:cs typeface="Cambria" pitchFamily="34" charset="-120"/>
              </a:rPr>
              <a:t>Home Pricing  →  Bronze + Silver + Gold  →  Channel Validation  →  Final Result</a:t>
            </a:r>
            <a:endParaRPr lang="en-US" sz="1500" dirty="0"/>
          </a:p>
        </p:txBody>
      </p:sp>
      <p:sp>
        <p:nvSpPr>
          <p:cNvPr id="41" name="Text 39"/>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42" name="Text 40"/>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43" name="Text 41"/>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2DD4BF">
              <a:alpha val="12000"/>
            </a:srgbClr>
          </a:solidFill>
          <a:ln/>
        </p:spPr>
      </p:sp>
      <p:sp>
        <p:nvSpPr>
          <p:cNvPr id="3" name="Shape 1"/>
          <p:cNvSpPr/>
          <p:nvPr/>
        </p:nvSpPr>
        <p:spPr>
          <a:xfrm>
            <a:off x="-1280160" y="6035040"/>
            <a:ext cx="2377440" cy="2377440"/>
          </a:xfrm>
          <a:prstGeom prst="ellipse">
            <a:avLst/>
          </a:prstGeom>
          <a:solidFill>
            <a:srgbClr val="2DD4BF">
              <a:alpha val="8000"/>
            </a:srgbClr>
          </a:solidFill>
          <a:ln/>
        </p:spPr>
      </p:sp>
      <p:sp>
        <p:nvSpPr>
          <p:cNvPr id="4" name="Shape 2"/>
          <p:cNvSpPr/>
          <p:nvPr/>
        </p:nvSpPr>
        <p:spPr>
          <a:xfrm>
            <a:off x="457200" y="384048"/>
            <a:ext cx="146304" cy="146304"/>
          </a:xfrm>
          <a:prstGeom prst="roundRect">
            <a:avLst>
              <a:gd name="adj" fmla="val 50000"/>
            </a:avLst>
          </a:prstGeom>
          <a:solidFill>
            <a:srgbClr val="2DD4BF"/>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2DD4BF"/>
                </a:solidFill>
                <a:latin typeface="Calibri" pitchFamily="34" charset="0"/>
                <a:ea typeface="Calibri" pitchFamily="34" charset="-122"/>
                <a:cs typeface="Calibri" pitchFamily="34" charset="-120"/>
              </a:rPr>
              <a:t>SECTION 02 — SUMMARY</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End-to-End Testing Flow &amp; Sign-Off</a:t>
            </a:r>
            <a:endParaRPr lang="en-US" sz="3000" dirty="0"/>
          </a:p>
        </p:txBody>
      </p:sp>
      <p:sp>
        <p:nvSpPr>
          <p:cNvPr id="7" name="Shape 5"/>
          <p:cNvSpPr/>
          <p:nvPr/>
        </p:nvSpPr>
        <p:spPr>
          <a:xfrm>
            <a:off x="457200" y="1627632"/>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594360" y="1627632"/>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User Story</a:t>
            </a:r>
            <a:endParaRPr lang="en-US" sz="1250" dirty="0"/>
          </a:p>
        </p:txBody>
      </p:sp>
      <p:sp>
        <p:nvSpPr>
          <p:cNvPr id="9" name="Shape 7"/>
          <p:cNvSpPr/>
          <p:nvPr/>
        </p:nvSpPr>
        <p:spPr>
          <a:xfrm>
            <a:off x="3154680" y="2002536"/>
            <a:ext cx="914" cy="45720"/>
          </a:xfrm>
          <a:prstGeom prst="line">
            <a:avLst/>
          </a:prstGeom>
          <a:noFill/>
          <a:ln w="25400">
            <a:solidFill>
              <a:srgbClr val="2DD4BF"/>
            </a:solidFill>
            <a:prstDash val="solid"/>
            <a:tailEnd type="triangle"/>
          </a:ln>
        </p:spPr>
      </p:sp>
      <p:sp>
        <p:nvSpPr>
          <p:cNvPr id="10" name="Shape 8"/>
          <p:cNvSpPr/>
          <p:nvPr/>
        </p:nvSpPr>
        <p:spPr>
          <a:xfrm>
            <a:off x="457200" y="2075688"/>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1" name="Text 9"/>
          <p:cNvSpPr/>
          <p:nvPr/>
        </p:nvSpPr>
        <p:spPr>
          <a:xfrm>
            <a:off x="594360" y="2075688"/>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Requirement Analysis</a:t>
            </a:r>
            <a:endParaRPr lang="en-US" sz="1250" dirty="0"/>
          </a:p>
        </p:txBody>
      </p:sp>
      <p:sp>
        <p:nvSpPr>
          <p:cNvPr id="12" name="Shape 10"/>
          <p:cNvSpPr/>
          <p:nvPr/>
        </p:nvSpPr>
        <p:spPr>
          <a:xfrm>
            <a:off x="3154680" y="2450592"/>
            <a:ext cx="914" cy="45720"/>
          </a:xfrm>
          <a:prstGeom prst="line">
            <a:avLst/>
          </a:prstGeom>
          <a:noFill/>
          <a:ln w="25400">
            <a:solidFill>
              <a:srgbClr val="2DD4BF"/>
            </a:solidFill>
            <a:prstDash val="solid"/>
            <a:tailEnd type="triangle"/>
          </a:ln>
        </p:spPr>
      </p:sp>
      <p:sp>
        <p:nvSpPr>
          <p:cNvPr id="13" name="Shape 11"/>
          <p:cNvSpPr/>
          <p:nvPr/>
        </p:nvSpPr>
        <p:spPr>
          <a:xfrm>
            <a:off x="457200" y="2523744"/>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594360" y="2523744"/>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Rate Book / Mapping Doc</a:t>
            </a:r>
            <a:endParaRPr lang="en-US" sz="1250" dirty="0"/>
          </a:p>
        </p:txBody>
      </p:sp>
      <p:sp>
        <p:nvSpPr>
          <p:cNvPr id="15" name="Shape 13"/>
          <p:cNvSpPr/>
          <p:nvPr/>
        </p:nvSpPr>
        <p:spPr>
          <a:xfrm>
            <a:off x="3154680" y="2898648"/>
            <a:ext cx="914" cy="45720"/>
          </a:xfrm>
          <a:prstGeom prst="line">
            <a:avLst/>
          </a:prstGeom>
          <a:noFill/>
          <a:ln w="25400">
            <a:solidFill>
              <a:srgbClr val="2DD4BF"/>
            </a:solidFill>
            <a:prstDash val="solid"/>
            <a:tailEnd type="triangle"/>
          </a:ln>
        </p:spPr>
      </p:sp>
      <p:sp>
        <p:nvSpPr>
          <p:cNvPr id="16" name="Shape 14"/>
          <p:cNvSpPr/>
          <p:nvPr/>
        </p:nvSpPr>
        <p:spPr>
          <a:xfrm>
            <a:off x="457200" y="2971800"/>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594360" y="2971800"/>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Test Data Preparation</a:t>
            </a:r>
            <a:endParaRPr lang="en-US" sz="1250" dirty="0"/>
          </a:p>
        </p:txBody>
      </p:sp>
      <p:sp>
        <p:nvSpPr>
          <p:cNvPr id="18" name="Shape 16"/>
          <p:cNvSpPr/>
          <p:nvPr/>
        </p:nvSpPr>
        <p:spPr>
          <a:xfrm>
            <a:off x="3154680" y="3346704"/>
            <a:ext cx="914" cy="45720"/>
          </a:xfrm>
          <a:prstGeom prst="line">
            <a:avLst/>
          </a:prstGeom>
          <a:noFill/>
          <a:ln w="25400">
            <a:solidFill>
              <a:srgbClr val="2DD4BF"/>
            </a:solidFill>
            <a:prstDash val="solid"/>
            <a:tailEnd type="triangle"/>
          </a:ln>
        </p:spPr>
      </p:sp>
      <p:sp>
        <p:nvSpPr>
          <p:cNvPr id="19" name="Shape 17"/>
          <p:cNvSpPr/>
          <p:nvPr/>
        </p:nvSpPr>
        <p:spPr>
          <a:xfrm>
            <a:off x="457200" y="3419856"/>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594360" y="3419856"/>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Athena Home Code</a:t>
            </a:r>
            <a:endParaRPr lang="en-US" sz="1250" dirty="0"/>
          </a:p>
        </p:txBody>
      </p:sp>
      <p:sp>
        <p:nvSpPr>
          <p:cNvPr id="21" name="Shape 19"/>
          <p:cNvSpPr/>
          <p:nvPr/>
        </p:nvSpPr>
        <p:spPr>
          <a:xfrm>
            <a:off x="3154680" y="3794760"/>
            <a:ext cx="914" cy="45720"/>
          </a:xfrm>
          <a:prstGeom prst="line">
            <a:avLst/>
          </a:prstGeom>
          <a:noFill/>
          <a:ln w="25400">
            <a:solidFill>
              <a:srgbClr val="2DD4BF"/>
            </a:solidFill>
            <a:prstDash val="solid"/>
            <a:tailEnd type="triangle"/>
          </a:ln>
        </p:spPr>
      </p:sp>
      <p:sp>
        <p:nvSpPr>
          <p:cNvPr id="22" name="Shape 20"/>
          <p:cNvSpPr/>
          <p:nvPr/>
        </p:nvSpPr>
        <p:spPr>
          <a:xfrm>
            <a:off x="457200" y="3867912"/>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594360" y="3867912"/>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API Test Execution</a:t>
            </a:r>
            <a:endParaRPr lang="en-US" sz="1250" dirty="0"/>
          </a:p>
        </p:txBody>
      </p:sp>
      <p:sp>
        <p:nvSpPr>
          <p:cNvPr id="24" name="Shape 22"/>
          <p:cNvSpPr/>
          <p:nvPr/>
        </p:nvSpPr>
        <p:spPr>
          <a:xfrm>
            <a:off x="3154680" y="4242816"/>
            <a:ext cx="914" cy="45720"/>
          </a:xfrm>
          <a:prstGeom prst="line">
            <a:avLst/>
          </a:prstGeom>
          <a:noFill/>
          <a:ln w="25400">
            <a:solidFill>
              <a:srgbClr val="2DD4BF"/>
            </a:solidFill>
            <a:prstDash val="solid"/>
            <a:tailEnd type="triangle"/>
          </a:ln>
        </p:spPr>
      </p:sp>
      <p:sp>
        <p:nvSpPr>
          <p:cNvPr id="25" name="Shape 23"/>
          <p:cNvSpPr/>
          <p:nvPr/>
        </p:nvSpPr>
        <p:spPr>
          <a:xfrm>
            <a:off x="457200" y="4315968"/>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594360" y="4315968"/>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Response &amp; Backend Logs</a:t>
            </a:r>
            <a:endParaRPr lang="en-US" sz="1250" dirty="0"/>
          </a:p>
        </p:txBody>
      </p:sp>
      <p:sp>
        <p:nvSpPr>
          <p:cNvPr id="27" name="Shape 25"/>
          <p:cNvSpPr/>
          <p:nvPr/>
        </p:nvSpPr>
        <p:spPr>
          <a:xfrm>
            <a:off x="3154680" y="4690872"/>
            <a:ext cx="914" cy="45720"/>
          </a:xfrm>
          <a:prstGeom prst="line">
            <a:avLst/>
          </a:prstGeom>
          <a:noFill/>
          <a:ln w="25400">
            <a:solidFill>
              <a:srgbClr val="2DD4BF"/>
            </a:solidFill>
            <a:prstDash val="solid"/>
            <a:tailEnd type="triangle"/>
          </a:ln>
        </p:spPr>
      </p:sp>
      <p:sp>
        <p:nvSpPr>
          <p:cNvPr id="28" name="Shape 26"/>
          <p:cNvSpPr/>
          <p:nvPr/>
        </p:nvSpPr>
        <p:spPr>
          <a:xfrm>
            <a:off x="457200" y="4764024"/>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29" name="Text 27"/>
          <p:cNvSpPr/>
          <p:nvPr/>
        </p:nvSpPr>
        <p:spPr>
          <a:xfrm>
            <a:off x="594360" y="4764024"/>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Validation</a:t>
            </a:r>
            <a:endParaRPr lang="en-US" sz="1250" dirty="0"/>
          </a:p>
        </p:txBody>
      </p:sp>
      <p:sp>
        <p:nvSpPr>
          <p:cNvPr id="30" name="Shape 28"/>
          <p:cNvSpPr/>
          <p:nvPr/>
        </p:nvSpPr>
        <p:spPr>
          <a:xfrm>
            <a:off x="3154680" y="5138928"/>
            <a:ext cx="914" cy="45720"/>
          </a:xfrm>
          <a:prstGeom prst="line">
            <a:avLst/>
          </a:prstGeom>
          <a:noFill/>
          <a:ln w="25400">
            <a:solidFill>
              <a:srgbClr val="2DD4BF"/>
            </a:solidFill>
            <a:prstDash val="solid"/>
            <a:tailEnd type="triangle"/>
          </a:ln>
        </p:spPr>
      </p:sp>
      <p:sp>
        <p:nvSpPr>
          <p:cNvPr id="31" name="Shape 29"/>
          <p:cNvSpPr/>
          <p:nvPr/>
        </p:nvSpPr>
        <p:spPr>
          <a:xfrm>
            <a:off x="457200" y="5212080"/>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2" name="Text 30"/>
          <p:cNvSpPr/>
          <p:nvPr/>
        </p:nvSpPr>
        <p:spPr>
          <a:xfrm>
            <a:off x="594360" y="5212080"/>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PO Review</a:t>
            </a:r>
            <a:endParaRPr lang="en-US" sz="1250" dirty="0"/>
          </a:p>
        </p:txBody>
      </p:sp>
      <p:sp>
        <p:nvSpPr>
          <p:cNvPr id="33" name="Shape 31"/>
          <p:cNvSpPr/>
          <p:nvPr/>
        </p:nvSpPr>
        <p:spPr>
          <a:xfrm>
            <a:off x="3154680" y="5586984"/>
            <a:ext cx="914" cy="45720"/>
          </a:xfrm>
          <a:prstGeom prst="line">
            <a:avLst/>
          </a:prstGeom>
          <a:noFill/>
          <a:ln w="25400">
            <a:solidFill>
              <a:srgbClr val="2DD4BF"/>
            </a:solidFill>
            <a:prstDash val="solid"/>
            <a:tailEnd type="triangle"/>
          </a:ln>
        </p:spPr>
      </p:sp>
      <p:sp>
        <p:nvSpPr>
          <p:cNvPr id="34" name="Shape 32"/>
          <p:cNvSpPr/>
          <p:nvPr/>
        </p:nvSpPr>
        <p:spPr>
          <a:xfrm>
            <a:off x="457200" y="5660136"/>
            <a:ext cx="5394960" cy="347472"/>
          </a:xfrm>
          <a:prstGeom prst="roundRect">
            <a:avLst>
              <a:gd name="adj" fmla="val 21053"/>
            </a:avLst>
          </a:prstGeom>
          <a:solidFill>
            <a:srgbClr val="141F38"/>
          </a:solidFill>
          <a:ln w="12700">
            <a:solidFill>
              <a:srgbClr val="2DD4BF"/>
            </a:solidFill>
            <a:prstDash val="solid"/>
          </a:ln>
          <a:effectLst>
            <a:outerShdw sx="100000" sy="100000" kx="0" ky="0" algn="bl" rotWithShape="0" blurRad="101600" dist="38100" dir="5400000">
              <a:srgbClr val="000000">
                <a:alpha val="45000"/>
              </a:srgbClr>
            </a:outerShdw>
          </a:effectLst>
        </p:spPr>
      </p:sp>
      <p:sp>
        <p:nvSpPr>
          <p:cNvPr id="35" name="Text 33"/>
          <p:cNvSpPr/>
          <p:nvPr/>
        </p:nvSpPr>
        <p:spPr>
          <a:xfrm>
            <a:off x="594360" y="5660136"/>
            <a:ext cx="5120640" cy="34747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Sign-Off</a:t>
            </a:r>
            <a:endParaRPr lang="en-US" sz="1250" dirty="0"/>
          </a:p>
        </p:txBody>
      </p:sp>
      <p:sp>
        <p:nvSpPr>
          <p:cNvPr id="36" name="Shape 34"/>
          <p:cNvSpPr/>
          <p:nvPr/>
        </p:nvSpPr>
        <p:spPr>
          <a:xfrm>
            <a:off x="6309360" y="1627632"/>
            <a:ext cx="5394960" cy="1051560"/>
          </a:xfrm>
          <a:prstGeom prst="roundRect">
            <a:avLst>
              <a:gd name="adj" fmla="val 6957"/>
            </a:avLst>
          </a:prstGeom>
          <a:solidFill>
            <a:srgbClr val="101A30"/>
          </a:solidFill>
          <a:ln w="12700">
            <a:solidFill>
              <a:srgbClr val="2DD4BF"/>
            </a:solidFill>
            <a:prstDash val="solid"/>
          </a:ln>
        </p:spPr>
      </p:sp>
      <p:sp>
        <p:nvSpPr>
          <p:cNvPr id="37" name="Text 35"/>
          <p:cNvSpPr/>
          <p:nvPr/>
        </p:nvSpPr>
        <p:spPr>
          <a:xfrm>
            <a:off x="6537960" y="1755648"/>
            <a:ext cx="4937760" cy="274320"/>
          </a:xfrm>
          <a:prstGeom prst="rect">
            <a:avLst/>
          </a:prstGeom>
          <a:noFill/>
          <a:ln/>
        </p:spPr>
        <p:txBody>
          <a:bodyPr wrap="square" rtlCol="0" anchor="ctr"/>
          <a:lstStyle/>
          <a:p>
            <a:pPr indent="0" marL="0">
              <a:buNone/>
            </a:pPr>
            <a:r>
              <a:rPr lang="en-US" sz="1150" b="1" spc="100" kern="0" dirty="0">
                <a:solidFill>
                  <a:srgbClr val="2DD4BF"/>
                </a:solidFill>
                <a:latin typeface="Calibri" pitchFamily="34" charset="0"/>
                <a:ea typeface="Calibri" pitchFamily="34" charset="-122"/>
                <a:cs typeface="Calibri" pitchFamily="34" charset="-120"/>
              </a:rPr>
              <a:t>JIRA WORKFLOW</a:t>
            </a:r>
            <a:endParaRPr lang="en-US" sz="1150" dirty="0"/>
          </a:p>
        </p:txBody>
      </p:sp>
      <p:sp>
        <p:nvSpPr>
          <p:cNvPr id="38" name="Text 36"/>
          <p:cNvSpPr/>
          <p:nvPr/>
        </p:nvSpPr>
        <p:spPr>
          <a:xfrm>
            <a:off x="6537960" y="2029968"/>
            <a:ext cx="4937760" cy="594360"/>
          </a:xfrm>
          <a:prstGeom prst="rect">
            <a:avLst/>
          </a:prstGeom>
          <a:noFill/>
          <a:ln/>
        </p:spPr>
        <p:txBody>
          <a:bodyPr wrap="square" rtlCol="0" anchor="t"/>
          <a:lstStyle/>
          <a:p>
            <a:pPr indent="0" marL="0">
              <a:lnSpc>
                <a:spcPct val="115000"/>
              </a:lnSpc>
              <a:buNone/>
            </a:pPr>
            <a:r>
              <a:rPr lang="en-US" sz="1000" i="1" dirty="0">
                <a:solidFill>
                  <a:srgbClr val="F3F6FB"/>
                </a:solidFill>
                <a:latin typeface="Calibri" pitchFamily="34" charset="0"/>
                <a:ea typeface="Calibri" pitchFamily="34" charset="-122"/>
                <a:cs typeface="Calibri" pitchFamily="34" charset="-120"/>
              </a:rPr>
              <a:t>Backlog → Read Analysis → Assign → In Test → Test Data Prep → Testing → PO Review → Sign-Off</a:t>
            </a:r>
            <a:endParaRPr lang="en-US" sz="1000" dirty="0"/>
          </a:p>
        </p:txBody>
      </p:sp>
      <p:sp>
        <p:nvSpPr>
          <p:cNvPr id="39" name="Shape 37"/>
          <p:cNvSpPr/>
          <p:nvPr/>
        </p:nvSpPr>
        <p:spPr>
          <a:xfrm>
            <a:off x="6309360" y="2816352"/>
            <a:ext cx="5394960" cy="1874520"/>
          </a:xfrm>
          <a:prstGeom prst="roundRect">
            <a:avLst>
              <a:gd name="adj" fmla="val 3902"/>
            </a:avLst>
          </a:prstGeom>
          <a:solidFill>
            <a:srgbClr val="18233F"/>
          </a:solidFill>
          <a:ln w="15240">
            <a:solidFill>
              <a:srgbClr val="2DD4BF"/>
            </a:solidFill>
            <a:prstDash val="solid"/>
          </a:ln>
          <a:effectLst>
            <a:outerShdw sx="100000" sy="100000" kx="0" ky="0" algn="bl" rotWithShape="0" blurRad="101600" dist="38100" dir="5400000">
              <a:srgbClr val="000000">
                <a:alpha val="45000"/>
              </a:srgbClr>
            </a:outerShdw>
          </a:effectLst>
        </p:spPr>
      </p:sp>
      <p:sp>
        <p:nvSpPr>
          <p:cNvPr id="40" name="Text 38"/>
          <p:cNvSpPr/>
          <p:nvPr/>
        </p:nvSpPr>
        <p:spPr>
          <a:xfrm>
            <a:off x="6537960" y="2944368"/>
            <a:ext cx="4937760" cy="274320"/>
          </a:xfrm>
          <a:prstGeom prst="rect">
            <a:avLst/>
          </a:prstGeom>
          <a:noFill/>
          <a:ln/>
        </p:spPr>
        <p:txBody>
          <a:bodyPr wrap="square" rtlCol="0" anchor="ctr"/>
          <a:lstStyle/>
          <a:p>
            <a:pPr indent="0" marL="0">
              <a:buNone/>
            </a:pPr>
            <a:r>
              <a:rPr lang="en-US" sz="1150" b="1" spc="100" kern="0" dirty="0">
                <a:solidFill>
                  <a:srgbClr val="2DD4BF"/>
                </a:solidFill>
                <a:latin typeface="Calibri" pitchFamily="34" charset="0"/>
                <a:ea typeface="Calibri" pitchFamily="34" charset="-122"/>
                <a:cs typeface="Calibri" pitchFamily="34" charset="-120"/>
              </a:rPr>
              <a:t>FINAL VALIDATION AREAS</a:t>
            </a:r>
            <a:endParaRPr lang="en-US" sz="1150" dirty="0"/>
          </a:p>
        </p:txBody>
      </p:sp>
      <p:sp>
        <p:nvSpPr>
          <p:cNvPr id="41" name="Shape 39"/>
          <p:cNvSpPr/>
          <p:nvPr/>
        </p:nvSpPr>
        <p:spPr>
          <a:xfrm>
            <a:off x="6574536" y="3346704"/>
            <a:ext cx="329184" cy="329184"/>
          </a:xfrm>
          <a:prstGeom prst="ellipse">
            <a:avLst/>
          </a:prstGeom>
          <a:solidFill>
            <a:srgbClr val="101A30"/>
          </a:solidFill>
          <a:ln w="19050">
            <a:solidFill>
              <a:srgbClr val="2DD4BF"/>
            </a:solidFill>
            <a:prstDash val="solid"/>
          </a:ln>
        </p:spPr>
      </p:sp>
      <p:sp>
        <p:nvSpPr>
          <p:cNvPr id="42" name="Text 40"/>
          <p:cNvSpPr/>
          <p:nvPr/>
        </p:nvSpPr>
        <p:spPr>
          <a:xfrm>
            <a:off x="6574536" y="334670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43" name="Text 41"/>
          <p:cNvSpPr/>
          <p:nvPr/>
        </p:nvSpPr>
        <p:spPr>
          <a:xfrm>
            <a:off x="6995160" y="3291840"/>
            <a:ext cx="1874520" cy="4419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Requirement implementation</a:t>
            </a:r>
            <a:endParaRPr lang="en-US" sz="1150" dirty="0"/>
          </a:p>
        </p:txBody>
      </p:sp>
      <p:sp>
        <p:nvSpPr>
          <p:cNvPr id="44" name="Shape 42"/>
          <p:cNvSpPr/>
          <p:nvPr/>
        </p:nvSpPr>
        <p:spPr>
          <a:xfrm>
            <a:off x="9180576" y="3346704"/>
            <a:ext cx="329184" cy="329184"/>
          </a:xfrm>
          <a:prstGeom prst="ellipse">
            <a:avLst/>
          </a:prstGeom>
          <a:solidFill>
            <a:srgbClr val="101A30"/>
          </a:solidFill>
          <a:ln w="19050">
            <a:solidFill>
              <a:srgbClr val="2DD4BF"/>
            </a:solidFill>
            <a:prstDash val="solid"/>
          </a:ln>
        </p:spPr>
      </p:sp>
      <p:sp>
        <p:nvSpPr>
          <p:cNvPr id="45" name="Text 43"/>
          <p:cNvSpPr/>
          <p:nvPr/>
        </p:nvSpPr>
        <p:spPr>
          <a:xfrm>
            <a:off x="9180576" y="334670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46" name="Text 44"/>
          <p:cNvSpPr/>
          <p:nvPr/>
        </p:nvSpPr>
        <p:spPr>
          <a:xfrm>
            <a:off x="9601200" y="3291840"/>
            <a:ext cx="1874520" cy="4419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Rate Book / pricing behaviour</a:t>
            </a:r>
            <a:endParaRPr lang="en-US" sz="1150" dirty="0"/>
          </a:p>
        </p:txBody>
      </p:sp>
      <p:sp>
        <p:nvSpPr>
          <p:cNvPr id="47" name="Shape 45"/>
          <p:cNvSpPr/>
          <p:nvPr/>
        </p:nvSpPr>
        <p:spPr>
          <a:xfrm>
            <a:off x="6574536" y="3788664"/>
            <a:ext cx="329184" cy="329184"/>
          </a:xfrm>
          <a:prstGeom prst="ellipse">
            <a:avLst/>
          </a:prstGeom>
          <a:solidFill>
            <a:srgbClr val="101A30"/>
          </a:solidFill>
          <a:ln w="19050">
            <a:solidFill>
              <a:srgbClr val="2DD4BF"/>
            </a:solidFill>
            <a:prstDash val="solid"/>
          </a:ln>
        </p:spPr>
      </p:sp>
      <p:sp>
        <p:nvSpPr>
          <p:cNvPr id="48" name="Text 46"/>
          <p:cNvSpPr/>
          <p:nvPr/>
        </p:nvSpPr>
        <p:spPr>
          <a:xfrm>
            <a:off x="6574536" y="378866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49" name="Text 47"/>
          <p:cNvSpPr/>
          <p:nvPr/>
        </p:nvSpPr>
        <p:spPr>
          <a:xfrm>
            <a:off x="6995160" y="3733800"/>
            <a:ext cx="1874520" cy="4419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Mapping fields</a:t>
            </a:r>
            <a:endParaRPr lang="en-US" sz="1150" dirty="0"/>
          </a:p>
        </p:txBody>
      </p:sp>
      <p:sp>
        <p:nvSpPr>
          <p:cNvPr id="50" name="Shape 48"/>
          <p:cNvSpPr/>
          <p:nvPr/>
        </p:nvSpPr>
        <p:spPr>
          <a:xfrm>
            <a:off x="9180576" y="3788664"/>
            <a:ext cx="329184" cy="329184"/>
          </a:xfrm>
          <a:prstGeom prst="ellipse">
            <a:avLst/>
          </a:prstGeom>
          <a:solidFill>
            <a:srgbClr val="101A30"/>
          </a:solidFill>
          <a:ln w="19050">
            <a:solidFill>
              <a:srgbClr val="2DD4BF"/>
            </a:solidFill>
            <a:prstDash val="solid"/>
          </a:ln>
        </p:spPr>
      </p:sp>
      <p:sp>
        <p:nvSpPr>
          <p:cNvPr id="51" name="Text 49"/>
          <p:cNvSpPr/>
          <p:nvPr/>
        </p:nvSpPr>
        <p:spPr>
          <a:xfrm>
            <a:off x="9180576" y="378866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52" name="Text 50"/>
          <p:cNvSpPr/>
          <p:nvPr/>
        </p:nvSpPr>
        <p:spPr>
          <a:xfrm>
            <a:off x="9601200" y="3733800"/>
            <a:ext cx="1874520" cy="4419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Bronze/Silver/Gold results</a:t>
            </a:r>
            <a:endParaRPr lang="en-US" sz="1150" dirty="0"/>
          </a:p>
        </p:txBody>
      </p:sp>
      <p:sp>
        <p:nvSpPr>
          <p:cNvPr id="53" name="Shape 51"/>
          <p:cNvSpPr/>
          <p:nvPr/>
        </p:nvSpPr>
        <p:spPr>
          <a:xfrm>
            <a:off x="6574536" y="4230624"/>
            <a:ext cx="329184" cy="329184"/>
          </a:xfrm>
          <a:prstGeom prst="ellipse">
            <a:avLst/>
          </a:prstGeom>
          <a:solidFill>
            <a:srgbClr val="101A30"/>
          </a:solidFill>
          <a:ln w="19050">
            <a:solidFill>
              <a:srgbClr val="2DD4BF"/>
            </a:solidFill>
            <a:prstDash val="solid"/>
          </a:ln>
        </p:spPr>
      </p:sp>
      <p:sp>
        <p:nvSpPr>
          <p:cNvPr id="54" name="Text 52"/>
          <p:cNvSpPr/>
          <p:nvPr/>
        </p:nvSpPr>
        <p:spPr>
          <a:xfrm>
            <a:off x="6574536" y="423062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55" name="Text 53"/>
          <p:cNvSpPr/>
          <p:nvPr/>
        </p:nvSpPr>
        <p:spPr>
          <a:xfrm>
            <a:off x="6995160" y="4175760"/>
            <a:ext cx="1874520" cy="4419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Channel-specific behaviour</a:t>
            </a:r>
            <a:endParaRPr lang="en-US" sz="1150" dirty="0"/>
          </a:p>
        </p:txBody>
      </p:sp>
      <p:sp>
        <p:nvSpPr>
          <p:cNvPr id="56" name="Shape 54"/>
          <p:cNvSpPr/>
          <p:nvPr/>
        </p:nvSpPr>
        <p:spPr>
          <a:xfrm>
            <a:off x="9180576" y="4230624"/>
            <a:ext cx="329184" cy="329184"/>
          </a:xfrm>
          <a:prstGeom prst="ellipse">
            <a:avLst/>
          </a:prstGeom>
          <a:solidFill>
            <a:srgbClr val="101A30"/>
          </a:solidFill>
          <a:ln w="19050">
            <a:solidFill>
              <a:srgbClr val="2DD4BF"/>
            </a:solidFill>
            <a:prstDash val="solid"/>
          </a:ln>
        </p:spPr>
      </p:sp>
      <p:sp>
        <p:nvSpPr>
          <p:cNvPr id="57" name="Text 55"/>
          <p:cNvSpPr/>
          <p:nvPr/>
        </p:nvSpPr>
        <p:spPr>
          <a:xfrm>
            <a:off x="9180576" y="4230624"/>
            <a:ext cx="329184" cy="329184"/>
          </a:xfrm>
          <a:prstGeom prst="rect">
            <a:avLst/>
          </a:prstGeom>
          <a:noFill/>
          <a:ln/>
        </p:spPr>
        <p:txBody>
          <a:bodyPr wrap="square" rtlCol="0" anchor="ctr"/>
          <a:lstStyle/>
          <a:p>
            <a:pPr algn="ctr" indent="0" marL="0">
              <a:buNone/>
            </a:pPr>
            <a:r>
              <a:rPr lang="en-US" sz="936" b="1" dirty="0">
                <a:solidFill>
                  <a:srgbClr val="2DD4BF"/>
                </a:solidFill>
                <a:latin typeface="Calibri" pitchFamily="34" charset="0"/>
                <a:ea typeface="Calibri" pitchFamily="34" charset="-122"/>
                <a:cs typeface="Calibri" pitchFamily="34" charset="-120"/>
              </a:rPr>
              <a:t>✓</a:t>
            </a:r>
            <a:endParaRPr lang="en-US" sz="936" dirty="0"/>
          </a:p>
        </p:txBody>
      </p:sp>
      <p:sp>
        <p:nvSpPr>
          <p:cNvPr id="58" name="Text 56"/>
          <p:cNvSpPr/>
          <p:nvPr/>
        </p:nvSpPr>
        <p:spPr>
          <a:xfrm>
            <a:off x="9601200" y="4175760"/>
            <a:ext cx="1874520" cy="4419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Version-specific changes</a:t>
            </a:r>
            <a:endParaRPr lang="en-US" sz="1150" dirty="0"/>
          </a:p>
        </p:txBody>
      </p:sp>
      <p:sp>
        <p:nvSpPr>
          <p:cNvPr id="59" name="Shape 57"/>
          <p:cNvSpPr/>
          <p:nvPr/>
        </p:nvSpPr>
        <p:spPr>
          <a:xfrm>
            <a:off x="6309360" y="4800600"/>
            <a:ext cx="5394960" cy="1399032"/>
          </a:xfrm>
          <a:prstGeom prst="roundRect">
            <a:avLst>
              <a:gd name="adj" fmla="val 5229"/>
            </a:avLst>
          </a:prstGeom>
          <a:solidFill>
            <a:srgbClr val="3D3117"/>
          </a:solidFill>
          <a:ln w="16510">
            <a:solidFill>
              <a:srgbClr val="F5B942"/>
            </a:solidFill>
            <a:prstDash val="solid"/>
          </a:ln>
          <a:effectLst>
            <a:outerShdw sx="100000" sy="100000" kx="0" ky="0" algn="bl" rotWithShape="0" blurRad="101600" dist="38100" dir="5400000">
              <a:srgbClr val="000000">
                <a:alpha val="45000"/>
              </a:srgbClr>
            </a:outerShdw>
          </a:effectLst>
        </p:spPr>
      </p:sp>
      <p:sp>
        <p:nvSpPr>
          <p:cNvPr id="60" name="Text 58"/>
          <p:cNvSpPr/>
          <p:nvPr/>
        </p:nvSpPr>
        <p:spPr>
          <a:xfrm>
            <a:off x="6537960" y="4919472"/>
            <a:ext cx="4937760" cy="274320"/>
          </a:xfrm>
          <a:prstGeom prst="rect">
            <a:avLst/>
          </a:prstGeom>
          <a:noFill/>
          <a:ln/>
        </p:spPr>
        <p:txBody>
          <a:bodyPr wrap="square" rtlCol="0" anchor="ctr"/>
          <a:lstStyle/>
          <a:p>
            <a:pPr indent="0" marL="0">
              <a:buNone/>
            </a:pPr>
            <a:r>
              <a:rPr lang="en-US" sz="1150" b="1" spc="100" kern="0" dirty="0">
                <a:solidFill>
                  <a:srgbClr val="F5B942"/>
                </a:solidFill>
                <a:latin typeface="Calibri" pitchFamily="34" charset="0"/>
                <a:ea typeface="Calibri" pitchFamily="34" charset="-122"/>
                <a:cs typeface="Calibri" pitchFamily="34" charset="-120"/>
              </a:rPr>
              <a:t>FINAL TAKEAWAY</a:t>
            </a:r>
            <a:endParaRPr lang="en-US" sz="1150" dirty="0"/>
          </a:p>
        </p:txBody>
      </p:sp>
      <p:sp>
        <p:nvSpPr>
          <p:cNvPr id="61" name="Text 59"/>
          <p:cNvSpPr/>
          <p:nvPr/>
        </p:nvSpPr>
        <p:spPr>
          <a:xfrm>
            <a:off x="6537960" y="5212080"/>
            <a:ext cx="4937760" cy="960120"/>
          </a:xfrm>
          <a:prstGeom prst="rect">
            <a:avLst/>
          </a:prstGeom>
          <a:noFill/>
          <a:ln/>
        </p:spPr>
        <p:txBody>
          <a:bodyPr wrap="square" rtlCol="0" anchor="t"/>
          <a:lstStyle/>
          <a:p>
            <a:pPr indent="0" marL="0">
              <a:lnSpc>
                <a:spcPct val="115000"/>
              </a:lnSpc>
              <a:buNone/>
            </a:pPr>
            <a:r>
              <a:rPr lang="en-US" sz="1000" i="1" dirty="0">
                <a:solidFill>
                  <a:srgbClr val="F5B942"/>
                </a:solidFill>
                <a:latin typeface="Calibri" pitchFamily="34" charset="0"/>
                <a:ea typeface="Calibri" pitchFamily="34" charset="-122"/>
                <a:cs typeface="Calibri" pitchFamily="34" charset="-120"/>
              </a:rPr>
              <a:t>Testing starts from a user-story requirement, applies the pricing/mapping rules, executes and validates the API flow and backend response, then records results for PO review and sign-off.</a:t>
            </a:r>
            <a:endParaRPr lang="en-US" sz="1000" dirty="0"/>
          </a:p>
        </p:txBody>
      </p:sp>
      <p:sp>
        <p:nvSpPr>
          <p:cNvPr id="62" name="Text 60"/>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HOME</a:t>
            </a:r>
            <a:endParaRPr lang="en-US" sz="900" dirty="0"/>
          </a:p>
        </p:txBody>
      </p:sp>
      <p:sp>
        <p:nvSpPr>
          <p:cNvPr id="63" name="Text 61"/>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64" name="Text 62"/>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FB923C">
              <a:alpha val="12000"/>
            </a:srgbClr>
          </a:solidFill>
          <a:ln/>
        </p:spPr>
      </p:sp>
      <p:sp>
        <p:nvSpPr>
          <p:cNvPr id="3" name="Shape 1"/>
          <p:cNvSpPr/>
          <p:nvPr/>
        </p:nvSpPr>
        <p:spPr>
          <a:xfrm>
            <a:off x="-1280160" y="6035040"/>
            <a:ext cx="2377440" cy="2377440"/>
          </a:xfrm>
          <a:prstGeom prst="ellipse">
            <a:avLst/>
          </a:prstGeom>
          <a:solidFill>
            <a:srgbClr val="FB923C">
              <a:alpha val="8000"/>
            </a:srgbClr>
          </a:solidFill>
          <a:ln/>
        </p:spPr>
      </p:sp>
      <p:sp>
        <p:nvSpPr>
          <p:cNvPr id="4" name="Shape 2"/>
          <p:cNvSpPr/>
          <p:nvPr/>
        </p:nvSpPr>
        <p:spPr>
          <a:xfrm>
            <a:off x="457200" y="384048"/>
            <a:ext cx="146304" cy="146304"/>
          </a:xfrm>
          <a:prstGeom prst="roundRect">
            <a:avLst>
              <a:gd name="adj" fmla="val 50000"/>
            </a:avLst>
          </a:prstGeom>
          <a:solidFill>
            <a:srgbClr val="FB923C"/>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FB923C"/>
                </a:solidFill>
                <a:latin typeface="Calibri" pitchFamily="34" charset="0"/>
                <a:ea typeface="Calibri" pitchFamily="34" charset="-122"/>
                <a:cs typeface="Calibri" pitchFamily="34" charset="-120"/>
              </a:rPr>
              <a:t>SECTION 03</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Allianz Motor — Project Overview</a:t>
            </a:r>
            <a:endParaRPr lang="en-US" sz="3000" dirty="0"/>
          </a:p>
        </p:txBody>
      </p:sp>
      <p:sp>
        <p:nvSpPr>
          <p:cNvPr id="7" name="Shape 5"/>
          <p:cNvSpPr/>
          <p:nvPr/>
        </p:nvSpPr>
        <p:spPr>
          <a:xfrm>
            <a:off x="457200" y="1691640"/>
            <a:ext cx="5394960" cy="4343400"/>
          </a:xfrm>
          <a:prstGeom prst="roundRect">
            <a:avLst>
              <a:gd name="adj" fmla="val 1684"/>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920240"/>
            <a:ext cx="91440" cy="91440"/>
          </a:xfrm>
          <a:prstGeom prst="roundRect">
            <a:avLst>
              <a:gd name="adj" fmla="val 50000"/>
            </a:avLst>
          </a:prstGeom>
          <a:solidFill>
            <a:srgbClr val="FB923C"/>
          </a:solidFill>
          <a:ln/>
        </p:spPr>
      </p:sp>
      <p:sp>
        <p:nvSpPr>
          <p:cNvPr id="9" name="Text 7"/>
          <p:cNvSpPr/>
          <p:nvPr/>
        </p:nvSpPr>
        <p:spPr>
          <a:xfrm>
            <a:off x="868680" y="1837944"/>
            <a:ext cx="4754880" cy="292608"/>
          </a:xfrm>
          <a:prstGeom prst="rect">
            <a:avLst/>
          </a:prstGeom>
          <a:noFill/>
          <a:ln/>
        </p:spPr>
        <p:txBody>
          <a:bodyPr wrap="square" rtlCol="0" anchor="ctr"/>
          <a:lstStyle/>
          <a:p>
            <a:pPr indent="0" marL="0">
              <a:buNone/>
            </a:pPr>
            <a:r>
              <a:rPr lang="en-US" sz="1400" b="1" dirty="0">
                <a:solidFill>
                  <a:srgbClr val="FB923C"/>
                </a:solidFill>
                <a:latin typeface="Calibri" pitchFamily="34" charset="0"/>
                <a:ea typeface="Calibri" pitchFamily="34" charset="-122"/>
                <a:cs typeface="Calibri" pitchFamily="34" charset="-120"/>
              </a:rPr>
              <a:t>Objective &amp; Key Areas</a:t>
            </a:r>
            <a:endParaRPr lang="en-US" sz="1400" dirty="0"/>
          </a:p>
        </p:txBody>
      </p:sp>
      <p:sp>
        <p:nvSpPr>
          <p:cNvPr id="10" name="Text 8"/>
          <p:cNvSpPr/>
          <p:nvPr/>
        </p:nvSpPr>
        <p:spPr>
          <a:xfrm>
            <a:off x="731520" y="2276856"/>
            <a:ext cx="4846320" cy="3575304"/>
          </a:xfrm>
          <a:prstGeom prst="rect">
            <a:avLst/>
          </a:prstGeom>
          <a:noFill/>
          <a:ln/>
        </p:spPr>
        <p:txBody>
          <a:bodyPr wrap="square" rtlCol="0" anchor="t"/>
          <a:lstStyle/>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Validate the Motor insurance quotation, backend services, data files and automated API responses.</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Motor transaction flow</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Backend request/response validation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Elastic / Kibana log validation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Precom, UW and Radar models</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Area &amp; Vehicle file validation</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Migration automation pack</a:t>
            </a:r>
            <a:endParaRPr lang="en-US" sz="1200" dirty="0"/>
          </a:p>
        </p:txBody>
      </p:sp>
      <p:sp>
        <p:nvSpPr>
          <p:cNvPr id="11" name="Shape 9"/>
          <p:cNvSpPr/>
          <p:nvPr/>
        </p:nvSpPr>
        <p:spPr>
          <a:xfrm>
            <a:off x="6309360" y="1691640"/>
            <a:ext cx="5394960" cy="530352"/>
          </a:xfrm>
          <a:prstGeom prst="roundRect">
            <a:avLst>
              <a:gd name="adj" fmla="val 1379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6446520" y="1691640"/>
            <a:ext cx="5120640" cy="53035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Frontend</a:t>
            </a:r>
            <a:endParaRPr lang="en-US" sz="1250" dirty="0"/>
          </a:p>
        </p:txBody>
      </p:sp>
      <p:sp>
        <p:nvSpPr>
          <p:cNvPr id="13" name="Shape 11"/>
          <p:cNvSpPr/>
          <p:nvPr/>
        </p:nvSpPr>
        <p:spPr>
          <a:xfrm>
            <a:off x="9006840" y="2249424"/>
            <a:ext cx="914" cy="82296"/>
          </a:xfrm>
          <a:prstGeom prst="line">
            <a:avLst/>
          </a:prstGeom>
          <a:noFill/>
          <a:ln w="25400">
            <a:solidFill>
              <a:srgbClr val="FB923C"/>
            </a:solidFill>
            <a:prstDash val="solid"/>
            <a:tailEnd type="triangle"/>
          </a:ln>
        </p:spPr>
      </p:sp>
      <p:sp>
        <p:nvSpPr>
          <p:cNvPr id="14" name="Shape 12"/>
          <p:cNvSpPr/>
          <p:nvPr/>
        </p:nvSpPr>
        <p:spPr>
          <a:xfrm>
            <a:off x="6309360" y="2359152"/>
            <a:ext cx="5394960" cy="530352"/>
          </a:xfrm>
          <a:prstGeom prst="roundRect">
            <a:avLst>
              <a:gd name="adj" fmla="val 1379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5" name="Text 13"/>
          <p:cNvSpPr/>
          <p:nvPr/>
        </p:nvSpPr>
        <p:spPr>
          <a:xfrm>
            <a:off x="6446520" y="2359152"/>
            <a:ext cx="5120640" cy="53035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Quote</a:t>
            </a:r>
            <a:endParaRPr lang="en-US" sz="1250" dirty="0"/>
          </a:p>
        </p:txBody>
      </p:sp>
      <p:sp>
        <p:nvSpPr>
          <p:cNvPr id="16" name="Shape 14"/>
          <p:cNvSpPr/>
          <p:nvPr/>
        </p:nvSpPr>
        <p:spPr>
          <a:xfrm>
            <a:off x="9006840" y="2916936"/>
            <a:ext cx="914" cy="82296"/>
          </a:xfrm>
          <a:prstGeom prst="line">
            <a:avLst/>
          </a:prstGeom>
          <a:noFill/>
          <a:ln w="25400">
            <a:solidFill>
              <a:srgbClr val="FB923C"/>
            </a:solidFill>
            <a:prstDash val="solid"/>
            <a:tailEnd type="triangle"/>
          </a:ln>
        </p:spPr>
      </p:sp>
      <p:sp>
        <p:nvSpPr>
          <p:cNvPr id="17" name="Shape 15"/>
          <p:cNvSpPr/>
          <p:nvPr/>
        </p:nvSpPr>
        <p:spPr>
          <a:xfrm>
            <a:off x="6309360" y="3026664"/>
            <a:ext cx="5394960" cy="530352"/>
          </a:xfrm>
          <a:prstGeom prst="roundRect">
            <a:avLst>
              <a:gd name="adj" fmla="val 1379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8" name="Text 16"/>
          <p:cNvSpPr/>
          <p:nvPr/>
        </p:nvSpPr>
        <p:spPr>
          <a:xfrm>
            <a:off x="6446520" y="3026664"/>
            <a:ext cx="5120640" cy="53035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Backend Services</a:t>
            </a:r>
            <a:endParaRPr lang="en-US" sz="1250" dirty="0"/>
          </a:p>
        </p:txBody>
      </p:sp>
      <p:sp>
        <p:nvSpPr>
          <p:cNvPr id="19" name="Shape 17"/>
          <p:cNvSpPr/>
          <p:nvPr/>
        </p:nvSpPr>
        <p:spPr>
          <a:xfrm>
            <a:off x="9006840" y="3584448"/>
            <a:ext cx="914" cy="82296"/>
          </a:xfrm>
          <a:prstGeom prst="line">
            <a:avLst/>
          </a:prstGeom>
          <a:noFill/>
          <a:ln w="25400">
            <a:solidFill>
              <a:srgbClr val="FB923C"/>
            </a:solidFill>
            <a:prstDash val="solid"/>
            <a:tailEnd type="triangle"/>
          </a:ln>
        </p:spPr>
      </p:sp>
      <p:sp>
        <p:nvSpPr>
          <p:cNvPr id="20" name="Shape 18"/>
          <p:cNvSpPr/>
          <p:nvPr/>
        </p:nvSpPr>
        <p:spPr>
          <a:xfrm>
            <a:off x="6309360" y="3694176"/>
            <a:ext cx="5394960" cy="530352"/>
          </a:xfrm>
          <a:prstGeom prst="roundRect">
            <a:avLst>
              <a:gd name="adj" fmla="val 1379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1" name="Text 19"/>
          <p:cNvSpPr/>
          <p:nvPr/>
        </p:nvSpPr>
        <p:spPr>
          <a:xfrm>
            <a:off x="6446520" y="3694176"/>
            <a:ext cx="5120640" cy="53035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Logs</a:t>
            </a:r>
            <a:endParaRPr lang="en-US" sz="1250" dirty="0"/>
          </a:p>
        </p:txBody>
      </p:sp>
      <p:sp>
        <p:nvSpPr>
          <p:cNvPr id="22" name="Shape 20"/>
          <p:cNvSpPr/>
          <p:nvPr/>
        </p:nvSpPr>
        <p:spPr>
          <a:xfrm>
            <a:off x="9006840" y="4251960"/>
            <a:ext cx="914" cy="82296"/>
          </a:xfrm>
          <a:prstGeom prst="line">
            <a:avLst/>
          </a:prstGeom>
          <a:noFill/>
          <a:ln w="25400">
            <a:solidFill>
              <a:srgbClr val="FB923C"/>
            </a:solidFill>
            <a:prstDash val="solid"/>
            <a:tailEnd type="triangle"/>
          </a:ln>
        </p:spPr>
      </p:sp>
      <p:sp>
        <p:nvSpPr>
          <p:cNvPr id="23" name="Shape 21"/>
          <p:cNvSpPr/>
          <p:nvPr/>
        </p:nvSpPr>
        <p:spPr>
          <a:xfrm>
            <a:off x="6309360" y="4361688"/>
            <a:ext cx="5394960" cy="530352"/>
          </a:xfrm>
          <a:prstGeom prst="roundRect">
            <a:avLst>
              <a:gd name="adj" fmla="val 1379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6446520" y="4361688"/>
            <a:ext cx="5120640" cy="53035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Validation</a:t>
            </a:r>
            <a:endParaRPr lang="en-US" sz="1250" dirty="0"/>
          </a:p>
        </p:txBody>
      </p:sp>
      <p:sp>
        <p:nvSpPr>
          <p:cNvPr id="25" name="Shape 23"/>
          <p:cNvSpPr/>
          <p:nvPr/>
        </p:nvSpPr>
        <p:spPr>
          <a:xfrm>
            <a:off x="9006840" y="4919472"/>
            <a:ext cx="914" cy="82296"/>
          </a:xfrm>
          <a:prstGeom prst="line">
            <a:avLst/>
          </a:prstGeom>
          <a:noFill/>
          <a:ln w="25400">
            <a:solidFill>
              <a:srgbClr val="FB923C"/>
            </a:solidFill>
            <a:prstDash val="solid"/>
            <a:tailEnd type="triangle"/>
          </a:ln>
        </p:spPr>
      </p:sp>
      <p:sp>
        <p:nvSpPr>
          <p:cNvPr id="26" name="Shape 24"/>
          <p:cNvSpPr/>
          <p:nvPr/>
        </p:nvSpPr>
        <p:spPr>
          <a:xfrm>
            <a:off x="6309360" y="5029200"/>
            <a:ext cx="5394960" cy="530352"/>
          </a:xfrm>
          <a:prstGeom prst="roundRect">
            <a:avLst>
              <a:gd name="adj" fmla="val 1379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6446520" y="5029200"/>
            <a:ext cx="5120640" cy="530352"/>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Automation</a:t>
            </a:r>
            <a:endParaRPr lang="en-US" sz="1250" dirty="0"/>
          </a:p>
        </p:txBody>
      </p:sp>
      <p:sp>
        <p:nvSpPr>
          <p:cNvPr id="28" name="Shape 26"/>
          <p:cNvSpPr/>
          <p:nvPr/>
        </p:nvSpPr>
        <p:spPr>
          <a:xfrm>
            <a:off x="6309360" y="5623560"/>
            <a:ext cx="5394960" cy="411480"/>
          </a:xfrm>
          <a:prstGeom prst="roundRect">
            <a:avLst>
              <a:gd name="adj" fmla="val 17778"/>
            </a:avLst>
          </a:prstGeom>
          <a:solidFill>
            <a:srgbClr val="101A30"/>
          </a:solidFill>
          <a:ln w="12700">
            <a:solidFill>
              <a:srgbClr val="FB923C"/>
            </a:solidFill>
            <a:prstDash val="solid"/>
          </a:ln>
        </p:spPr>
      </p:sp>
      <p:sp>
        <p:nvSpPr>
          <p:cNvPr id="29" name="Text 27"/>
          <p:cNvSpPr/>
          <p:nvPr/>
        </p:nvSpPr>
        <p:spPr>
          <a:xfrm>
            <a:off x="6492240" y="5623560"/>
            <a:ext cx="5029200" cy="411480"/>
          </a:xfrm>
          <a:prstGeom prst="rect">
            <a:avLst/>
          </a:prstGeom>
          <a:noFill/>
          <a:ln/>
        </p:spPr>
        <p:txBody>
          <a:bodyPr wrap="square" rtlCol="0" anchor="ctr"/>
          <a:lstStyle/>
          <a:p>
            <a:pPr indent="0" marL="0">
              <a:buNone/>
            </a:pPr>
            <a:r>
              <a:rPr lang="en-US" sz="1100" i="1" dirty="0">
                <a:solidFill>
                  <a:srgbClr val="97A3BE"/>
                </a:solidFill>
                <a:latin typeface="Calibri" pitchFamily="34" charset="0"/>
                <a:ea typeface="Calibri" pitchFamily="34" charset="-122"/>
                <a:cs typeface="Calibri" pitchFamily="34" charset="-120"/>
              </a:rPr>
              <a:t>Products: Car  •  Classic Car  •  Motorbike</a:t>
            </a:r>
            <a:endParaRPr lang="en-US" sz="1100" dirty="0"/>
          </a:p>
        </p:txBody>
      </p:sp>
      <p:sp>
        <p:nvSpPr>
          <p:cNvPr id="30" name="Text 28"/>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MOTOR</a:t>
            </a:r>
            <a:endParaRPr lang="en-US" sz="900" dirty="0"/>
          </a:p>
        </p:txBody>
      </p:sp>
      <p:sp>
        <p:nvSpPr>
          <p:cNvPr id="31" name="Text 29"/>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2" name="Text 30"/>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FB923C">
              <a:alpha val="12000"/>
            </a:srgbClr>
          </a:solidFill>
          <a:ln/>
        </p:spPr>
      </p:sp>
      <p:sp>
        <p:nvSpPr>
          <p:cNvPr id="3" name="Shape 1"/>
          <p:cNvSpPr/>
          <p:nvPr/>
        </p:nvSpPr>
        <p:spPr>
          <a:xfrm>
            <a:off x="-1280160" y="6035040"/>
            <a:ext cx="2377440" cy="2377440"/>
          </a:xfrm>
          <a:prstGeom prst="ellipse">
            <a:avLst/>
          </a:prstGeom>
          <a:solidFill>
            <a:srgbClr val="FB923C">
              <a:alpha val="8000"/>
            </a:srgbClr>
          </a:solidFill>
          <a:ln/>
        </p:spPr>
      </p:sp>
      <p:sp>
        <p:nvSpPr>
          <p:cNvPr id="4" name="Shape 2"/>
          <p:cNvSpPr/>
          <p:nvPr/>
        </p:nvSpPr>
        <p:spPr>
          <a:xfrm>
            <a:off x="457200" y="384048"/>
            <a:ext cx="146304" cy="146304"/>
          </a:xfrm>
          <a:prstGeom prst="roundRect">
            <a:avLst>
              <a:gd name="adj" fmla="val 50000"/>
            </a:avLst>
          </a:prstGeom>
          <a:solidFill>
            <a:srgbClr val="FB923C"/>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FB923C"/>
                </a:solidFill>
                <a:latin typeface="Calibri" pitchFamily="34" charset="0"/>
                <a:ea typeface="Calibri" pitchFamily="34" charset="-122"/>
                <a:cs typeface="Calibri" pitchFamily="34" charset="-120"/>
              </a:rPr>
              <a:t>SECTION 03</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Motor Business Flow &amp; Transaction Types</a:t>
            </a:r>
            <a:endParaRPr lang="en-US" sz="3000" dirty="0"/>
          </a:p>
        </p:txBody>
      </p:sp>
      <p:sp>
        <p:nvSpPr>
          <p:cNvPr id="7" name="Shape 5"/>
          <p:cNvSpPr/>
          <p:nvPr/>
        </p:nvSpPr>
        <p:spPr>
          <a:xfrm>
            <a:off x="457200" y="1691640"/>
            <a:ext cx="2619756" cy="1828800"/>
          </a:xfrm>
          <a:prstGeom prst="roundRect">
            <a:avLst>
              <a:gd name="adj" fmla="val 4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21792" y="1837944"/>
            <a:ext cx="109728" cy="109728"/>
          </a:xfrm>
          <a:prstGeom prst="roundRect">
            <a:avLst>
              <a:gd name="adj" fmla="val 50000"/>
            </a:avLst>
          </a:prstGeom>
          <a:solidFill>
            <a:srgbClr val="FB923C"/>
          </a:solidFill>
          <a:ln/>
        </p:spPr>
      </p:sp>
      <p:sp>
        <p:nvSpPr>
          <p:cNvPr id="9" name="Text 7"/>
          <p:cNvSpPr/>
          <p:nvPr/>
        </p:nvSpPr>
        <p:spPr>
          <a:xfrm>
            <a:off x="822960" y="1764792"/>
            <a:ext cx="2116836"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New Business</a:t>
            </a:r>
            <a:endParaRPr lang="en-US" sz="1300" dirty="0"/>
          </a:p>
        </p:txBody>
      </p:sp>
      <p:sp>
        <p:nvSpPr>
          <p:cNvPr id="10" name="Text 8"/>
          <p:cNvSpPr/>
          <p:nvPr/>
        </p:nvSpPr>
        <p:spPr>
          <a:xfrm>
            <a:off x="640080" y="2112264"/>
            <a:ext cx="2253996" cy="129844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Customer purchases a policy for the first time.</a:t>
            </a:r>
            <a:endParaRPr lang="en-US" sz="1080" dirty="0"/>
          </a:p>
        </p:txBody>
      </p:sp>
      <p:sp>
        <p:nvSpPr>
          <p:cNvPr id="11" name="Shape 9"/>
          <p:cNvSpPr/>
          <p:nvPr/>
        </p:nvSpPr>
        <p:spPr>
          <a:xfrm>
            <a:off x="3332988" y="1691640"/>
            <a:ext cx="2619756" cy="1828800"/>
          </a:xfrm>
          <a:prstGeom prst="roundRect">
            <a:avLst>
              <a:gd name="adj" fmla="val 4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2" name="Shape 10"/>
          <p:cNvSpPr/>
          <p:nvPr/>
        </p:nvSpPr>
        <p:spPr>
          <a:xfrm>
            <a:off x="3497580" y="1837944"/>
            <a:ext cx="109728" cy="109728"/>
          </a:xfrm>
          <a:prstGeom prst="roundRect">
            <a:avLst>
              <a:gd name="adj" fmla="val 50000"/>
            </a:avLst>
          </a:prstGeom>
          <a:solidFill>
            <a:srgbClr val="FB923C"/>
          </a:solidFill>
          <a:ln/>
        </p:spPr>
      </p:sp>
      <p:sp>
        <p:nvSpPr>
          <p:cNvPr id="13" name="Text 11"/>
          <p:cNvSpPr/>
          <p:nvPr/>
        </p:nvSpPr>
        <p:spPr>
          <a:xfrm>
            <a:off x="3698748" y="1764792"/>
            <a:ext cx="2116836"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MTA</a:t>
            </a:r>
            <a:endParaRPr lang="en-US" sz="1300" dirty="0"/>
          </a:p>
        </p:txBody>
      </p:sp>
      <p:sp>
        <p:nvSpPr>
          <p:cNvPr id="14" name="Text 12"/>
          <p:cNvSpPr/>
          <p:nvPr/>
        </p:nvSpPr>
        <p:spPr>
          <a:xfrm>
            <a:off x="3515868" y="2112264"/>
            <a:ext cx="2253996" cy="129844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Mid-Term Adjustment — changes to an existing policy during its term (driver, address, or vehicle changes).</a:t>
            </a:r>
            <a:endParaRPr lang="en-US" sz="1080" dirty="0"/>
          </a:p>
        </p:txBody>
      </p:sp>
      <p:sp>
        <p:nvSpPr>
          <p:cNvPr id="15" name="Shape 13"/>
          <p:cNvSpPr/>
          <p:nvPr/>
        </p:nvSpPr>
        <p:spPr>
          <a:xfrm>
            <a:off x="6208776" y="1691640"/>
            <a:ext cx="2619756" cy="1828800"/>
          </a:xfrm>
          <a:prstGeom prst="roundRect">
            <a:avLst>
              <a:gd name="adj" fmla="val 4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6" name="Shape 14"/>
          <p:cNvSpPr/>
          <p:nvPr/>
        </p:nvSpPr>
        <p:spPr>
          <a:xfrm>
            <a:off x="6373368" y="1837944"/>
            <a:ext cx="109728" cy="109728"/>
          </a:xfrm>
          <a:prstGeom prst="roundRect">
            <a:avLst>
              <a:gd name="adj" fmla="val 50000"/>
            </a:avLst>
          </a:prstGeom>
          <a:solidFill>
            <a:srgbClr val="FB923C"/>
          </a:solidFill>
          <a:ln/>
        </p:spPr>
      </p:sp>
      <p:sp>
        <p:nvSpPr>
          <p:cNvPr id="17" name="Text 15"/>
          <p:cNvSpPr/>
          <p:nvPr/>
        </p:nvSpPr>
        <p:spPr>
          <a:xfrm>
            <a:off x="6574536" y="1764792"/>
            <a:ext cx="2116836"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Renewal</a:t>
            </a:r>
            <a:endParaRPr lang="en-US" sz="1300" dirty="0"/>
          </a:p>
        </p:txBody>
      </p:sp>
      <p:sp>
        <p:nvSpPr>
          <p:cNvPr id="18" name="Text 16"/>
          <p:cNvSpPr/>
          <p:nvPr/>
        </p:nvSpPr>
        <p:spPr>
          <a:xfrm>
            <a:off x="6391656" y="2112264"/>
            <a:ext cx="2253996" cy="129844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An existing policy is continued when it approaches expiry.</a:t>
            </a:r>
            <a:endParaRPr lang="en-US" sz="1080" dirty="0"/>
          </a:p>
        </p:txBody>
      </p:sp>
      <p:sp>
        <p:nvSpPr>
          <p:cNvPr id="19" name="Shape 17"/>
          <p:cNvSpPr/>
          <p:nvPr/>
        </p:nvSpPr>
        <p:spPr>
          <a:xfrm>
            <a:off x="9084564" y="1691640"/>
            <a:ext cx="2619756" cy="1828800"/>
          </a:xfrm>
          <a:prstGeom prst="roundRect">
            <a:avLst>
              <a:gd name="adj" fmla="val 4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0" name="Shape 18"/>
          <p:cNvSpPr/>
          <p:nvPr/>
        </p:nvSpPr>
        <p:spPr>
          <a:xfrm>
            <a:off x="9249156" y="1837944"/>
            <a:ext cx="109728" cy="109728"/>
          </a:xfrm>
          <a:prstGeom prst="roundRect">
            <a:avLst>
              <a:gd name="adj" fmla="val 50000"/>
            </a:avLst>
          </a:prstGeom>
          <a:solidFill>
            <a:srgbClr val="FB923C"/>
          </a:solidFill>
          <a:ln/>
        </p:spPr>
      </p:sp>
      <p:sp>
        <p:nvSpPr>
          <p:cNvPr id="21" name="Text 19"/>
          <p:cNvSpPr/>
          <p:nvPr/>
        </p:nvSpPr>
        <p:spPr>
          <a:xfrm>
            <a:off x="9450324" y="1764792"/>
            <a:ext cx="2116836"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Pre-Renewal</a:t>
            </a:r>
            <a:endParaRPr lang="en-US" sz="1300" dirty="0"/>
          </a:p>
        </p:txBody>
      </p:sp>
      <p:sp>
        <p:nvSpPr>
          <p:cNvPr id="22" name="Text 20"/>
          <p:cNvSpPr/>
          <p:nvPr/>
        </p:nvSpPr>
        <p:spPr>
          <a:xfrm>
            <a:off x="9267444" y="2112264"/>
            <a:ext cx="2253996" cy="129844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Preparatory step ahead of the renewal transaction.</a:t>
            </a:r>
            <a:endParaRPr lang="en-US" sz="1080" dirty="0"/>
          </a:p>
        </p:txBody>
      </p:sp>
      <p:sp>
        <p:nvSpPr>
          <p:cNvPr id="23" name="Text 21"/>
          <p:cNvSpPr/>
          <p:nvPr/>
        </p:nvSpPr>
        <p:spPr>
          <a:xfrm>
            <a:off x="457200" y="3703320"/>
            <a:ext cx="5486400" cy="292608"/>
          </a:xfrm>
          <a:prstGeom prst="rect">
            <a:avLst/>
          </a:prstGeom>
          <a:noFill/>
          <a:ln/>
        </p:spPr>
        <p:txBody>
          <a:bodyPr wrap="square" rtlCol="0" anchor="ctr"/>
          <a:lstStyle/>
          <a:p>
            <a:pPr indent="0" marL="0">
              <a:buNone/>
            </a:pPr>
            <a:r>
              <a:rPr lang="en-US" sz="1250" b="1" spc="100" kern="0" dirty="0">
                <a:solidFill>
                  <a:srgbClr val="FB923C"/>
                </a:solidFill>
                <a:latin typeface="Calibri" pitchFamily="34" charset="0"/>
                <a:ea typeface="Calibri" pitchFamily="34" charset="-122"/>
                <a:cs typeface="Calibri" pitchFamily="34" charset="-120"/>
              </a:rPr>
              <a:t>QUOTE CREATION FLOW</a:t>
            </a:r>
            <a:endParaRPr lang="en-US" sz="1250" dirty="0"/>
          </a:p>
        </p:txBody>
      </p:sp>
      <p:sp>
        <p:nvSpPr>
          <p:cNvPr id="24" name="Shape 22"/>
          <p:cNvSpPr/>
          <p:nvPr/>
        </p:nvSpPr>
        <p:spPr>
          <a:xfrm>
            <a:off x="457200" y="4069080"/>
            <a:ext cx="1125855" cy="1005840"/>
          </a:xfrm>
          <a:prstGeom prst="roundRect">
            <a:avLst>
              <a:gd name="adj" fmla="val 727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5" name="Text 23"/>
          <p:cNvSpPr/>
          <p:nvPr/>
        </p:nvSpPr>
        <p:spPr>
          <a:xfrm>
            <a:off x="530352" y="4142232"/>
            <a:ext cx="979551" cy="8595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Vehicle</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Details</a:t>
            </a:r>
            <a:endParaRPr lang="en-US" sz="1200" dirty="0"/>
          </a:p>
        </p:txBody>
      </p:sp>
      <p:sp>
        <p:nvSpPr>
          <p:cNvPr id="26" name="Shape 24"/>
          <p:cNvSpPr/>
          <p:nvPr/>
        </p:nvSpPr>
        <p:spPr>
          <a:xfrm>
            <a:off x="1619631" y="4572000"/>
            <a:ext cx="246888" cy="914"/>
          </a:xfrm>
          <a:prstGeom prst="line">
            <a:avLst/>
          </a:prstGeom>
          <a:noFill/>
          <a:ln w="25400">
            <a:solidFill>
              <a:srgbClr val="FB923C"/>
            </a:solidFill>
            <a:prstDash val="solid"/>
            <a:tailEnd type="triangle"/>
          </a:ln>
        </p:spPr>
      </p:sp>
      <p:sp>
        <p:nvSpPr>
          <p:cNvPr id="27" name="Shape 25"/>
          <p:cNvSpPr/>
          <p:nvPr/>
        </p:nvSpPr>
        <p:spPr>
          <a:xfrm>
            <a:off x="1903095" y="4069080"/>
            <a:ext cx="1125855" cy="1005840"/>
          </a:xfrm>
          <a:prstGeom prst="roundRect">
            <a:avLst>
              <a:gd name="adj" fmla="val 727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8" name="Text 26"/>
          <p:cNvSpPr/>
          <p:nvPr/>
        </p:nvSpPr>
        <p:spPr>
          <a:xfrm>
            <a:off x="1976247" y="4142232"/>
            <a:ext cx="979551" cy="8595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Driver</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Details</a:t>
            </a:r>
            <a:endParaRPr lang="en-US" sz="1200" dirty="0"/>
          </a:p>
        </p:txBody>
      </p:sp>
      <p:sp>
        <p:nvSpPr>
          <p:cNvPr id="29" name="Shape 27"/>
          <p:cNvSpPr/>
          <p:nvPr/>
        </p:nvSpPr>
        <p:spPr>
          <a:xfrm>
            <a:off x="3065526" y="4572000"/>
            <a:ext cx="246888" cy="914"/>
          </a:xfrm>
          <a:prstGeom prst="line">
            <a:avLst/>
          </a:prstGeom>
          <a:noFill/>
          <a:ln w="25400">
            <a:solidFill>
              <a:srgbClr val="FB923C"/>
            </a:solidFill>
            <a:prstDash val="solid"/>
            <a:tailEnd type="triangle"/>
          </a:ln>
        </p:spPr>
      </p:sp>
      <p:sp>
        <p:nvSpPr>
          <p:cNvPr id="30" name="Shape 28"/>
          <p:cNvSpPr/>
          <p:nvPr/>
        </p:nvSpPr>
        <p:spPr>
          <a:xfrm>
            <a:off x="3348990" y="4069080"/>
            <a:ext cx="1125855" cy="1005840"/>
          </a:xfrm>
          <a:prstGeom prst="roundRect">
            <a:avLst>
              <a:gd name="adj" fmla="val 727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31" name="Text 29"/>
          <p:cNvSpPr/>
          <p:nvPr/>
        </p:nvSpPr>
        <p:spPr>
          <a:xfrm>
            <a:off x="3422142" y="4142232"/>
            <a:ext cx="979551" cy="8595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Additional</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Details</a:t>
            </a:r>
            <a:endParaRPr lang="en-US" sz="1200" dirty="0"/>
          </a:p>
        </p:txBody>
      </p:sp>
      <p:sp>
        <p:nvSpPr>
          <p:cNvPr id="32" name="Shape 30"/>
          <p:cNvSpPr/>
          <p:nvPr/>
        </p:nvSpPr>
        <p:spPr>
          <a:xfrm>
            <a:off x="4511421" y="4572000"/>
            <a:ext cx="246888" cy="914"/>
          </a:xfrm>
          <a:prstGeom prst="line">
            <a:avLst/>
          </a:prstGeom>
          <a:noFill/>
          <a:ln w="25400">
            <a:solidFill>
              <a:srgbClr val="FB923C"/>
            </a:solidFill>
            <a:prstDash val="solid"/>
            <a:tailEnd type="triangle"/>
          </a:ln>
        </p:spPr>
      </p:sp>
      <p:sp>
        <p:nvSpPr>
          <p:cNvPr id="33" name="Shape 31"/>
          <p:cNvSpPr/>
          <p:nvPr/>
        </p:nvSpPr>
        <p:spPr>
          <a:xfrm>
            <a:off x="4794885" y="4069080"/>
            <a:ext cx="1125855" cy="1005840"/>
          </a:xfrm>
          <a:prstGeom prst="roundRect">
            <a:avLst>
              <a:gd name="adj" fmla="val 727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34" name="Text 32"/>
          <p:cNvSpPr/>
          <p:nvPr/>
        </p:nvSpPr>
        <p:spPr>
          <a:xfrm>
            <a:off x="4868037" y="4142232"/>
            <a:ext cx="979551" cy="8595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Get</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Quote</a:t>
            </a:r>
            <a:endParaRPr lang="en-US" sz="1200" dirty="0"/>
          </a:p>
        </p:txBody>
      </p:sp>
      <p:sp>
        <p:nvSpPr>
          <p:cNvPr id="35" name="Shape 33"/>
          <p:cNvSpPr/>
          <p:nvPr/>
        </p:nvSpPr>
        <p:spPr>
          <a:xfrm>
            <a:off x="5957316" y="4572000"/>
            <a:ext cx="246888" cy="914"/>
          </a:xfrm>
          <a:prstGeom prst="line">
            <a:avLst/>
          </a:prstGeom>
          <a:noFill/>
          <a:ln w="25400">
            <a:solidFill>
              <a:srgbClr val="FB923C"/>
            </a:solidFill>
            <a:prstDash val="solid"/>
            <a:tailEnd type="triangle"/>
          </a:ln>
        </p:spPr>
      </p:sp>
      <p:sp>
        <p:nvSpPr>
          <p:cNvPr id="36" name="Shape 34"/>
          <p:cNvSpPr/>
          <p:nvPr/>
        </p:nvSpPr>
        <p:spPr>
          <a:xfrm>
            <a:off x="6240780" y="4069080"/>
            <a:ext cx="1125855" cy="1005840"/>
          </a:xfrm>
          <a:prstGeom prst="roundRect">
            <a:avLst>
              <a:gd name="adj" fmla="val 727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37" name="Text 35"/>
          <p:cNvSpPr/>
          <p:nvPr/>
        </p:nvSpPr>
        <p:spPr>
          <a:xfrm>
            <a:off x="6313932" y="4142232"/>
            <a:ext cx="979551" cy="8595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Quote ID</a:t>
            </a:r>
            <a:endParaRPr lang="en-US" sz="1200" dirty="0"/>
          </a:p>
        </p:txBody>
      </p:sp>
      <p:sp>
        <p:nvSpPr>
          <p:cNvPr id="38" name="Shape 36"/>
          <p:cNvSpPr/>
          <p:nvPr/>
        </p:nvSpPr>
        <p:spPr>
          <a:xfrm>
            <a:off x="7403211" y="4572000"/>
            <a:ext cx="246888" cy="914"/>
          </a:xfrm>
          <a:prstGeom prst="line">
            <a:avLst/>
          </a:prstGeom>
          <a:noFill/>
          <a:ln w="25400">
            <a:solidFill>
              <a:srgbClr val="FB923C"/>
            </a:solidFill>
            <a:prstDash val="solid"/>
            <a:tailEnd type="triangle"/>
          </a:ln>
        </p:spPr>
      </p:sp>
      <p:sp>
        <p:nvSpPr>
          <p:cNvPr id="39" name="Shape 37"/>
          <p:cNvSpPr/>
          <p:nvPr/>
        </p:nvSpPr>
        <p:spPr>
          <a:xfrm>
            <a:off x="7686675" y="4069080"/>
            <a:ext cx="1125855" cy="1005840"/>
          </a:xfrm>
          <a:prstGeom prst="roundRect">
            <a:avLst>
              <a:gd name="adj" fmla="val 727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40" name="Text 38"/>
          <p:cNvSpPr/>
          <p:nvPr/>
        </p:nvSpPr>
        <p:spPr>
          <a:xfrm>
            <a:off x="7759827" y="4142232"/>
            <a:ext cx="979551" cy="8595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Select</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Tier</a:t>
            </a:r>
            <a:endParaRPr lang="en-US" sz="1200" dirty="0"/>
          </a:p>
        </p:txBody>
      </p:sp>
      <p:sp>
        <p:nvSpPr>
          <p:cNvPr id="41" name="Shape 39"/>
          <p:cNvSpPr/>
          <p:nvPr/>
        </p:nvSpPr>
        <p:spPr>
          <a:xfrm>
            <a:off x="8849106" y="4572000"/>
            <a:ext cx="246888" cy="914"/>
          </a:xfrm>
          <a:prstGeom prst="line">
            <a:avLst/>
          </a:prstGeom>
          <a:noFill/>
          <a:ln w="25400">
            <a:solidFill>
              <a:srgbClr val="FB923C"/>
            </a:solidFill>
            <a:prstDash val="solid"/>
            <a:tailEnd type="triangle"/>
          </a:ln>
        </p:spPr>
      </p:sp>
      <p:sp>
        <p:nvSpPr>
          <p:cNvPr id="42" name="Shape 40"/>
          <p:cNvSpPr/>
          <p:nvPr/>
        </p:nvSpPr>
        <p:spPr>
          <a:xfrm>
            <a:off x="9132570" y="4069080"/>
            <a:ext cx="1125855" cy="1005840"/>
          </a:xfrm>
          <a:prstGeom prst="roundRect">
            <a:avLst>
              <a:gd name="adj" fmla="val 727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43" name="Text 41"/>
          <p:cNvSpPr/>
          <p:nvPr/>
        </p:nvSpPr>
        <p:spPr>
          <a:xfrm>
            <a:off x="9205722" y="4142232"/>
            <a:ext cx="979551" cy="8595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Payment</a:t>
            </a:r>
            <a:endParaRPr lang="en-US" sz="1200" dirty="0"/>
          </a:p>
        </p:txBody>
      </p:sp>
      <p:sp>
        <p:nvSpPr>
          <p:cNvPr id="44" name="Shape 42"/>
          <p:cNvSpPr/>
          <p:nvPr/>
        </p:nvSpPr>
        <p:spPr>
          <a:xfrm>
            <a:off x="10295001" y="4572000"/>
            <a:ext cx="246888" cy="914"/>
          </a:xfrm>
          <a:prstGeom prst="line">
            <a:avLst/>
          </a:prstGeom>
          <a:noFill/>
          <a:ln w="25400">
            <a:solidFill>
              <a:srgbClr val="FB923C"/>
            </a:solidFill>
            <a:prstDash val="solid"/>
            <a:tailEnd type="triangle"/>
          </a:ln>
        </p:spPr>
      </p:sp>
      <p:sp>
        <p:nvSpPr>
          <p:cNvPr id="45" name="Shape 43"/>
          <p:cNvSpPr/>
          <p:nvPr/>
        </p:nvSpPr>
        <p:spPr>
          <a:xfrm>
            <a:off x="10578465" y="4069080"/>
            <a:ext cx="1125855" cy="1005840"/>
          </a:xfrm>
          <a:prstGeom prst="roundRect">
            <a:avLst>
              <a:gd name="adj" fmla="val 7273"/>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46" name="Text 44"/>
          <p:cNvSpPr/>
          <p:nvPr/>
        </p:nvSpPr>
        <p:spPr>
          <a:xfrm>
            <a:off x="10651617" y="4142232"/>
            <a:ext cx="979551" cy="85953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Policy</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Issued</a:t>
            </a:r>
            <a:endParaRPr lang="en-US" sz="1200" dirty="0"/>
          </a:p>
        </p:txBody>
      </p:sp>
      <p:sp>
        <p:nvSpPr>
          <p:cNvPr id="47" name="Shape 45"/>
          <p:cNvSpPr/>
          <p:nvPr/>
        </p:nvSpPr>
        <p:spPr>
          <a:xfrm>
            <a:off x="457200" y="5394960"/>
            <a:ext cx="11247120" cy="594360"/>
          </a:xfrm>
          <a:prstGeom prst="roundRect">
            <a:avLst>
              <a:gd name="adj" fmla="val 12308"/>
            </a:avLst>
          </a:prstGeom>
          <a:solidFill>
            <a:srgbClr val="101A30"/>
          </a:solidFill>
          <a:ln w="12700">
            <a:solidFill>
              <a:srgbClr val="FB923C"/>
            </a:solidFill>
            <a:prstDash val="solid"/>
          </a:ln>
        </p:spPr>
      </p:sp>
      <p:sp>
        <p:nvSpPr>
          <p:cNvPr id="48" name="Text 46"/>
          <p:cNvSpPr/>
          <p:nvPr/>
        </p:nvSpPr>
        <p:spPr>
          <a:xfrm>
            <a:off x="685800" y="5394960"/>
            <a:ext cx="10789920" cy="594360"/>
          </a:xfrm>
          <a:prstGeom prst="rect">
            <a:avLst/>
          </a:prstGeom>
          <a:noFill/>
          <a:ln/>
        </p:spPr>
        <p:txBody>
          <a:bodyPr wrap="square" rtlCol="0" anchor="ctr"/>
          <a:lstStyle/>
          <a:p>
            <a:pPr indent="0" marL="0">
              <a:buNone/>
            </a:pPr>
            <a:r>
              <a:rPr lang="en-US" sz="1150" i="1" dirty="0">
                <a:solidFill>
                  <a:srgbClr val="97A3BE"/>
                </a:solidFill>
                <a:latin typeface="Calibri" pitchFamily="34" charset="0"/>
                <a:ea typeface="Calibri" pitchFamily="34" charset="-122"/>
                <a:cs typeface="Calibri" pitchFamily="34" charset="-120"/>
              </a:rPr>
              <a:t>Channels: Call Centre  •  Quote &amp; Buy (Web)  •  Aggregators — MSM, Confused, GOCO, CTM (LV-branded only)</a:t>
            </a:r>
            <a:endParaRPr lang="en-US" sz="1150" dirty="0"/>
          </a:p>
        </p:txBody>
      </p:sp>
      <p:sp>
        <p:nvSpPr>
          <p:cNvPr id="49" name="Text 47"/>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MOTOR</a:t>
            </a:r>
            <a:endParaRPr lang="en-US" sz="900" dirty="0"/>
          </a:p>
        </p:txBody>
      </p:sp>
      <p:sp>
        <p:nvSpPr>
          <p:cNvPr id="50" name="Text 48"/>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51" name="Text 49"/>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FB923C">
              <a:alpha val="12000"/>
            </a:srgbClr>
          </a:solidFill>
          <a:ln/>
        </p:spPr>
      </p:sp>
      <p:sp>
        <p:nvSpPr>
          <p:cNvPr id="3" name="Shape 1"/>
          <p:cNvSpPr/>
          <p:nvPr/>
        </p:nvSpPr>
        <p:spPr>
          <a:xfrm>
            <a:off x="-1280160" y="6035040"/>
            <a:ext cx="2377440" cy="2377440"/>
          </a:xfrm>
          <a:prstGeom prst="ellipse">
            <a:avLst/>
          </a:prstGeom>
          <a:solidFill>
            <a:srgbClr val="FB923C">
              <a:alpha val="8000"/>
            </a:srgbClr>
          </a:solidFill>
          <a:ln/>
        </p:spPr>
      </p:sp>
      <p:sp>
        <p:nvSpPr>
          <p:cNvPr id="4" name="Shape 2"/>
          <p:cNvSpPr/>
          <p:nvPr/>
        </p:nvSpPr>
        <p:spPr>
          <a:xfrm>
            <a:off x="457200" y="384048"/>
            <a:ext cx="146304" cy="146304"/>
          </a:xfrm>
          <a:prstGeom prst="roundRect">
            <a:avLst>
              <a:gd name="adj" fmla="val 50000"/>
            </a:avLst>
          </a:prstGeom>
          <a:solidFill>
            <a:srgbClr val="FB923C"/>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FB923C"/>
                </a:solidFill>
                <a:latin typeface="Calibri" pitchFamily="34" charset="0"/>
                <a:ea typeface="Calibri" pitchFamily="34" charset="-122"/>
                <a:cs typeface="Calibri" pitchFamily="34" charset="-120"/>
              </a:rPr>
              <a:t>SECTION 03</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Vehicle, Driver &amp; Quote Validation</a:t>
            </a:r>
            <a:endParaRPr lang="en-US" sz="3000" dirty="0"/>
          </a:p>
        </p:txBody>
      </p:sp>
      <p:sp>
        <p:nvSpPr>
          <p:cNvPr id="7" name="Shape 5"/>
          <p:cNvSpPr/>
          <p:nvPr/>
        </p:nvSpPr>
        <p:spPr>
          <a:xfrm>
            <a:off x="457200" y="1691640"/>
            <a:ext cx="3657600" cy="4297680"/>
          </a:xfrm>
          <a:prstGeom prst="roundRect">
            <a:avLst>
              <a:gd name="adj" fmla="val 2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920240"/>
            <a:ext cx="91440" cy="91440"/>
          </a:xfrm>
          <a:prstGeom prst="roundRect">
            <a:avLst>
              <a:gd name="adj" fmla="val 50000"/>
            </a:avLst>
          </a:prstGeom>
          <a:solidFill>
            <a:srgbClr val="FB923C"/>
          </a:solidFill>
          <a:ln/>
        </p:spPr>
      </p:sp>
      <p:sp>
        <p:nvSpPr>
          <p:cNvPr id="9" name="Text 7"/>
          <p:cNvSpPr/>
          <p:nvPr/>
        </p:nvSpPr>
        <p:spPr>
          <a:xfrm>
            <a:off x="868680" y="1837944"/>
            <a:ext cx="3017520" cy="292608"/>
          </a:xfrm>
          <a:prstGeom prst="rect">
            <a:avLst/>
          </a:prstGeom>
          <a:noFill/>
          <a:ln/>
        </p:spPr>
        <p:txBody>
          <a:bodyPr wrap="square" rtlCol="0" anchor="ctr"/>
          <a:lstStyle/>
          <a:p>
            <a:pPr indent="0" marL="0">
              <a:buNone/>
            </a:pPr>
            <a:r>
              <a:rPr lang="en-US" sz="1400" b="1" dirty="0">
                <a:solidFill>
                  <a:srgbClr val="FB923C"/>
                </a:solidFill>
                <a:latin typeface="Calibri" pitchFamily="34" charset="0"/>
                <a:ea typeface="Calibri" pitchFamily="34" charset="-122"/>
                <a:cs typeface="Calibri" pitchFamily="34" charset="-120"/>
              </a:rPr>
              <a:t>Vehicle Details</a:t>
            </a:r>
            <a:endParaRPr lang="en-US" sz="1400" dirty="0"/>
          </a:p>
        </p:txBody>
      </p:sp>
      <p:sp>
        <p:nvSpPr>
          <p:cNvPr id="10" name="Text 8"/>
          <p:cNvSpPr/>
          <p:nvPr/>
        </p:nvSpPr>
        <p:spPr>
          <a:xfrm>
            <a:off x="731520" y="2276856"/>
            <a:ext cx="3108960" cy="3529584"/>
          </a:xfrm>
          <a:prstGeom prst="rect">
            <a:avLst/>
          </a:prstGeom>
          <a:noFill/>
          <a:ln/>
        </p:spPr>
        <p:txBody>
          <a:bodyPr wrap="square" rtlCol="0" anchor="t"/>
          <a:lstStyle/>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Registration number</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Make &amp; Model</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Manufacturer</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Date of purchase</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Transmission</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Fuel type</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Number of doors</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Vehicle description</a:t>
            </a:r>
            <a:endParaRPr lang="en-US" sz="1100" dirty="0"/>
          </a:p>
        </p:txBody>
      </p:sp>
      <p:sp>
        <p:nvSpPr>
          <p:cNvPr id="11" name="Shape 9"/>
          <p:cNvSpPr/>
          <p:nvPr/>
        </p:nvSpPr>
        <p:spPr>
          <a:xfrm>
            <a:off x="4251960" y="1691640"/>
            <a:ext cx="3657600" cy="4297680"/>
          </a:xfrm>
          <a:prstGeom prst="roundRect">
            <a:avLst>
              <a:gd name="adj" fmla="val 2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2" name="Shape 10"/>
          <p:cNvSpPr/>
          <p:nvPr/>
        </p:nvSpPr>
        <p:spPr>
          <a:xfrm>
            <a:off x="4480560" y="1920240"/>
            <a:ext cx="91440" cy="91440"/>
          </a:xfrm>
          <a:prstGeom prst="roundRect">
            <a:avLst>
              <a:gd name="adj" fmla="val 50000"/>
            </a:avLst>
          </a:prstGeom>
          <a:solidFill>
            <a:srgbClr val="FB923C"/>
          </a:solidFill>
          <a:ln/>
        </p:spPr>
      </p:sp>
      <p:sp>
        <p:nvSpPr>
          <p:cNvPr id="13" name="Text 11"/>
          <p:cNvSpPr/>
          <p:nvPr/>
        </p:nvSpPr>
        <p:spPr>
          <a:xfrm>
            <a:off x="4663440" y="1837944"/>
            <a:ext cx="3017520" cy="292608"/>
          </a:xfrm>
          <a:prstGeom prst="rect">
            <a:avLst/>
          </a:prstGeom>
          <a:noFill/>
          <a:ln/>
        </p:spPr>
        <p:txBody>
          <a:bodyPr wrap="square" rtlCol="0" anchor="ctr"/>
          <a:lstStyle/>
          <a:p>
            <a:pPr indent="0" marL="0">
              <a:buNone/>
            </a:pPr>
            <a:r>
              <a:rPr lang="en-US" sz="1400" b="1" dirty="0">
                <a:solidFill>
                  <a:srgbClr val="FB923C"/>
                </a:solidFill>
                <a:latin typeface="Calibri" pitchFamily="34" charset="0"/>
                <a:ea typeface="Calibri" pitchFamily="34" charset="-122"/>
                <a:cs typeface="Calibri" pitchFamily="34" charset="-120"/>
              </a:rPr>
              <a:t>Driver Validation</a:t>
            </a:r>
            <a:endParaRPr lang="en-US" sz="1400" dirty="0"/>
          </a:p>
        </p:txBody>
      </p:sp>
      <p:sp>
        <p:nvSpPr>
          <p:cNvPr id="14" name="Text 12"/>
          <p:cNvSpPr/>
          <p:nvPr/>
        </p:nvSpPr>
        <p:spPr>
          <a:xfrm>
            <a:off x="4526280" y="2276856"/>
            <a:ext cx="3108960" cy="3529584"/>
          </a:xfrm>
          <a:prstGeom prst="rect">
            <a:avLst/>
          </a:prstGeom>
          <a:noFill/>
          <a:ln/>
        </p:spPr>
        <p:txBody>
          <a:bodyPr wrap="square" rtlCol="0" anchor="t"/>
          <a:lstStyle/>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Driver details</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Date of birth</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Driving licence</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Postcode &amp; address</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Driving history</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Claims / accidents</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Motoring convictions</a:t>
            </a:r>
            <a:endParaRPr lang="en-US" sz="1100" dirty="0"/>
          </a:p>
          <a:p>
            <a:pPr marL="177800" indent="-177800">
              <a:lnSpc>
                <a:spcPct val="112000"/>
              </a:lnSpc>
              <a:spcAft>
                <a:spcPts val="1000"/>
              </a:spcAft>
              <a:buSzPct val="100000"/>
              <a:buChar char="•"/>
            </a:pPr>
            <a:r>
              <a:rPr lang="en-US" sz="1100" dirty="0">
                <a:solidFill>
                  <a:srgbClr val="F3F6FB"/>
                </a:solidFill>
                <a:latin typeface="Calibri" pitchFamily="34" charset="0"/>
                <a:ea typeface="Calibri" pitchFamily="34" charset="-122"/>
                <a:cs typeface="Calibri" pitchFamily="34" charset="-120"/>
              </a:rPr>
              <a:t>Additional driver</a:t>
            </a:r>
            <a:endParaRPr lang="en-US" sz="1100" dirty="0"/>
          </a:p>
        </p:txBody>
      </p:sp>
      <p:sp>
        <p:nvSpPr>
          <p:cNvPr id="15" name="Shape 13"/>
          <p:cNvSpPr/>
          <p:nvPr/>
        </p:nvSpPr>
        <p:spPr>
          <a:xfrm>
            <a:off x="8046720" y="1691640"/>
            <a:ext cx="3657600" cy="4297680"/>
          </a:xfrm>
          <a:prstGeom prst="roundRect">
            <a:avLst>
              <a:gd name="adj" fmla="val 2000"/>
            </a:avLst>
          </a:prstGeom>
          <a:solidFill>
            <a:srgbClr val="3D3117"/>
          </a:solidFill>
          <a:ln w="16510">
            <a:solidFill>
              <a:srgbClr val="F5B942"/>
            </a:solidFill>
            <a:prstDash val="solid"/>
          </a:ln>
          <a:effectLst>
            <a:outerShdw sx="100000" sy="100000" kx="0" ky="0" algn="bl" rotWithShape="0" blurRad="101600" dist="38100" dir="5400000">
              <a:srgbClr val="000000">
                <a:alpha val="45000"/>
              </a:srgbClr>
            </a:outerShdw>
          </a:effectLst>
        </p:spPr>
      </p:sp>
      <p:sp>
        <p:nvSpPr>
          <p:cNvPr id="16" name="Text 14"/>
          <p:cNvSpPr/>
          <p:nvPr/>
        </p:nvSpPr>
        <p:spPr>
          <a:xfrm>
            <a:off x="8275320" y="1847088"/>
            <a:ext cx="3200400" cy="320040"/>
          </a:xfrm>
          <a:prstGeom prst="rect">
            <a:avLst/>
          </a:prstGeom>
          <a:noFill/>
          <a:ln/>
        </p:spPr>
        <p:txBody>
          <a:bodyPr wrap="square" rtlCol="0" anchor="ctr"/>
          <a:lstStyle/>
          <a:p>
            <a:pPr indent="0" marL="0">
              <a:buNone/>
            </a:pPr>
            <a:r>
              <a:rPr lang="en-US" sz="1150" b="1" spc="100" kern="0" dirty="0">
                <a:solidFill>
                  <a:srgbClr val="F5B942"/>
                </a:solidFill>
                <a:latin typeface="Calibri" pitchFamily="34" charset="0"/>
                <a:ea typeface="Calibri" pitchFamily="34" charset="-122"/>
                <a:cs typeface="Calibri" pitchFamily="34" charset="-120"/>
              </a:rPr>
              <a:t>VALIDATION EXAMPLES</a:t>
            </a:r>
            <a:endParaRPr lang="en-US" sz="1150" dirty="0"/>
          </a:p>
        </p:txBody>
      </p:sp>
      <p:sp>
        <p:nvSpPr>
          <p:cNvPr id="17" name="Text 15"/>
          <p:cNvSpPr/>
          <p:nvPr/>
        </p:nvSpPr>
        <p:spPr>
          <a:xfrm>
            <a:off x="8275320" y="2240280"/>
            <a:ext cx="3200400" cy="3611880"/>
          </a:xfrm>
          <a:prstGeom prst="rect">
            <a:avLst/>
          </a:prstGeom>
          <a:noFill/>
          <a:ln/>
        </p:spPr>
        <p:txBody>
          <a:bodyPr wrap="square" rtlCol="0" anchor="t"/>
          <a:lstStyle/>
          <a:p>
            <a:pPr marL="342900" indent="-342900">
              <a:lnSpc>
                <a:spcPct val="112000"/>
              </a:lnSpc>
              <a:spcAft>
                <a:spcPts val="800"/>
              </a:spcAft>
              <a:buSzPct val="100000"/>
              <a:buChar char="•"/>
            </a:pPr>
            <a:r>
              <a:rPr lang="en-US" sz="1080" dirty="0">
                <a:solidFill>
                  <a:srgbClr val="F3F6FB"/>
                </a:solidFill>
                <a:latin typeface="Calibri" pitchFamily="34" charset="0"/>
                <a:ea typeface="Calibri" pitchFamily="34" charset="-122"/>
                <a:cs typeface="Calibri" pitchFamily="34" charset="-120"/>
              </a:rPr>
              <a:t>Driver must be 18+ to meet minimum age requirement.
</a:t>
            </a:r>
            <a:endParaRPr lang="en-US" sz="1080" dirty="0"/>
          </a:p>
          <a:p>
            <a:pPr marL="342900" indent="-342900">
              <a:lnSpc>
                <a:spcPct val="112000"/>
              </a:lnSpc>
              <a:spcAft>
                <a:spcPts val="800"/>
              </a:spcAft>
              <a:buSzPct val="100000"/>
              <a:buChar char="•"/>
            </a:pPr>
            <a:r>
              <a:rPr lang="en-US" sz="1080" dirty="0">
                <a:solidFill>
                  <a:srgbClr val="F3F6FB"/>
                </a:solidFill>
                <a:latin typeface="Calibri" pitchFamily="34" charset="0"/>
                <a:ea typeface="Calibri" pitchFamily="34" charset="-122"/>
                <a:cs typeface="Calibri" pitchFamily="34" charset="-120"/>
              </a:rPr>
              <a:t>Invalid vehicle modification/details can lead to decline.
</a:t>
            </a:r>
            <a:endParaRPr lang="en-US" sz="1080" dirty="0"/>
          </a:p>
          <a:p>
            <a:pPr marL="342900" indent="-342900">
              <a:lnSpc>
                <a:spcPct val="112000"/>
              </a:lnSpc>
              <a:spcAft>
                <a:spcPts val="800"/>
              </a:spcAft>
              <a:buSzPct val="100000"/>
              <a:buChar char="•"/>
            </a:pPr>
            <a:r>
              <a:rPr lang="en-US" sz="1080" dirty="0">
                <a:solidFill>
                  <a:srgbClr val="F3F6FB"/>
                </a:solidFill>
                <a:latin typeface="Calibri" pitchFamily="34" charset="0"/>
                <a:ea typeface="Calibri" pitchFamily="34" charset="-122"/>
                <a:cs typeface="Calibri" pitchFamily="34" charset="-120"/>
              </a:rPr>
              <a:t>Certain driving history conditions can result in decline.
</a:t>
            </a:r>
            <a:endParaRPr lang="en-US" sz="1080" dirty="0"/>
          </a:p>
          <a:p>
            <a:pPr marL="342900" indent="-342900">
              <a:lnSpc>
                <a:spcPct val="112000"/>
              </a:lnSpc>
              <a:spcAft>
                <a:spcPts val="800"/>
              </a:spcAft>
              <a:buSzPct val="100000"/>
              <a:buChar char="•"/>
            </a:pPr>
            <a:r>
              <a:rPr lang="en-US" sz="1080" dirty="0">
                <a:solidFill>
                  <a:srgbClr val="F3F6FB"/>
                </a:solidFill>
                <a:latin typeface="Calibri" pitchFamily="34" charset="0"/>
                <a:ea typeface="Calibri" pitchFamily="34" charset="-122"/>
                <a:cs typeface="Calibri" pitchFamily="34" charset="-120"/>
              </a:rPr>
              <a:t>Reg format: 7 characters, alphanumeric, no spaces.
</a:t>
            </a:r>
            <a:endParaRPr lang="en-US" sz="1080" dirty="0"/>
          </a:p>
          <a:p>
            <a:pPr marL="342900" indent="-342900">
              <a:lnSpc>
                <a:spcPct val="112000"/>
              </a:lnSpc>
              <a:buSzPct val="100000"/>
              <a:buChar char="•"/>
            </a:pPr>
            <a:r>
              <a:rPr lang="en-US" sz="1080" dirty="0">
                <a:solidFill>
                  <a:srgbClr val="F3F6FB"/>
                </a:solidFill>
                <a:latin typeface="Calibri" pitchFamily="34" charset="0"/>
                <a:ea typeface="Calibri" pitchFamily="34" charset="-122"/>
                <a:cs typeface="Calibri" pitchFamily="34" charset="-120"/>
              </a:rPr>
              <a:t>Postcode format: 6 digits with a space after 3 (e.g. AB1 2CD).</a:t>
            </a:r>
            <a:endParaRPr lang="en-US" sz="1080" dirty="0"/>
          </a:p>
        </p:txBody>
      </p:sp>
      <p:sp>
        <p:nvSpPr>
          <p:cNvPr id="18" name="Text 16"/>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MOTOR</a:t>
            </a:r>
            <a:endParaRPr lang="en-US" sz="900" dirty="0"/>
          </a:p>
        </p:txBody>
      </p:sp>
      <p:sp>
        <p:nvSpPr>
          <p:cNvPr id="19" name="Text 17"/>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20" name="Text 18"/>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FB923C">
              <a:alpha val="12000"/>
            </a:srgbClr>
          </a:solidFill>
          <a:ln/>
        </p:spPr>
      </p:sp>
      <p:sp>
        <p:nvSpPr>
          <p:cNvPr id="3" name="Shape 1"/>
          <p:cNvSpPr/>
          <p:nvPr/>
        </p:nvSpPr>
        <p:spPr>
          <a:xfrm>
            <a:off x="-1280160" y="6035040"/>
            <a:ext cx="2377440" cy="2377440"/>
          </a:xfrm>
          <a:prstGeom prst="ellipse">
            <a:avLst/>
          </a:prstGeom>
          <a:solidFill>
            <a:srgbClr val="FB923C">
              <a:alpha val="8000"/>
            </a:srgbClr>
          </a:solidFill>
          <a:ln/>
        </p:spPr>
      </p:sp>
      <p:sp>
        <p:nvSpPr>
          <p:cNvPr id="4" name="Shape 2"/>
          <p:cNvSpPr/>
          <p:nvPr/>
        </p:nvSpPr>
        <p:spPr>
          <a:xfrm>
            <a:off x="457200" y="384048"/>
            <a:ext cx="146304" cy="146304"/>
          </a:xfrm>
          <a:prstGeom prst="roundRect">
            <a:avLst>
              <a:gd name="adj" fmla="val 50000"/>
            </a:avLst>
          </a:prstGeom>
          <a:solidFill>
            <a:srgbClr val="FB923C"/>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FB923C"/>
                </a:solidFill>
                <a:latin typeface="Calibri" pitchFamily="34" charset="0"/>
                <a:ea typeface="Calibri" pitchFamily="34" charset="-122"/>
                <a:cs typeface="Calibri" pitchFamily="34" charset="-120"/>
              </a:rPr>
              <a:t>SECTION 03</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Quote ID, Tiers &amp; Premium</a:t>
            </a:r>
            <a:endParaRPr lang="en-US" sz="3000" dirty="0"/>
          </a:p>
        </p:txBody>
      </p:sp>
      <p:sp>
        <p:nvSpPr>
          <p:cNvPr id="7" name="Shape 5"/>
          <p:cNvSpPr/>
          <p:nvPr/>
        </p:nvSpPr>
        <p:spPr>
          <a:xfrm>
            <a:off x="457200" y="1691640"/>
            <a:ext cx="5394960" cy="2103120"/>
          </a:xfrm>
          <a:prstGeom prst="roundRect">
            <a:avLst>
              <a:gd name="adj" fmla="val 3478"/>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920240"/>
            <a:ext cx="91440" cy="91440"/>
          </a:xfrm>
          <a:prstGeom prst="roundRect">
            <a:avLst>
              <a:gd name="adj" fmla="val 50000"/>
            </a:avLst>
          </a:prstGeom>
          <a:solidFill>
            <a:srgbClr val="FB923C"/>
          </a:solidFill>
          <a:ln/>
        </p:spPr>
      </p:sp>
      <p:sp>
        <p:nvSpPr>
          <p:cNvPr id="9" name="Text 7"/>
          <p:cNvSpPr/>
          <p:nvPr/>
        </p:nvSpPr>
        <p:spPr>
          <a:xfrm>
            <a:off x="868680" y="1837944"/>
            <a:ext cx="4754880" cy="292608"/>
          </a:xfrm>
          <a:prstGeom prst="rect">
            <a:avLst/>
          </a:prstGeom>
          <a:noFill/>
          <a:ln/>
        </p:spPr>
        <p:txBody>
          <a:bodyPr wrap="square" rtlCol="0" anchor="ctr"/>
          <a:lstStyle/>
          <a:p>
            <a:pPr indent="0" marL="0">
              <a:buNone/>
            </a:pPr>
            <a:r>
              <a:rPr lang="en-US" sz="1400" b="1" dirty="0">
                <a:solidFill>
                  <a:srgbClr val="FB923C"/>
                </a:solidFill>
                <a:latin typeface="Calibri" pitchFamily="34" charset="0"/>
                <a:ea typeface="Calibri" pitchFamily="34" charset="-122"/>
                <a:cs typeface="Calibri" pitchFamily="34" charset="-120"/>
              </a:rPr>
              <a:t>Quote ID</a:t>
            </a:r>
            <a:endParaRPr lang="en-US" sz="1400" dirty="0"/>
          </a:p>
        </p:txBody>
      </p:sp>
      <p:sp>
        <p:nvSpPr>
          <p:cNvPr id="10" name="Text 8"/>
          <p:cNvSpPr/>
          <p:nvPr/>
        </p:nvSpPr>
        <p:spPr>
          <a:xfrm>
            <a:off x="731520" y="2276856"/>
            <a:ext cx="4846320" cy="1335024"/>
          </a:xfrm>
          <a:prstGeom prst="rect">
            <a:avLst/>
          </a:prstGeom>
          <a:noFill/>
          <a:ln/>
        </p:spPr>
        <p:txBody>
          <a:bodyPr wrap="square" rtlCol="0" anchor="t"/>
          <a:lstStyle/>
          <a:p>
            <a:pPr marL="177800" indent="-177800">
              <a:lnSpc>
                <a:spcPct val="112000"/>
              </a:lnSpc>
              <a:spcAft>
                <a:spcPts val="1000"/>
              </a:spcAft>
              <a:buSzPct val="100000"/>
              <a:buChar char="•"/>
            </a:pPr>
            <a:r>
              <a:rPr lang="en-US" sz="1300" dirty="0">
                <a:solidFill>
                  <a:srgbClr val="F3F6FB"/>
                </a:solidFill>
                <a:latin typeface="Calibri" pitchFamily="34" charset="0"/>
                <a:ea typeface="Calibri" pitchFamily="34" charset="-122"/>
                <a:cs typeface="Calibri" pitchFamily="34" charset="-120"/>
              </a:rPr>
              <a:t>Generated when the quote is created.</a:t>
            </a:r>
            <a:endParaRPr lang="en-US" sz="1300" dirty="0"/>
          </a:p>
          <a:p>
            <a:pPr marL="177800" indent="-177800">
              <a:lnSpc>
                <a:spcPct val="112000"/>
              </a:lnSpc>
              <a:spcAft>
                <a:spcPts val="1000"/>
              </a:spcAft>
              <a:buSzPct val="100000"/>
              <a:buChar char="•"/>
            </a:pPr>
            <a:r>
              <a:rPr lang="en-US" sz="1300" dirty="0">
                <a:solidFill>
                  <a:srgbClr val="F3F6FB"/>
                </a:solidFill>
                <a:latin typeface="Calibri" pitchFamily="34" charset="0"/>
                <a:ea typeface="Calibri" pitchFamily="34" charset="-122"/>
                <a:cs typeface="Calibri" pitchFamily="34" charset="-120"/>
              </a:rPr>
              <a:t>Can be obtained from the frontend / URL.</a:t>
            </a:r>
            <a:endParaRPr lang="en-US" sz="1300" dirty="0"/>
          </a:p>
          <a:p>
            <a:pPr marL="177800" indent="-177800">
              <a:lnSpc>
                <a:spcPct val="112000"/>
              </a:lnSpc>
              <a:spcAft>
                <a:spcPts val="1000"/>
              </a:spcAft>
              <a:buSzPct val="100000"/>
              <a:buChar char="•"/>
            </a:pPr>
            <a:r>
              <a:rPr lang="en-US" sz="1300" dirty="0">
                <a:solidFill>
                  <a:srgbClr val="F3F6FB"/>
                </a:solidFill>
                <a:latin typeface="Calibri" pitchFamily="34" charset="0"/>
                <a:ea typeface="Calibri" pitchFamily="34" charset="-122"/>
                <a:cs typeface="Calibri" pitchFamily="34" charset="-120"/>
              </a:rPr>
              <a:t>Used to locate backend logs.</a:t>
            </a:r>
            <a:endParaRPr lang="en-US" sz="1300" dirty="0"/>
          </a:p>
        </p:txBody>
      </p:sp>
      <p:sp>
        <p:nvSpPr>
          <p:cNvPr id="11" name="Shape 9"/>
          <p:cNvSpPr/>
          <p:nvPr/>
        </p:nvSpPr>
        <p:spPr>
          <a:xfrm>
            <a:off x="457200" y="3931920"/>
            <a:ext cx="5394960" cy="2057400"/>
          </a:xfrm>
          <a:prstGeom prst="roundRect">
            <a:avLst>
              <a:gd name="adj" fmla="val 3556"/>
            </a:avLst>
          </a:prstGeom>
          <a:solidFill>
            <a:srgbClr val="101A30"/>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685800" y="4087368"/>
            <a:ext cx="4572000" cy="292608"/>
          </a:xfrm>
          <a:prstGeom prst="rect">
            <a:avLst/>
          </a:prstGeom>
          <a:noFill/>
          <a:ln/>
        </p:spPr>
        <p:txBody>
          <a:bodyPr wrap="square" rtlCol="0" anchor="ctr"/>
          <a:lstStyle/>
          <a:p>
            <a:pPr indent="0" marL="0">
              <a:buNone/>
            </a:pPr>
            <a:r>
              <a:rPr lang="en-US" sz="1200" b="1" spc="100" kern="0" dirty="0">
                <a:solidFill>
                  <a:srgbClr val="FB923C"/>
                </a:solidFill>
                <a:latin typeface="Calibri" pitchFamily="34" charset="0"/>
                <a:ea typeface="Calibri" pitchFamily="34" charset="-122"/>
                <a:cs typeface="Calibri" pitchFamily="34" charset="-120"/>
              </a:rPr>
              <a:t>VALIDATION</a:t>
            </a:r>
            <a:endParaRPr lang="en-US" sz="1200" dirty="0"/>
          </a:p>
        </p:txBody>
      </p:sp>
      <p:sp>
        <p:nvSpPr>
          <p:cNvPr id="13" name="Shape 11"/>
          <p:cNvSpPr/>
          <p:nvPr/>
        </p:nvSpPr>
        <p:spPr>
          <a:xfrm>
            <a:off x="722376" y="4489704"/>
            <a:ext cx="329184" cy="329184"/>
          </a:xfrm>
          <a:prstGeom prst="ellipse">
            <a:avLst/>
          </a:prstGeom>
          <a:solidFill>
            <a:srgbClr val="101A30"/>
          </a:solidFill>
          <a:ln w="19050">
            <a:solidFill>
              <a:srgbClr val="FB923C"/>
            </a:solidFill>
            <a:prstDash val="solid"/>
          </a:ln>
        </p:spPr>
      </p:sp>
      <p:sp>
        <p:nvSpPr>
          <p:cNvPr id="14" name="Text 12"/>
          <p:cNvSpPr/>
          <p:nvPr/>
        </p:nvSpPr>
        <p:spPr>
          <a:xfrm>
            <a:off x="722376" y="448970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15" name="Text 13"/>
          <p:cNvSpPr/>
          <p:nvPr/>
        </p:nvSpPr>
        <p:spPr>
          <a:xfrm>
            <a:off x="1143000" y="4434840"/>
            <a:ext cx="4480560" cy="47244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Verify premium for each tier</a:t>
            </a:r>
            <a:endParaRPr lang="en-US" sz="1150" dirty="0"/>
          </a:p>
        </p:txBody>
      </p:sp>
      <p:sp>
        <p:nvSpPr>
          <p:cNvPr id="16" name="Shape 14"/>
          <p:cNvSpPr/>
          <p:nvPr/>
        </p:nvSpPr>
        <p:spPr>
          <a:xfrm>
            <a:off x="722376" y="4962144"/>
            <a:ext cx="329184" cy="329184"/>
          </a:xfrm>
          <a:prstGeom prst="ellipse">
            <a:avLst/>
          </a:prstGeom>
          <a:solidFill>
            <a:srgbClr val="101A30"/>
          </a:solidFill>
          <a:ln w="19050">
            <a:solidFill>
              <a:srgbClr val="FB923C"/>
            </a:solidFill>
            <a:prstDash val="solid"/>
          </a:ln>
        </p:spPr>
      </p:sp>
      <p:sp>
        <p:nvSpPr>
          <p:cNvPr id="17" name="Text 15"/>
          <p:cNvSpPr/>
          <p:nvPr/>
        </p:nvSpPr>
        <p:spPr>
          <a:xfrm>
            <a:off x="722376" y="496214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18" name="Text 16"/>
          <p:cNvSpPr/>
          <p:nvPr/>
        </p:nvSpPr>
        <p:spPr>
          <a:xfrm>
            <a:off x="1143000" y="4907280"/>
            <a:ext cx="4480560" cy="47244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Verify total premium</a:t>
            </a:r>
            <a:endParaRPr lang="en-US" sz="1150" dirty="0"/>
          </a:p>
        </p:txBody>
      </p:sp>
      <p:sp>
        <p:nvSpPr>
          <p:cNvPr id="19" name="Shape 17"/>
          <p:cNvSpPr/>
          <p:nvPr/>
        </p:nvSpPr>
        <p:spPr>
          <a:xfrm>
            <a:off x="722376" y="5434584"/>
            <a:ext cx="329184" cy="329184"/>
          </a:xfrm>
          <a:prstGeom prst="ellipse">
            <a:avLst/>
          </a:prstGeom>
          <a:solidFill>
            <a:srgbClr val="101A30"/>
          </a:solidFill>
          <a:ln w="19050">
            <a:solidFill>
              <a:srgbClr val="FB923C"/>
            </a:solidFill>
            <a:prstDash val="solid"/>
          </a:ln>
        </p:spPr>
      </p:sp>
      <p:sp>
        <p:nvSpPr>
          <p:cNvPr id="20" name="Text 18"/>
          <p:cNvSpPr/>
          <p:nvPr/>
        </p:nvSpPr>
        <p:spPr>
          <a:xfrm>
            <a:off x="722376" y="543458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21" name="Text 19"/>
          <p:cNvSpPr/>
          <p:nvPr/>
        </p:nvSpPr>
        <p:spPr>
          <a:xfrm>
            <a:off x="1143000" y="5379720"/>
            <a:ext cx="4480560" cy="47244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Verify quote-related information</a:t>
            </a:r>
            <a:endParaRPr lang="en-US" sz="11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126480" y="1691640"/>
          <a:ext cx="5577840" cy="914400"/>
        </p:xfrm>
        <a:graphic>
          <a:graphicData uri="http://schemas.openxmlformats.org/drawingml/2006/table">
            <a:tbl>
              <a:tblPr/>
              <a:tblGrid>
                <a:gridCol w="1828800"/>
                <a:gridCol w="1828800"/>
                <a:gridCol w="1920240"/>
              </a:tblGrid>
              <a:tr h="685800">
                <a:tc>
                  <a:txBody>
                    <a:bodyPr/>
                    <a:lstStyle/>
                    <a:p>
                      <a:pPr algn="l" indent="0" marL="0">
                        <a:buNone/>
                      </a:pPr>
                      <a:r>
                        <a:rPr lang="en-US" sz="1200" b="1" dirty="0">
                          <a:solidFill>
                            <a:srgbClr val="0A0F1E"/>
                          </a:solidFill>
                          <a:latin typeface="Calibri" pitchFamily="34" charset="0"/>
                          <a:ea typeface="Calibri" pitchFamily="34" charset="-122"/>
                          <a:cs typeface="Calibri" pitchFamily="34" charset="-120"/>
                        </a:rPr>
                        <a:t>Tier</a:t>
                      </a:r>
                      <a:endParaRPr lang="en-US" sz="120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FB923C"/>
                    </a:solidFill>
                  </a:tcPr>
                </a:tc>
                <a:tc>
                  <a:txBody>
                    <a:bodyPr/>
                    <a:lstStyle/>
                    <a:p>
                      <a:pPr algn="l" indent="0" marL="0">
                        <a:buNone/>
                      </a:pPr>
                      <a:r>
                        <a:rPr lang="en-US" sz="1200" b="1" dirty="0">
                          <a:solidFill>
                            <a:srgbClr val="0A0F1E"/>
                          </a:solidFill>
                          <a:latin typeface="Calibri" pitchFamily="34" charset="0"/>
                          <a:ea typeface="Calibri" pitchFamily="34" charset="-122"/>
                          <a:cs typeface="Calibri" pitchFamily="34" charset="-120"/>
                        </a:rPr>
                        <a:t>Category</a:t>
                      </a:r>
                      <a:endParaRPr lang="en-US" sz="120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FB923C"/>
                    </a:solidFill>
                  </a:tcPr>
                </a:tc>
                <a:tc>
                  <a:txBody>
                    <a:bodyPr/>
                    <a:lstStyle/>
                    <a:p>
                      <a:pPr algn="l" indent="0" marL="0">
                        <a:buNone/>
                      </a:pPr>
                      <a:r>
                        <a:rPr lang="en-US" sz="1200" b="1" dirty="0">
                          <a:solidFill>
                            <a:srgbClr val="0A0F1E"/>
                          </a:solidFill>
                          <a:latin typeface="Calibri" pitchFamily="34" charset="0"/>
                          <a:ea typeface="Calibri" pitchFamily="34" charset="-122"/>
                          <a:cs typeface="Calibri" pitchFamily="34" charset="-120"/>
                        </a:rPr>
                        <a:t>Premium</a:t>
                      </a:r>
                      <a:endParaRPr lang="en-US" sz="120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FB923C"/>
                    </a:solidFill>
                  </a:tcPr>
                </a:tc>
              </a:tr>
              <a:tr h="68580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Tier 1</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Gold</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Highest</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r>
              <a:tr h="68580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Tier 2</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01A30"/>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Silver</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01A30"/>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01A30"/>
                    </a:solidFill>
                  </a:tcPr>
                </a:tc>
              </a:tr>
              <a:tr h="68580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Tier 3</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Bronze</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Lowest</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r>
            </a:tbl>
          </a:graphicData>
        </a:graphic>
      </p:graphicFrame>
      <p:sp>
        <p:nvSpPr>
          <p:cNvPr id="23" name="Text 20"/>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MOTOR</a:t>
            </a:r>
            <a:endParaRPr lang="en-US" sz="900" dirty="0"/>
          </a:p>
        </p:txBody>
      </p:sp>
      <p:sp>
        <p:nvSpPr>
          <p:cNvPr id="24" name="Text 21"/>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25" name="Text 22"/>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FB923C">
              <a:alpha val="12000"/>
            </a:srgbClr>
          </a:solidFill>
          <a:ln/>
        </p:spPr>
      </p:sp>
      <p:sp>
        <p:nvSpPr>
          <p:cNvPr id="3" name="Shape 1"/>
          <p:cNvSpPr/>
          <p:nvPr/>
        </p:nvSpPr>
        <p:spPr>
          <a:xfrm>
            <a:off x="-1280160" y="6035040"/>
            <a:ext cx="2377440" cy="2377440"/>
          </a:xfrm>
          <a:prstGeom prst="ellipse">
            <a:avLst/>
          </a:prstGeom>
          <a:solidFill>
            <a:srgbClr val="FB923C">
              <a:alpha val="8000"/>
            </a:srgbClr>
          </a:solidFill>
          <a:ln/>
        </p:spPr>
      </p:sp>
      <p:sp>
        <p:nvSpPr>
          <p:cNvPr id="4" name="Shape 2"/>
          <p:cNvSpPr/>
          <p:nvPr/>
        </p:nvSpPr>
        <p:spPr>
          <a:xfrm>
            <a:off x="457200" y="384048"/>
            <a:ext cx="146304" cy="146304"/>
          </a:xfrm>
          <a:prstGeom prst="roundRect">
            <a:avLst>
              <a:gd name="adj" fmla="val 50000"/>
            </a:avLst>
          </a:prstGeom>
          <a:solidFill>
            <a:srgbClr val="FB923C"/>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FB923C"/>
                </a:solidFill>
                <a:latin typeface="Calibri" pitchFamily="34" charset="0"/>
                <a:ea typeface="Calibri" pitchFamily="34" charset="-122"/>
                <a:cs typeface="Calibri" pitchFamily="34" charset="-120"/>
              </a:rPr>
              <a:t>SECTION 03</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Backend Logs &amp; Audit Tool</a:t>
            </a:r>
            <a:endParaRPr lang="en-US" sz="3000" dirty="0"/>
          </a:p>
        </p:txBody>
      </p:sp>
      <p:sp>
        <p:nvSpPr>
          <p:cNvPr id="7" name="Shape 5"/>
          <p:cNvSpPr/>
          <p:nvPr/>
        </p:nvSpPr>
        <p:spPr>
          <a:xfrm>
            <a:off x="457200" y="1645920"/>
            <a:ext cx="5577840" cy="475488"/>
          </a:xfrm>
          <a:prstGeom prst="roundRect">
            <a:avLst>
              <a:gd name="adj" fmla="val 15385"/>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594360" y="1645920"/>
            <a:ext cx="530352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Quote ID</a:t>
            </a:r>
            <a:endParaRPr lang="en-US" sz="1250" dirty="0"/>
          </a:p>
        </p:txBody>
      </p:sp>
      <p:sp>
        <p:nvSpPr>
          <p:cNvPr id="9" name="Shape 7"/>
          <p:cNvSpPr/>
          <p:nvPr/>
        </p:nvSpPr>
        <p:spPr>
          <a:xfrm>
            <a:off x="3246120" y="2148840"/>
            <a:ext cx="914" cy="64008"/>
          </a:xfrm>
          <a:prstGeom prst="line">
            <a:avLst/>
          </a:prstGeom>
          <a:noFill/>
          <a:ln w="25400">
            <a:solidFill>
              <a:srgbClr val="FB923C"/>
            </a:solidFill>
            <a:prstDash val="solid"/>
            <a:tailEnd type="triangle"/>
          </a:ln>
        </p:spPr>
      </p:sp>
      <p:sp>
        <p:nvSpPr>
          <p:cNvPr id="10" name="Shape 8"/>
          <p:cNvSpPr/>
          <p:nvPr/>
        </p:nvSpPr>
        <p:spPr>
          <a:xfrm>
            <a:off x="457200" y="2240280"/>
            <a:ext cx="5577840" cy="475488"/>
          </a:xfrm>
          <a:prstGeom prst="roundRect">
            <a:avLst>
              <a:gd name="adj" fmla="val 15385"/>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1" name="Text 9"/>
          <p:cNvSpPr/>
          <p:nvPr/>
        </p:nvSpPr>
        <p:spPr>
          <a:xfrm>
            <a:off x="594360" y="2240280"/>
            <a:ext cx="530352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Elastic / Kibana Logs</a:t>
            </a:r>
            <a:endParaRPr lang="en-US" sz="1250" dirty="0"/>
          </a:p>
        </p:txBody>
      </p:sp>
      <p:sp>
        <p:nvSpPr>
          <p:cNvPr id="12" name="Shape 10"/>
          <p:cNvSpPr/>
          <p:nvPr/>
        </p:nvSpPr>
        <p:spPr>
          <a:xfrm>
            <a:off x="3246120" y="2743200"/>
            <a:ext cx="914" cy="64008"/>
          </a:xfrm>
          <a:prstGeom prst="line">
            <a:avLst/>
          </a:prstGeom>
          <a:noFill/>
          <a:ln w="25400">
            <a:solidFill>
              <a:srgbClr val="FB923C"/>
            </a:solidFill>
            <a:prstDash val="solid"/>
            <a:tailEnd type="triangle"/>
          </a:ln>
        </p:spPr>
      </p:sp>
      <p:sp>
        <p:nvSpPr>
          <p:cNvPr id="13" name="Shape 11"/>
          <p:cNvSpPr/>
          <p:nvPr/>
        </p:nvSpPr>
        <p:spPr>
          <a:xfrm>
            <a:off x="457200" y="2834640"/>
            <a:ext cx="5577840" cy="475488"/>
          </a:xfrm>
          <a:prstGeom prst="roundRect">
            <a:avLst>
              <a:gd name="adj" fmla="val 15385"/>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594360" y="2834640"/>
            <a:ext cx="530352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Search Quote ID</a:t>
            </a:r>
            <a:endParaRPr lang="en-US" sz="1250" dirty="0"/>
          </a:p>
        </p:txBody>
      </p:sp>
      <p:sp>
        <p:nvSpPr>
          <p:cNvPr id="15" name="Shape 13"/>
          <p:cNvSpPr/>
          <p:nvPr/>
        </p:nvSpPr>
        <p:spPr>
          <a:xfrm>
            <a:off x="3246120" y="3337560"/>
            <a:ext cx="914" cy="64008"/>
          </a:xfrm>
          <a:prstGeom prst="line">
            <a:avLst/>
          </a:prstGeom>
          <a:noFill/>
          <a:ln w="25400">
            <a:solidFill>
              <a:srgbClr val="FB923C"/>
            </a:solidFill>
            <a:prstDash val="solid"/>
            <a:tailEnd type="triangle"/>
          </a:ln>
        </p:spPr>
      </p:sp>
      <p:sp>
        <p:nvSpPr>
          <p:cNvPr id="16" name="Shape 14"/>
          <p:cNvSpPr/>
          <p:nvPr/>
        </p:nvSpPr>
        <p:spPr>
          <a:xfrm>
            <a:off x="457200" y="3429000"/>
            <a:ext cx="5577840" cy="475488"/>
          </a:xfrm>
          <a:prstGeom prst="roundRect">
            <a:avLst>
              <a:gd name="adj" fmla="val 15385"/>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594360" y="3429000"/>
            <a:ext cx="530352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Request / Response Payload</a:t>
            </a:r>
            <a:endParaRPr lang="en-US" sz="1250" dirty="0"/>
          </a:p>
        </p:txBody>
      </p:sp>
      <p:sp>
        <p:nvSpPr>
          <p:cNvPr id="18" name="Shape 16"/>
          <p:cNvSpPr/>
          <p:nvPr/>
        </p:nvSpPr>
        <p:spPr>
          <a:xfrm>
            <a:off x="3246120" y="3931920"/>
            <a:ext cx="914" cy="64008"/>
          </a:xfrm>
          <a:prstGeom prst="line">
            <a:avLst/>
          </a:prstGeom>
          <a:noFill/>
          <a:ln w="25400">
            <a:solidFill>
              <a:srgbClr val="FB923C"/>
            </a:solidFill>
            <a:prstDash val="solid"/>
            <a:tailEnd type="triangle"/>
          </a:ln>
        </p:spPr>
      </p:sp>
      <p:sp>
        <p:nvSpPr>
          <p:cNvPr id="19" name="Shape 17"/>
          <p:cNvSpPr/>
          <p:nvPr/>
        </p:nvSpPr>
        <p:spPr>
          <a:xfrm>
            <a:off x="457200" y="4023360"/>
            <a:ext cx="5577840" cy="475488"/>
          </a:xfrm>
          <a:prstGeom prst="roundRect">
            <a:avLst>
              <a:gd name="adj" fmla="val 15385"/>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594360" y="4023360"/>
            <a:ext cx="530352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MQS Quote ID</a:t>
            </a:r>
            <a:endParaRPr lang="en-US" sz="1250" dirty="0"/>
          </a:p>
        </p:txBody>
      </p:sp>
      <p:sp>
        <p:nvSpPr>
          <p:cNvPr id="21" name="Shape 19"/>
          <p:cNvSpPr/>
          <p:nvPr/>
        </p:nvSpPr>
        <p:spPr>
          <a:xfrm>
            <a:off x="3246120" y="4526280"/>
            <a:ext cx="914" cy="64008"/>
          </a:xfrm>
          <a:prstGeom prst="line">
            <a:avLst/>
          </a:prstGeom>
          <a:noFill/>
          <a:ln w="25400">
            <a:solidFill>
              <a:srgbClr val="FB923C"/>
            </a:solidFill>
            <a:prstDash val="solid"/>
            <a:tailEnd type="triangle"/>
          </a:ln>
        </p:spPr>
      </p:sp>
      <p:sp>
        <p:nvSpPr>
          <p:cNvPr id="22" name="Shape 20"/>
          <p:cNvSpPr/>
          <p:nvPr/>
        </p:nvSpPr>
        <p:spPr>
          <a:xfrm>
            <a:off x="457200" y="4617720"/>
            <a:ext cx="5577840" cy="475488"/>
          </a:xfrm>
          <a:prstGeom prst="roundRect">
            <a:avLst>
              <a:gd name="adj" fmla="val 15385"/>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594360" y="4617720"/>
            <a:ext cx="530352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Audit Tool</a:t>
            </a:r>
            <a:endParaRPr lang="en-US" sz="1250" dirty="0"/>
          </a:p>
        </p:txBody>
      </p:sp>
      <p:sp>
        <p:nvSpPr>
          <p:cNvPr id="24" name="Shape 22"/>
          <p:cNvSpPr/>
          <p:nvPr/>
        </p:nvSpPr>
        <p:spPr>
          <a:xfrm>
            <a:off x="3246120" y="5120640"/>
            <a:ext cx="914" cy="64008"/>
          </a:xfrm>
          <a:prstGeom prst="line">
            <a:avLst/>
          </a:prstGeom>
          <a:noFill/>
          <a:ln w="25400">
            <a:solidFill>
              <a:srgbClr val="FB923C"/>
            </a:solidFill>
            <a:prstDash val="solid"/>
            <a:tailEnd type="triangle"/>
          </a:ln>
        </p:spPr>
      </p:sp>
      <p:sp>
        <p:nvSpPr>
          <p:cNvPr id="25" name="Shape 23"/>
          <p:cNvSpPr/>
          <p:nvPr/>
        </p:nvSpPr>
        <p:spPr>
          <a:xfrm>
            <a:off x="457200" y="5212080"/>
            <a:ext cx="5577840" cy="475488"/>
          </a:xfrm>
          <a:prstGeom prst="roundRect">
            <a:avLst>
              <a:gd name="adj" fmla="val 15385"/>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594360" y="5212080"/>
            <a:ext cx="530352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Complete Logs</a:t>
            </a:r>
            <a:endParaRPr lang="en-US" sz="1250" dirty="0"/>
          </a:p>
        </p:txBody>
      </p:sp>
      <p:sp>
        <p:nvSpPr>
          <p:cNvPr id="27" name="Shape 25"/>
          <p:cNvSpPr/>
          <p:nvPr/>
        </p:nvSpPr>
        <p:spPr>
          <a:xfrm>
            <a:off x="6309360" y="1645920"/>
            <a:ext cx="5394960" cy="1828800"/>
          </a:xfrm>
          <a:prstGeom prst="roundRect">
            <a:avLst>
              <a:gd name="adj" fmla="val 4000"/>
            </a:avLst>
          </a:prstGeom>
          <a:solidFill>
            <a:srgbClr val="101A30"/>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8" name="Text 26"/>
          <p:cNvSpPr/>
          <p:nvPr/>
        </p:nvSpPr>
        <p:spPr>
          <a:xfrm>
            <a:off x="6537960" y="1801368"/>
            <a:ext cx="4572000" cy="292608"/>
          </a:xfrm>
          <a:prstGeom prst="rect">
            <a:avLst/>
          </a:prstGeom>
          <a:noFill/>
          <a:ln/>
        </p:spPr>
        <p:txBody>
          <a:bodyPr wrap="square" rtlCol="0" anchor="ctr"/>
          <a:lstStyle/>
          <a:p>
            <a:pPr indent="0" marL="0">
              <a:buNone/>
            </a:pPr>
            <a:r>
              <a:rPr lang="en-US" sz="1200" b="1" spc="100" kern="0" dirty="0">
                <a:solidFill>
                  <a:srgbClr val="FB923C"/>
                </a:solidFill>
                <a:latin typeface="Calibri" pitchFamily="34" charset="0"/>
                <a:ea typeface="Calibri" pitchFamily="34" charset="-122"/>
                <a:cs typeface="Calibri" pitchFamily="34" charset="-120"/>
              </a:rPr>
              <a:t>KEY TERMS</a:t>
            </a:r>
            <a:endParaRPr lang="en-US" sz="1200" dirty="0"/>
          </a:p>
        </p:txBody>
      </p:sp>
      <p:sp>
        <p:nvSpPr>
          <p:cNvPr id="29" name="Shape 27"/>
          <p:cNvSpPr/>
          <p:nvPr/>
        </p:nvSpPr>
        <p:spPr>
          <a:xfrm>
            <a:off x="6574536" y="2203704"/>
            <a:ext cx="329184" cy="329184"/>
          </a:xfrm>
          <a:prstGeom prst="ellipse">
            <a:avLst/>
          </a:prstGeom>
          <a:solidFill>
            <a:srgbClr val="101A30"/>
          </a:solidFill>
          <a:ln w="19050">
            <a:solidFill>
              <a:srgbClr val="FB923C"/>
            </a:solidFill>
            <a:prstDash val="solid"/>
          </a:ln>
        </p:spPr>
      </p:sp>
      <p:sp>
        <p:nvSpPr>
          <p:cNvPr id="30" name="Text 28"/>
          <p:cNvSpPr/>
          <p:nvPr/>
        </p:nvSpPr>
        <p:spPr>
          <a:xfrm>
            <a:off x="6574536" y="220370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31" name="Text 29"/>
          <p:cNvSpPr/>
          <p:nvPr/>
        </p:nvSpPr>
        <p:spPr>
          <a:xfrm>
            <a:off x="6995160" y="2148840"/>
            <a:ext cx="4480560" cy="39624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Outbound = Request</a:t>
            </a:r>
            <a:endParaRPr lang="en-US" sz="1150" dirty="0"/>
          </a:p>
        </p:txBody>
      </p:sp>
      <p:sp>
        <p:nvSpPr>
          <p:cNvPr id="32" name="Shape 30"/>
          <p:cNvSpPr/>
          <p:nvPr/>
        </p:nvSpPr>
        <p:spPr>
          <a:xfrm>
            <a:off x="6574536" y="2599944"/>
            <a:ext cx="329184" cy="329184"/>
          </a:xfrm>
          <a:prstGeom prst="ellipse">
            <a:avLst/>
          </a:prstGeom>
          <a:solidFill>
            <a:srgbClr val="101A30"/>
          </a:solidFill>
          <a:ln w="19050">
            <a:solidFill>
              <a:srgbClr val="FB923C"/>
            </a:solidFill>
            <a:prstDash val="solid"/>
          </a:ln>
        </p:spPr>
      </p:sp>
      <p:sp>
        <p:nvSpPr>
          <p:cNvPr id="33" name="Text 31"/>
          <p:cNvSpPr/>
          <p:nvPr/>
        </p:nvSpPr>
        <p:spPr>
          <a:xfrm>
            <a:off x="6574536" y="259994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34" name="Text 32"/>
          <p:cNvSpPr/>
          <p:nvPr/>
        </p:nvSpPr>
        <p:spPr>
          <a:xfrm>
            <a:off x="6995160" y="2545080"/>
            <a:ext cx="4480560" cy="39624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Inbound = Response</a:t>
            </a:r>
            <a:endParaRPr lang="en-US" sz="1150" dirty="0"/>
          </a:p>
        </p:txBody>
      </p:sp>
      <p:sp>
        <p:nvSpPr>
          <p:cNvPr id="35" name="Shape 33"/>
          <p:cNvSpPr/>
          <p:nvPr/>
        </p:nvSpPr>
        <p:spPr>
          <a:xfrm>
            <a:off x="6574536" y="2996184"/>
            <a:ext cx="329184" cy="329184"/>
          </a:xfrm>
          <a:prstGeom prst="ellipse">
            <a:avLst/>
          </a:prstGeom>
          <a:solidFill>
            <a:srgbClr val="101A30"/>
          </a:solidFill>
          <a:ln w="19050">
            <a:solidFill>
              <a:srgbClr val="FB923C"/>
            </a:solidFill>
            <a:prstDash val="solid"/>
          </a:ln>
        </p:spPr>
      </p:sp>
      <p:sp>
        <p:nvSpPr>
          <p:cNvPr id="36" name="Text 34"/>
          <p:cNvSpPr/>
          <p:nvPr/>
        </p:nvSpPr>
        <p:spPr>
          <a:xfrm>
            <a:off x="6574536" y="299618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37" name="Text 35"/>
          <p:cNvSpPr/>
          <p:nvPr/>
        </p:nvSpPr>
        <p:spPr>
          <a:xfrm>
            <a:off x="6995160" y="2941320"/>
            <a:ext cx="4480560" cy="39624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Payload = Request/Response body</a:t>
            </a:r>
            <a:endParaRPr lang="en-US" sz="1150" dirty="0"/>
          </a:p>
        </p:txBody>
      </p:sp>
      <p:sp>
        <p:nvSpPr>
          <p:cNvPr id="38" name="Shape 36"/>
          <p:cNvSpPr/>
          <p:nvPr/>
        </p:nvSpPr>
        <p:spPr>
          <a:xfrm>
            <a:off x="6309360" y="3657600"/>
            <a:ext cx="5394960" cy="2331720"/>
          </a:xfrm>
          <a:prstGeom prst="roundRect">
            <a:avLst>
              <a:gd name="adj" fmla="val 3137"/>
            </a:avLst>
          </a:prstGeom>
          <a:solidFill>
            <a:srgbClr val="3D3117"/>
          </a:solidFill>
          <a:ln w="16510">
            <a:solidFill>
              <a:srgbClr val="F5B942"/>
            </a:solidFill>
            <a:prstDash val="solid"/>
          </a:ln>
          <a:effectLst>
            <a:outerShdw sx="100000" sy="100000" kx="0" ky="0" algn="bl" rotWithShape="0" blurRad="101600" dist="38100" dir="5400000">
              <a:srgbClr val="000000">
                <a:alpha val="45000"/>
              </a:srgbClr>
            </a:outerShdw>
          </a:effectLst>
        </p:spPr>
      </p:sp>
      <p:sp>
        <p:nvSpPr>
          <p:cNvPr id="39" name="Text 37"/>
          <p:cNvSpPr/>
          <p:nvPr/>
        </p:nvSpPr>
        <p:spPr>
          <a:xfrm>
            <a:off x="6537960" y="3813048"/>
            <a:ext cx="4937760" cy="292608"/>
          </a:xfrm>
          <a:prstGeom prst="rect">
            <a:avLst/>
          </a:prstGeom>
          <a:noFill/>
          <a:ln/>
        </p:spPr>
        <p:txBody>
          <a:bodyPr wrap="square" rtlCol="0" anchor="ctr"/>
          <a:lstStyle/>
          <a:p>
            <a:pPr indent="0" marL="0">
              <a:buNone/>
            </a:pPr>
            <a:r>
              <a:rPr lang="en-US" sz="1150" b="1" spc="100" kern="0" dirty="0">
                <a:solidFill>
                  <a:srgbClr val="F5B942"/>
                </a:solidFill>
                <a:latin typeface="Calibri" pitchFamily="34" charset="0"/>
                <a:ea typeface="Calibri" pitchFamily="34" charset="-122"/>
                <a:cs typeface="Calibri" pitchFamily="34" charset="-120"/>
              </a:rPr>
              <a:t>WHY BACKEND VALIDATION?</a:t>
            </a:r>
            <a:endParaRPr lang="en-US" sz="1150" dirty="0"/>
          </a:p>
        </p:txBody>
      </p:sp>
      <p:sp>
        <p:nvSpPr>
          <p:cNvPr id="40" name="Text 38"/>
          <p:cNvSpPr/>
          <p:nvPr/>
        </p:nvSpPr>
        <p:spPr>
          <a:xfrm>
            <a:off x="6537960" y="4160520"/>
            <a:ext cx="4937760" cy="1737360"/>
          </a:xfrm>
          <a:prstGeom prst="rect">
            <a:avLst/>
          </a:prstGeom>
          <a:noFill/>
          <a:ln/>
        </p:spPr>
        <p:txBody>
          <a:bodyPr wrap="square" rtlCol="0" anchor="t"/>
          <a:lstStyle/>
          <a:p>
            <a:pPr indent="0" marL="0">
              <a:lnSpc>
                <a:spcPct val="120000"/>
              </a:lnSpc>
              <a:buNone/>
            </a:pPr>
            <a:r>
              <a:rPr lang="en-US" sz="1150" i="1" dirty="0">
                <a:solidFill>
                  <a:srgbClr val="F5B942"/>
                </a:solidFill>
                <a:latin typeface="Calibri" pitchFamily="34" charset="0"/>
                <a:ea typeface="Calibri" pitchFamily="34" charset="-122"/>
                <a:cs typeface="Calibri" pitchFamily="34" charset="-120"/>
              </a:rPr>
              <a:t>After creating the quote, verify the expected request and response are generated at the backend. The Audit Tool retrieves complete logs — paste the MQS Quote ID, click Pretty Print — instead of manually searching the entire log data.</a:t>
            </a:r>
            <a:endParaRPr lang="en-US" sz="1150" dirty="0"/>
          </a:p>
        </p:txBody>
      </p:sp>
      <p:sp>
        <p:nvSpPr>
          <p:cNvPr id="41" name="Text 39"/>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MOTOR</a:t>
            </a:r>
            <a:endParaRPr lang="en-US" sz="900" dirty="0"/>
          </a:p>
        </p:txBody>
      </p:sp>
      <p:sp>
        <p:nvSpPr>
          <p:cNvPr id="42" name="Text 40"/>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43" name="Text 41"/>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FB923C">
              <a:alpha val="12000"/>
            </a:srgbClr>
          </a:solidFill>
          <a:ln/>
        </p:spPr>
      </p:sp>
      <p:sp>
        <p:nvSpPr>
          <p:cNvPr id="3" name="Shape 1"/>
          <p:cNvSpPr/>
          <p:nvPr/>
        </p:nvSpPr>
        <p:spPr>
          <a:xfrm>
            <a:off x="-1280160" y="6035040"/>
            <a:ext cx="2377440" cy="2377440"/>
          </a:xfrm>
          <a:prstGeom prst="ellipse">
            <a:avLst/>
          </a:prstGeom>
          <a:solidFill>
            <a:srgbClr val="FB923C">
              <a:alpha val="8000"/>
            </a:srgbClr>
          </a:solidFill>
          <a:ln/>
        </p:spPr>
      </p:sp>
      <p:sp>
        <p:nvSpPr>
          <p:cNvPr id="4" name="Shape 2"/>
          <p:cNvSpPr/>
          <p:nvPr/>
        </p:nvSpPr>
        <p:spPr>
          <a:xfrm>
            <a:off x="457200" y="384048"/>
            <a:ext cx="146304" cy="146304"/>
          </a:xfrm>
          <a:prstGeom prst="roundRect">
            <a:avLst>
              <a:gd name="adj" fmla="val 50000"/>
            </a:avLst>
          </a:prstGeom>
          <a:solidFill>
            <a:srgbClr val="FB923C"/>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FB923C"/>
                </a:solidFill>
                <a:latin typeface="Calibri" pitchFamily="34" charset="0"/>
                <a:ea typeface="Calibri" pitchFamily="34" charset="-122"/>
                <a:cs typeface="Calibri" pitchFamily="34" charset="-120"/>
              </a:rPr>
              <a:t>SECTION 03</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Motor Backend Models &amp; Validation</a:t>
            </a:r>
            <a:endParaRPr lang="en-US" sz="3000" dirty="0"/>
          </a:p>
        </p:txBody>
      </p:sp>
      <p:sp>
        <p:nvSpPr>
          <p:cNvPr id="7" name="Shape 5"/>
          <p:cNvSpPr/>
          <p:nvPr/>
        </p:nvSpPr>
        <p:spPr>
          <a:xfrm>
            <a:off x="457200" y="1691640"/>
            <a:ext cx="3578352" cy="2286000"/>
          </a:xfrm>
          <a:prstGeom prst="roundRect">
            <a:avLst>
              <a:gd name="adj" fmla="val 32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21792" y="1837944"/>
            <a:ext cx="109728" cy="109728"/>
          </a:xfrm>
          <a:prstGeom prst="roundRect">
            <a:avLst>
              <a:gd name="adj" fmla="val 50000"/>
            </a:avLst>
          </a:prstGeom>
          <a:solidFill>
            <a:srgbClr val="FB923C"/>
          </a:solidFill>
          <a:ln/>
        </p:spPr>
      </p:sp>
      <p:sp>
        <p:nvSpPr>
          <p:cNvPr id="9" name="Text 7"/>
          <p:cNvSpPr/>
          <p:nvPr/>
        </p:nvSpPr>
        <p:spPr>
          <a:xfrm>
            <a:off x="822960" y="176479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Precom</a:t>
            </a:r>
            <a:endParaRPr lang="en-US" sz="1300" dirty="0"/>
          </a:p>
        </p:txBody>
      </p:sp>
      <p:sp>
        <p:nvSpPr>
          <p:cNvPr id="10" name="Text 8"/>
          <p:cNvSpPr/>
          <p:nvPr/>
        </p:nvSpPr>
        <p:spPr>
          <a:xfrm>
            <a:off x="640080" y="2112264"/>
            <a:ext cx="3212592" cy="175564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Pre-computation — used for calculation-related processing. Validate response status and relevant model results.</a:t>
            </a:r>
            <a:endParaRPr lang="en-US" sz="1080" dirty="0"/>
          </a:p>
        </p:txBody>
      </p:sp>
      <p:sp>
        <p:nvSpPr>
          <p:cNvPr id="11" name="Shape 9"/>
          <p:cNvSpPr/>
          <p:nvPr/>
        </p:nvSpPr>
        <p:spPr>
          <a:xfrm>
            <a:off x="4291584" y="1691640"/>
            <a:ext cx="3578352" cy="2286000"/>
          </a:xfrm>
          <a:prstGeom prst="roundRect">
            <a:avLst>
              <a:gd name="adj" fmla="val 32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2" name="Shape 10"/>
          <p:cNvSpPr/>
          <p:nvPr/>
        </p:nvSpPr>
        <p:spPr>
          <a:xfrm>
            <a:off x="4456176" y="1837944"/>
            <a:ext cx="109728" cy="109728"/>
          </a:xfrm>
          <a:prstGeom prst="roundRect">
            <a:avLst>
              <a:gd name="adj" fmla="val 50000"/>
            </a:avLst>
          </a:prstGeom>
          <a:solidFill>
            <a:srgbClr val="FB923C"/>
          </a:solidFill>
          <a:ln/>
        </p:spPr>
      </p:sp>
      <p:sp>
        <p:nvSpPr>
          <p:cNvPr id="13" name="Text 11"/>
          <p:cNvSpPr/>
          <p:nvPr/>
        </p:nvSpPr>
        <p:spPr>
          <a:xfrm>
            <a:off x="4657344" y="176479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UW Model</a:t>
            </a:r>
            <a:endParaRPr lang="en-US" sz="1300" dirty="0"/>
          </a:p>
        </p:txBody>
      </p:sp>
      <p:sp>
        <p:nvSpPr>
          <p:cNvPr id="14" name="Text 12"/>
          <p:cNvSpPr/>
          <p:nvPr/>
        </p:nvSpPr>
        <p:spPr>
          <a:xfrm>
            <a:off x="4474464" y="2112264"/>
            <a:ext cx="3212592" cy="175564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Underwriting — provides decline codes/messages and determines whether a scenario can proceed.</a:t>
            </a:r>
            <a:endParaRPr lang="en-US" sz="1080" dirty="0"/>
          </a:p>
        </p:txBody>
      </p:sp>
      <p:sp>
        <p:nvSpPr>
          <p:cNvPr id="15" name="Shape 13"/>
          <p:cNvSpPr/>
          <p:nvPr/>
        </p:nvSpPr>
        <p:spPr>
          <a:xfrm>
            <a:off x="8125968" y="1691640"/>
            <a:ext cx="3578352" cy="2286000"/>
          </a:xfrm>
          <a:prstGeom prst="roundRect">
            <a:avLst>
              <a:gd name="adj" fmla="val 32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6" name="Shape 14"/>
          <p:cNvSpPr/>
          <p:nvPr/>
        </p:nvSpPr>
        <p:spPr>
          <a:xfrm>
            <a:off x="8290560" y="1837944"/>
            <a:ext cx="109728" cy="109728"/>
          </a:xfrm>
          <a:prstGeom prst="roundRect">
            <a:avLst>
              <a:gd name="adj" fmla="val 50000"/>
            </a:avLst>
          </a:prstGeom>
          <a:solidFill>
            <a:srgbClr val="FB923C"/>
          </a:solidFill>
          <a:ln/>
        </p:spPr>
      </p:sp>
      <p:sp>
        <p:nvSpPr>
          <p:cNvPr id="17" name="Text 15"/>
          <p:cNvSpPr/>
          <p:nvPr/>
        </p:nvSpPr>
        <p:spPr>
          <a:xfrm>
            <a:off x="8491728" y="176479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Radar Main Model</a:t>
            </a:r>
            <a:endParaRPr lang="en-US" sz="1300" dirty="0"/>
          </a:p>
        </p:txBody>
      </p:sp>
      <p:sp>
        <p:nvSpPr>
          <p:cNvPr id="18" name="Text 16"/>
          <p:cNvSpPr/>
          <p:nvPr/>
        </p:nvSpPr>
        <p:spPr>
          <a:xfrm>
            <a:off x="8308848" y="2112264"/>
            <a:ext cx="3212592" cy="175564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Also called the Rating Request — used for rating/premium calculation; provides premium info per tier.</a:t>
            </a:r>
            <a:endParaRPr lang="en-US" sz="1080" dirty="0"/>
          </a:p>
        </p:txBody>
      </p:sp>
      <p:sp>
        <p:nvSpPr>
          <p:cNvPr id="19" name="Shape 17"/>
          <p:cNvSpPr/>
          <p:nvPr/>
        </p:nvSpPr>
        <p:spPr>
          <a:xfrm>
            <a:off x="457200" y="4160520"/>
            <a:ext cx="3611880" cy="1783080"/>
          </a:xfrm>
          <a:prstGeom prst="roundRect">
            <a:avLst>
              <a:gd name="adj" fmla="val 4103"/>
            </a:avLst>
          </a:prstGeom>
          <a:solidFill>
            <a:srgbClr val="101A30"/>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640080" y="4297680"/>
            <a:ext cx="3291840" cy="502920"/>
          </a:xfrm>
          <a:prstGeom prst="rect">
            <a:avLst/>
          </a:prstGeom>
          <a:noFill/>
          <a:ln/>
        </p:spPr>
        <p:txBody>
          <a:bodyPr wrap="square" rtlCol="0" anchor="t"/>
          <a:lstStyle/>
          <a:p>
            <a:pPr indent="0" marL="0">
              <a:buNone/>
            </a:pPr>
            <a:r>
              <a:rPr lang="en-US" sz="1100" b="1" spc="50" kern="0" dirty="0">
                <a:solidFill>
                  <a:srgbClr val="FB923C"/>
                </a:solidFill>
                <a:latin typeface="Calibri" pitchFamily="34" charset="0"/>
                <a:ea typeface="Calibri" pitchFamily="34" charset="-122"/>
                <a:cs typeface="Calibri" pitchFamily="34" charset="-120"/>
              </a:rPr>
              <a:t>VALIDATION LOGIC</a:t>
            </a:r>
            <a:endParaRPr lang="en-US" sz="1100" dirty="0"/>
          </a:p>
        </p:txBody>
      </p:sp>
      <p:sp>
        <p:nvSpPr>
          <p:cNvPr id="21" name="Text 19"/>
          <p:cNvSpPr/>
          <p:nvPr/>
        </p:nvSpPr>
        <p:spPr>
          <a:xfrm>
            <a:off x="640080" y="4800600"/>
            <a:ext cx="3291840" cy="1051560"/>
          </a:xfrm>
          <a:prstGeom prst="rect">
            <a:avLst/>
          </a:prstGeom>
          <a:noFill/>
          <a:ln/>
        </p:spPr>
        <p:txBody>
          <a:bodyPr wrap="square" rtlCol="0" anchor="t"/>
          <a:lstStyle/>
          <a:p>
            <a:pPr indent="0" marL="0">
              <a:lnSpc>
                <a:spcPct val="125000"/>
              </a:lnSpc>
              <a:buNone/>
            </a:pPr>
            <a:r>
              <a:rPr lang="en-US" sz="1050" b="1" dirty="0">
                <a:solidFill>
                  <a:srgbClr val="F3F6FB"/>
                </a:solidFill>
                <a:latin typeface="Calibri" pitchFamily="34" charset="0"/>
                <a:ea typeface="Calibri" pitchFamily="34" charset="-122"/>
                <a:cs typeface="Calibri" pitchFamily="34" charset="-120"/>
              </a:rPr>
              <a:t>Precom → Status + Model Results</a:t>
            </a:r>
            <a:endParaRPr lang="en-US" sz="1050" dirty="0"/>
          </a:p>
          <a:p>
            <a:pPr indent="0" marL="0">
              <a:lnSpc>
                <a:spcPct val="125000"/>
              </a:lnSpc>
              <a:buNone/>
            </a:pPr>
            <a:endParaRPr lang="en-US" sz="1050" dirty="0"/>
          </a:p>
          <a:p>
            <a:pPr indent="0" marL="0">
              <a:lnSpc>
                <a:spcPct val="125000"/>
              </a:lnSpc>
              <a:buNone/>
            </a:pPr>
            <a:r>
              <a:rPr lang="en-US" sz="1050" b="1" dirty="0">
                <a:solidFill>
                  <a:srgbClr val="F3F6FB"/>
                </a:solidFill>
                <a:latin typeface="Calibri" pitchFamily="34" charset="0"/>
                <a:ea typeface="Calibri" pitchFamily="34" charset="-122"/>
                <a:cs typeface="Calibri" pitchFamily="34" charset="-120"/>
              </a:rPr>
              <a:t>Radar → Status + Gold/Silver/Bronze Premium</a:t>
            </a:r>
            <a:endParaRPr lang="en-US" sz="1050" dirty="0"/>
          </a:p>
        </p:txBody>
      </p:sp>
      <p:sp>
        <p:nvSpPr>
          <p:cNvPr id="22" name="Shape 20"/>
          <p:cNvSpPr/>
          <p:nvPr/>
        </p:nvSpPr>
        <p:spPr>
          <a:xfrm>
            <a:off x="4251960" y="4160520"/>
            <a:ext cx="3611880" cy="1783080"/>
          </a:xfrm>
          <a:prstGeom prst="roundRect">
            <a:avLst>
              <a:gd name="adj" fmla="val 4103"/>
            </a:avLst>
          </a:prstGeom>
          <a:solidFill>
            <a:srgbClr val="18233F"/>
          </a:solidFill>
          <a:ln w="15240">
            <a:solidFill>
              <a:srgbClr val="F5B942"/>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4434840" y="4279392"/>
            <a:ext cx="3291840" cy="274320"/>
          </a:xfrm>
          <a:prstGeom prst="rect">
            <a:avLst/>
          </a:prstGeom>
          <a:noFill/>
          <a:ln/>
        </p:spPr>
        <p:txBody>
          <a:bodyPr wrap="square" rtlCol="0" anchor="ctr"/>
          <a:lstStyle/>
          <a:p>
            <a:pPr indent="0" marL="0">
              <a:buNone/>
            </a:pPr>
            <a:r>
              <a:rPr lang="en-US" sz="1050" b="1" spc="50" kern="0" dirty="0">
                <a:solidFill>
                  <a:srgbClr val="F5B942"/>
                </a:solidFill>
                <a:latin typeface="Calibri" pitchFamily="34" charset="0"/>
                <a:ea typeface="Calibri" pitchFamily="34" charset="-122"/>
                <a:cs typeface="Calibri" pitchFamily="34" charset="-120"/>
              </a:rPr>
              <a:t>MOTOR MODEL PURPOSES</a:t>
            </a:r>
            <a:endParaRPr lang="en-US" sz="1050" dirty="0"/>
          </a:p>
        </p:txBody>
      </p:sp>
      <p:sp>
        <p:nvSpPr>
          <p:cNvPr id="24" name="Text 22"/>
          <p:cNvSpPr/>
          <p:nvPr/>
        </p:nvSpPr>
        <p:spPr>
          <a:xfrm>
            <a:off x="4434840" y="4590288"/>
            <a:ext cx="3291840" cy="292608"/>
          </a:xfrm>
          <a:prstGeom prst="rect">
            <a:avLst/>
          </a:prstGeom>
          <a:noFill/>
          <a:ln/>
        </p:spPr>
        <p:txBody>
          <a:bodyPr wrap="square" rtlCol="0" anchor="ctr"/>
          <a:lstStyle/>
          <a:p>
            <a:pPr indent="0" marL="0">
              <a:buNone/>
            </a:pPr>
            <a:r>
              <a:rPr lang="en-US" sz="1000" b="1" dirty="0">
                <a:solidFill>
                  <a:srgbClr val="F5B942"/>
                </a:solidFill>
                <a:latin typeface="Calibri" pitchFamily="34" charset="0"/>
                <a:ea typeface="Calibri" pitchFamily="34" charset="-122"/>
                <a:cs typeface="Calibri" pitchFamily="34" charset="-120"/>
              </a:rPr>
              <a:t>Motor PE  </a:t>
            </a:r>
            <a:pPr indent="0" marL="0">
              <a:buNone/>
            </a:pPr>
            <a:r>
              <a:rPr lang="en-US" sz="1000" dirty="0">
                <a:solidFill>
                  <a:srgbClr val="F3F6FB"/>
                </a:solidFill>
                <a:latin typeface="Calibri" pitchFamily="34" charset="0"/>
                <a:ea typeface="Calibri" pitchFamily="34" charset="-122"/>
                <a:cs typeface="Calibri" pitchFamily="34" charset="-120"/>
              </a:rPr>
              <a:t>→  Payment Eligibility</a:t>
            </a:r>
            <a:endParaRPr lang="en-US" sz="1000" dirty="0"/>
          </a:p>
        </p:txBody>
      </p:sp>
      <p:sp>
        <p:nvSpPr>
          <p:cNvPr id="25" name="Text 23"/>
          <p:cNvSpPr/>
          <p:nvPr/>
        </p:nvSpPr>
        <p:spPr>
          <a:xfrm>
            <a:off x="4434840" y="4910328"/>
            <a:ext cx="3291840" cy="292608"/>
          </a:xfrm>
          <a:prstGeom prst="rect">
            <a:avLst/>
          </a:prstGeom>
          <a:noFill/>
          <a:ln/>
        </p:spPr>
        <p:txBody>
          <a:bodyPr wrap="square" rtlCol="0" anchor="ctr"/>
          <a:lstStyle/>
          <a:p>
            <a:pPr indent="0" marL="0">
              <a:buNone/>
            </a:pPr>
            <a:r>
              <a:rPr lang="en-US" sz="1000" b="1" dirty="0">
                <a:solidFill>
                  <a:srgbClr val="F5B942"/>
                </a:solidFill>
                <a:latin typeface="Calibri" pitchFamily="34" charset="0"/>
                <a:ea typeface="Calibri" pitchFamily="34" charset="-122"/>
                <a:cs typeface="Calibri" pitchFamily="34" charset="-120"/>
              </a:rPr>
              <a:t>Motor MP  </a:t>
            </a:r>
            <a:pPr indent="0" marL="0">
              <a:buNone/>
            </a:pPr>
            <a:r>
              <a:rPr lang="en-US" sz="1000" dirty="0">
                <a:solidFill>
                  <a:srgbClr val="F3F6FB"/>
                </a:solidFill>
                <a:latin typeface="Calibri" pitchFamily="34" charset="0"/>
                <a:ea typeface="Calibri" pitchFamily="34" charset="-122"/>
                <a:cs typeface="Calibri" pitchFamily="34" charset="-120"/>
              </a:rPr>
              <a:t>→  Market Pricing</a:t>
            </a:r>
            <a:endParaRPr lang="en-US" sz="1000" dirty="0"/>
          </a:p>
        </p:txBody>
      </p:sp>
      <p:sp>
        <p:nvSpPr>
          <p:cNvPr id="26" name="Text 24"/>
          <p:cNvSpPr/>
          <p:nvPr/>
        </p:nvSpPr>
        <p:spPr>
          <a:xfrm>
            <a:off x="4434840" y="5230368"/>
            <a:ext cx="3291840" cy="292608"/>
          </a:xfrm>
          <a:prstGeom prst="rect">
            <a:avLst/>
          </a:prstGeom>
          <a:noFill/>
          <a:ln/>
        </p:spPr>
        <p:txBody>
          <a:bodyPr wrap="square" rtlCol="0" anchor="ctr"/>
          <a:lstStyle/>
          <a:p>
            <a:pPr indent="0" marL="0">
              <a:buNone/>
            </a:pPr>
            <a:r>
              <a:rPr lang="en-US" sz="1000" b="1" dirty="0">
                <a:solidFill>
                  <a:srgbClr val="F5B942"/>
                </a:solidFill>
                <a:latin typeface="Calibri" pitchFamily="34" charset="0"/>
                <a:ea typeface="Calibri" pitchFamily="34" charset="-122"/>
                <a:cs typeface="Calibri" pitchFamily="34" charset="-120"/>
              </a:rPr>
              <a:t>Motor Risk  </a:t>
            </a:r>
            <a:pPr indent="0" marL="0">
              <a:buNone/>
            </a:pPr>
            <a:r>
              <a:rPr lang="en-US" sz="1000" dirty="0">
                <a:solidFill>
                  <a:srgbClr val="F3F6FB"/>
                </a:solidFill>
                <a:latin typeface="Calibri" pitchFamily="34" charset="0"/>
                <a:ea typeface="Calibri" pitchFamily="34" charset="-122"/>
                <a:cs typeface="Calibri" pitchFamily="34" charset="-120"/>
              </a:rPr>
              <a:t>→  Vehicle/customer risk</a:t>
            </a:r>
            <a:endParaRPr lang="en-US" sz="1000" dirty="0"/>
          </a:p>
        </p:txBody>
      </p:sp>
      <p:sp>
        <p:nvSpPr>
          <p:cNvPr id="27" name="Text 25"/>
          <p:cNvSpPr/>
          <p:nvPr/>
        </p:nvSpPr>
        <p:spPr>
          <a:xfrm>
            <a:off x="4434840" y="5550408"/>
            <a:ext cx="3291840" cy="292608"/>
          </a:xfrm>
          <a:prstGeom prst="rect">
            <a:avLst/>
          </a:prstGeom>
          <a:noFill/>
          <a:ln/>
        </p:spPr>
        <p:txBody>
          <a:bodyPr wrap="square" rtlCol="0" anchor="ctr"/>
          <a:lstStyle/>
          <a:p>
            <a:pPr indent="0" marL="0">
              <a:buNone/>
            </a:pPr>
            <a:r>
              <a:rPr lang="en-US" sz="1000" b="1" dirty="0">
                <a:solidFill>
                  <a:srgbClr val="F5B942"/>
                </a:solidFill>
                <a:latin typeface="Calibri" pitchFamily="34" charset="0"/>
                <a:ea typeface="Calibri" pitchFamily="34" charset="-122"/>
                <a:cs typeface="Calibri" pitchFamily="34" charset="-120"/>
              </a:rPr>
              <a:t>POQ Fraud  </a:t>
            </a:r>
            <a:pPr indent="0" marL="0">
              <a:buNone/>
            </a:pPr>
            <a:r>
              <a:rPr lang="en-US" sz="1000" dirty="0">
                <a:solidFill>
                  <a:srgbClr val="F3F6FB"/>
                </a:solidFill>
                <a:latin typeface="Calibri" pitchFamily="34" charset="0"/>
                <a:ea typeface="Calibri" pitchFamily="34" charset="-122"/>
                <a:cs typeface="Calibri" pitchFamily="34" charset="-120"/>
              </a:rPr>
              <a:t>→  Fraud validation</a:t>
            </a:r>
            <a:endParaRPr lang="en-US" sz="1000" dirty="0"/>
          </a:p>
        </p:txBody>
      </p:sp>
      <p:sp>
        <p:nvSpPr>
          <p:cNvPr id="28" name="Shape 26"/>
          <p:cNvSpPr/>
          <p:nvPr/>
        </p:nvSpPr>
        <p:spPr>
          <a:xfrm>
            <a:off x="8092440" y="4160520"/>
            <a:ext cx="3611880" cy="1783080"/>
          </a:xfrm>
          <a:prstGeom prst="roundRect">
            <a:avLst>
              <a:gd name="adj" fmla="val 4103"/>
            </a:avLst>
          </a:prstGeom>
          <a:solidFill>
            <a:srgbClr val="101A30"/>
          </a:solidFill>
          <a:ln w="12700">
            <a:solidFill>
              <a:srgbClr val="FB923C"/>
            </a:solidFill>
            <a:prstDash val="solid"/>
          </a:ln>
        </p:spPr>
      </p:sp>
      <p:sp>
        <p:nvSpPr>
          <p:cNvPr id="29" name="Text 27"/>
          <p:cNvSpPr/>
          <p:nvPr/>
        </p:nvSpPr>
        <p:spPr>
          <a:xfrm>
            <a:off x="8275320" y="4279392"/>
            <a:ext cx="3291840" cy="274320"/>
          </a:xfrm>
          <a:prstGeom prst="rect">
            <a:avLst/>
          </a:prstGeom>
          <a:noFill/>
          <a:ln/>
        </p:spPr>
        <p:txBody>
          <a:bodyPr wrap="square" rtlCol="0" anchor="ctr"/>
          <a:lstStyle/>
          <a:p>
            <a:pPr indent="0" marL="0">
              <a:buNone/>
            </a:pPr>
            <a:r>
              <a:rPr lang="en-US" sz="1050" b="1" spc="50" kern="0" dirty="0">
                <a:solidFill>
                  <a:srgbClr val="FB923C"/>
                </a:solidFill>
                <a:latin typeface="Calibri" pitchFamily="34" charset="0"/>
                <a:ea typeface="Calibri" pitchFamily="34" charset="-122"/>
                <a:cs typeface="Calibri" pitchFamily="34" charset="-120"/>
              </a:rPr>
              <a:t>ARCHITECTURE CONTEXT</a:t>
            </a:r>
            <a:endParaRPr lang="en-US" sz="1050" dirty="0"/>
          </a:p>
        </p:txBody>
      </p:sp>
      <p:sp>
        <p:nvSpPr>
          <p:cNvPr id="30" name="Text 28"/>
          <p:cNvSpPr/>
          <p:nvPr/>
        </p:nvSpPr>
        <p:spPr>
          <a:xfrm>
            <a:off x="8275320" y="4572000"/>
            <a:ext cx="3291840" cy="1280160"/>
          </a:xfrm>
          <a:prstGeom prst="rect">
            <a:avLst/>
          </a:prstGeom>
          <a:noFill/>
          <a:ln/>
        </p:spPr>
        <p:txBody>
          <a:bodyPr wrap="square" rtlCol="0" anchor="t"/>
          <a:lstStyle/>
          <a:p>
            <a:pPr indent="0" marL="0">
              <a:lnSpc>
                <a:spcPct val="120000"/>
              </a:lnSpc>
              <a:buNone/>
            </a:pPr>
            <a:r>
              <a:rPr lang="en-US" sz="1000" i="1" dirty="0">
                <a:solidFill>
                  <a:srgbClr val="97A3BE"/>
                </a:solidFill>
                <a:latin typeface="Calibri" pitchFamily="34" charset="0"/>
                <a:ea typeface="Calibri" pitchFamily="34" charset="-122"/>
                <a:cs typeface="Calibri" pitchFamily="34" charset="-120"/>
              </a:rPr>
              <a:t>Runs on CRS (rating engine) with SSP (ML predictions). Tested via CARX Motor (MP/Risk/PE) and CARX Motor FCA (+ Addon/Xsell).</a:t>
            </a:r>
            <a:endParaRPr lang="en-US" sz="1000" dirty="0"/>
          </a:p>
        </p:txBody>
      </p:sp>
      <p:sp>
        <p:nvSpPr>
          <p:cNvPr id="31" name="Text 29"/>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MOTOR</a:t>
            </a:r>
            <a:endParaRPr lang="en-US" sz="900" dirty="0"/>
          </a:p>
        </p:txBody>
      </p:sp>
      <p:sp>
        <p:nvSpPr>
          <p:cNvPr id="32" name="Text 30"/>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3" name="Text 31"/>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FB923C">
              <a:alpha val="12000"/>
            </a:srgbClr>
          </a:solidFill>
          <a:ln/>
        </p:spPr>
      </p:sp>
      <p:sp>
        <p:nvSpPr>
          <p:cNvPr id="3" name="Shape 1"/>
          <p:cNvSpPr/>
          <p:nvPr/>
        </p:nvSpPr>
        <p:spPr>
          <a:xfrm>
            <a:off x="-1280160" y="6035040"/>
            <a:ext cx="2377440" cy="2377440"/>
          </a:xfrm>
          <a:prstGeom prst="ellipse">
            <a:avLst/>
          </a:prstGeom>
          <a:solidFill>
            <a:srgbClr val="FB923C">
              <a:alpha val="8000"/>
            </a:srgbClr>
          </a:solidFill>
          <a:ln/>
        </p:spPr>
      </p:sp>
      <p:sp>
        <p:nvSpPr>
          <p:cNvPr id="4" name="Shape 2"/>
          <p:cNvSpPr/>
          <p:nvPr/>
        </p:nvSpPr>
        <p:spPr>
          <a:xfrm>
            <a:off x="457200" y="384048"/>
            <a:ext cx="146304" cy="146304"/>
          </a:xfrm>
          <a:prstGeom prst="roundRect">
            <a:avLst>
              <a:gd name="adj" fmla="val 50000"/>
            </a:avLst>
          </a:prstGeom>
          <a:solidFill>
            <a:srgbClr val="FB923C"/>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FB923C"/>
                </a:solidFill>
                <a:latin typeface="Calibri" pitchFamily="34" charset="0"/>
                <a:ea typeface="Calibri" pitchFamily="34" charset="-122"/>
                <a:cs typeface="Calibri" pitchFamily="34" charset="-120"/>
              </a:rPr>
              <a:t>SECTION 03</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Area File &amp; Vehicle File</a:t>
            </a:r>
            <a:endParaRPr lang="en-US" sz="3000" dirty="0"/>
          </a:p>
        </p:txBody>
      </p:sp>
      <p:sp>
        <p:nvSpPr>
          <p:cNvPr id="7" name="Shape 5"/>
          <p:cNvSpPr/>
          <p:nvPr/>
        </p:nvSpPr>
        <p:spPr>
          <a:xfrm>
            <a:off x="457200" y="1737360"/>
            <a:ext cx="5440680" cy="4206240"/>
          </a:xfrm>
          <a:prstGeom prst="roundRect">
            <a:avLst>
              <a:gd name="adj" fmla="val 1739"/>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965960"/>
            <a:ext cx="91440" cy="91440"/>
          </a:xfrm>
          <a:prstGeom prst="roundRect">
            <a:avLst>
              <a:gd name="adj" fmla="val 50000"/>
            </a:avLst>
          </a:prstGeom>
          <a:solidFill>
            <a:srgbClr val="FB923C"/>
          </a:solidFill>
          <a:ln/>
        </p:spPr>
      </p:sp>
      <p:sp>
        <p:nvSpPr>
          <p:cNvPr id="9" name="Text 7"/>
          <p:cNvSpPr/>
          <p:nvPr/>
        </p:nvSpPr>
        <p:spPr>
          <a:xfrm>
            <a:off x="868680" y="1883664"/>
            <a:ext cx="4800600" cy="292608"/>
          </a:xfrm>
          <a:prstGeom prst="rect">
            <a:avLst/>
          </a:prstGeom>
          <a:noFill/>
          <a:ln/>
        </p:spPr>
        <p:txBody>
          <a:bodyPr wrap="square" rtlCol="0" anchor="ctr"/>
          <a:lstStyle/>
          <a:p>
            <a:pPr indent="0" marL="0">
              <a:buNone/>
            </a:pPr>
            <a:r>
              <a:rPr lang="en-US" sz="1400" b="1" dirty="0">
                <a:solidFill>
                  <a:srgbClr val="FB923C"/>
                </a:solidFill>
                <a:latin typeface="Calibri" pitchFamily="34" charset="0"/>
                <a:ea typeface="Calibri" pitchFamily="34" charset="-122"/>
                <a:cs typeface="Calibri" pitchFamily="34" charset="-120"/>
              </a:rPr>
              <a:t>Area File  (~58 fields)</a:t>
            </a:r>
            <a:endParaRPr lang="en-US" sz="1400" dirty="0"/>
          </a:p>
        </p:txBody>
      </p:sp>
      <p:sp>
        <p:nvSpPr>
          <p:cNvPr id="10" name="Text 8"/>
          <p:cNvSpPr/>
          <p:nvPr/>
        </p:nvSpPr>
        <p:spPr>
          <a:xfrm>
            <a:off x="731520" y="2322576"/>
            <a:ext cx="4892040" cy="3438144"/>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Postcode</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Latitude</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Longitude</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Region</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Distance</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Other location-related data</a:t>
            </a:r>
            <a:endParaRPr lang="en-US" sz="1250" dirty="0"/>
          </a:p>
        </p:txBody>
      </p:sp>
      <p:sp>
        <p:nvSpPr>
          <p:cNvPr id="11" name="Shape 9"/>
          <p:cNvSpPr/>
          <p:nvPr/>
        </p:nvSpPr>
        <p:spPr>
          <a:xfrm>
            <a:off x="457200" y="5257800"/>
            <a:ext cx="5440680" cy="640080"/>
          </a:xfrm>
          <a:prstGeom prst="roundRect">
            <a:avLst>
              <a:gd name="adj" fmla="val 11429"/>
            </a:avLst>
          </a:prstGeom>
          <a:solidFill>
            <a:srgbClr val="101A30"/>
          </a:solidFill>
          <a:ln w="12700">
            <a:solidFill>
              <a:srgbClr val="FB923C"/>
            </a:solidFill>
            <a:prstDash val="solid"/>
          </a:ln>
        </p:spPr>
      </p:sp>
      <p:sp>
        <p:nvSpPr>
          <p:cNvPr id="12" name="Text 10"/>
          <p:cNvSpPr/>
          <p:nvPr/>
        </p:nvSpPr>
        <p:spPr>
          <a:xfrm>
            <a:off x="685800" y="5257800"/>
            <a:ext cx="5029200" cy="640080"/>
          </a:xfrm>
          <a:prstGeom prst="rect">
            <a:avLst/>
          </a:prstGeom>
          <a:noFill/>
          <a:ln/>
        </p:spPr>
        <p:txBody>
          <a:bodyPr wrap="square" rtlCol="0" anchor="ctr"/>
          <a:lstStyle/>
          <a:p>
            <a:pPr indent="0" marL="0">
              <a:buNone/>
            </a:pPr>
            <a:r>
              <a:rPr lang="en-US" sz="1100" i="1" dirty="0">
                <a:solidFill>
                  <a:srgbClr val="97A3BE"/>
                </a:solidFill>
                <a:latin typeface="Calibri" pitchFamily="34" charset="0"/>
                <a:ea typeface="Calibri" pitchFamily="34" charset="-122"/>
                <a:cs typeface="Calibri" pitchFamily="34" charset="-120"/>
              </a:rPr>
              <a:t>Large dataset: 10+ lakh records.</a:t>
            </a:r>
            <a:endParaRPr lang="en-US" sz="1100" dirty="0"/>
          </a:p>
        </p:txBody>
      </p:sp>
      <p:sp>
        <p:nvSpPr>
          <p:cNvPr id="13" name="Shape 11"/>
          <p:cNvSpPr/>
          <p:nvPr/>
        </p:nvSpPr>
        <p:spPr>
          <a:xfrm>
            <a:off x="6172200" y="1737360"/>
            <a:ext cx="5532120" cy="4206240"/>
          </a:xfrm>
          <a:prstGeom prst="roundRect">
            <a:avLst>
              <a:gd name="adj" fmla="val 1739"/>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4" name="Shape 12"/>
          <p:cNvSpPr/>
          <p:nvPr/>
        </p:nvSpPr>
        <p:spPr>
          <a:xfrm>
            <a:off x="6400800" y="1965960"/>
            <a:ext cx="91440" cy="91440"/>
          </a:xfrm>
          <a:prstGeom prst="roundRect">
            <a:avLst>
              <a:gd name="adj" fmla="val 50000"/>
            </a:avLst>
          </a:prstGeom>
          <a:solidFill>
            <a:srgbClr val="FB923C"/>
          </a:solidFill>
          <a:ln/>
        </p:spPr>
      </p:sp>
      <p:sp>
        <p:nvSpPr>
          <p:cNvPr id="15" name="Text 13"/>
          <p:cNvSpPr/>
          <p:nvPr/>
        </p:nvSpPr>
        <p:spPr>
          <a:xfrm>
            <a:off x="6583680" y="1883664"/>
            <a:ext cx="4892040" cy="292608"/>
          </a:xfrm>
          <a:prstGeom prst="rect">
            <a:avLst/>
          </a:prstGeom>
          <a:noFill/>
          <a:ln/>
        </p:spPr>
        <p:txBody>
          <a:bodyPr wrap="square" rtlCol="0" anchor="ctr"/>
          <a:lstStyle/>
          <a:p>
            <a:pPr indent="0" marL="0">
              <a:buNone/>
            </a:pPr>
            <a:r>
              <a:rPr lang="en-US" sz="1400" b="1" dirty="0">
                <a:solidFill>
                  <a:srgbClr val="FB923C"/>
                </a:solidFill>
                <a:latin typeface="Calibri" pitchFamily="34" charset="0"/>
                <a:ea typeface="Calibri" pitchFamily="34" charset="-122"/>
                <a:cs typeface="Calibri" pitchFamily="34" charset="-120"/>
              </a:rPr>
              <a:t>Vehicle File  (~122 fields)</a:t>
            </a:r>
            <a:endParaRPr lang="en-US" sz="1400" dirty="0"/>
          </a:p>
        </p:txBody>
      </p:sp>
      <p:sp>
        <p:nvSpPr>
          <p:cNvPr id="16" name="Text 14"/>
          <p:cNvSpPr/>
          <p:nvPr/>
        </p:nvSpPr>
        <p:spPr>
          <a:xfrm>
            <a:off x="6446520" y="2322576"/>
            <a:ext cx="4983480" cy="3438144"/>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Make</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Manufacturer</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Model</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Start / End year</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Body style</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Fuel type</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Cylinder capacity</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Cubic capacity</a:t>
            </a:r>
            <a:endParaRPr lang="en-US" sz="1250" dirty="0"/>
          </a:p>
        </p:txBody>
      </p:sp>
      <p:sp>
        <p:nvSpPr>
          <p:cNvPr id="17" name="Text 15"/>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MOTOR</a:t>
            </a:r>
            <a:endParaRPr lang="en-US" sz="900" dirty="0"/>
          </a:p>
        </p:txBody>
      </p:sp>
      <p:sp>
        <p:nvSpPr>
          <p:cNvPr id="18" name="Text 16"/>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19" name="Text 17"/>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FB923C">
              <a:alpha val="12000"/>
            </a:srgbClr>
          </a:solidFill>
          <a:ln/>
        </p:spPr>
      </p:sp>
      <p:sp>
        <p:nvSpPr>
          <p:cNvPr id="3" name="Shape 1"/>
          <p:cNvSpPr/>
          <p:nvPr/>
        </p:nvSpPr>
        <p:spPr>
          <a:xfrm>
            <a:off x="-1280160" y="6035040"/>
            <a:ext cx="2377440" cy="2377440"/>
          </a:xfrm>
          <a:prstGeom prst="ellipse">
            <a:avLst/>
          </a:prstGeom>
          <a:solidFill>
            <a:srgbClr val="FB923C">
              <a:alpha val="8000"/>
            </a:srgbClr>
          </a:solidFill>
          <a:ln/>
        </p:spPr>
      </p:sp>
      <p:sp>
        <p:nvSpPr>
          <p:cNvPr id="4" name="Shape 2"/>
          <p:cNvSpPr/>
          <p:nvPr/>
        </p:nvSpPr>
        <p:spPr>
          <a:xfrm>
            <a:off x="457200" y="384048"/>
            <a:ext cx="146304" cy="146304"/>
          </a:xfrm>
          <a:prstGeom prst="roundRect">
            <a:avLst>
              <a:gd name="adj" fmla="val 50000"/>
            </a:avLst>
          </a:prstGeom>
          <a:solidFill>
            <a:srgbClr val="FB923C"/>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FB923C"/>
                </a:solidFill>
                <a:latin typeface="Calibri" pitchFamily="34" charset="0"/>
                <a:ea typeface="Calibri" pitchFamily="34" charset="-122"/>
                <a:cs typeface="Calibri" pitchFamily="34" charset="-120"/>
              </a:rPr>
              <a:t>SECTION 03</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Area &amp; Vehicle File Testing</a:t>
            </a:r>
            <a:endParaRPr lang="en-US" sz="3000" dirty="0"/>
          </a:p>
        </p:txBody>
      </p:sp>
      <p:sp>
        <p:nvSpPr>
          <p:cNvPr id="7" name="Shape 5"/>
          <p:cNvSpPr/>
          <p:nvPr/>
        </p:nvSpPr>
        <p:spPr>
          <a:xfrm>
            <a:off x="457200" y="1645920"/>
            <a:ext cx="1332411" cy="960120"/>
          </a:xfrm>
          <a:prstGeom prst="roundRect">
            <a:avLst>
              <a:gd name="adj" fmla="val 7619"/>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530352" y="1719072"/>
            <a:ext cx="1186107"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CSV Files</a:t>
            </a:r>
            <a:endParaRPr lang="en-US" sz="1200" dirty="0"/>
          </a:p>
        </p:txBody>
      </p:sp>
      <p:sp>
        <p:nvSpPr>
          <p:cNvPr id="9" name="Shape 7"/>
          <p:cNvSpPr/>
          <p:nvPr/>
        </p:nvSpPr>
        <p:spPr>
          <a:xfrm>
            <a:off x="1826187" y="2125980"/>
            <a:ext cx="246888" cy="914"/>
          </a:xfrm>
          <a:prstGeom prst="line">
            <a:avLst/>
          </a:prstGeom>
          <a:noFill/>
          <a:ln w="25400">
            <a:solidFill>
              <a:srgbClr val="FB923C"/>
            </a:solidFill>
            <a:prstDash val="solid"/>
            <a:tailEnd type="triangle"/>
          </a:ln>
        </p:spPr>
      </p:sp>
      <p:sp>
        <p:nvSpPr>
          <p:cNvPr id="10" name="Shape 8"/>
          <p:cNvSpPr/>
          <p:nvPr/>
        </p:nvSpPr>
        <p:spPr>
          <a:xfrm>
            <a:off x="2109651" y="1645920"/>
            <a:ext cx="1332411" cy="960120"/>
          </a:xfrm>
          <a:prstGeom prst="roundRect">
            <a:avLst>
              <a:gd name="adj" fmla="val 7619"/>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1" name="Text 9"/>
          <p:cNvSpPr/>
          <p:nvPr/>
        </p:nvSpPr>
        <p:spPr>
          <a:xfrm>
            <a:off x="2182803" y="1719072"/>
            <a:ext cx="1186107"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DQC File +</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Load Definition</a:t>
            </a:r>
            <a:endParaRPr lang="en-US" sz="1200" dirty="0"/>
          </a:p>
        </p:txBody>
      </p:sp>
      <p:sp>
        <p:nvSpPr>
          <p:cNvPr id="12" name="Shape 10"/>
          <p:cNvSpPr/>
          <p:nvPr/>
        </p:nvSpPr>
        <p:spPr>
          <a:xfrm>
            <a:off x="3478639" y="2125980"/>
            <a:ext cx="246888" cy="914"/>
          </a:xfrm>
          <a:prstGeom prst="line">
            <a:avLst/>
          </a:prstGeom>
          <a:noFill/>
          <a:ln w="25400">
            <a:solidFill>
              <a:srgbClr val="FB923C"/>
            </a:solidFill>
            <a:prstDash val="solid"/>
            <a:tailEnd type="triangle"/>
          </a:ln>
        </p:spPr>
      </p:sp>
      <p:sp>
        <p:nvSpPr>
          <p:cNvPr id="13" name="Shape 11"/>
          <p:cNvSpPr/>
          <p:nvPr/>
        </p:nvSpPr>
        <p:spPr>
          <a:xfrm>
            <a:off x="3762103" y="1645920"/>
            <a:ext cx="1332411" cy="960120"/>
          </a:xfrm>
          <a:prstGeom prst="roundRect">
            <a:avLst>
              <a:gd name="adj" fmla="val 7619"/>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3835255" y="1719072"/>
            <a:ext cx="1186107"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Shared</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Location</a:t>
            </a:r>
            <a:endParaRPr lang="en-US" sz="1200" dirty="0"/>
          </a:p>
        </p:txBody>
      </p:sp>
      <p:sp>
        <p:nvSpPr>
          <p:cNvPr id="15" name="Shape 13"/>
          <p:cNvSpPr/>
          <p:nvPr/>
        </p:nvSpPr>
        <p:spPr>
          <a:xfrm>
            <a:off x="5131090" y="2125980"/>
            <a:ext cx="246888" cy="914"/>
          </a:xfrm>
          <a:prstGeom prst="line">
            <a:avLst/>
          </a:prstGeom>
          <a:noFill/>
          <a:ln w="25400">
            <a:solidFill>
              <a:srgbClr val="FB923C"/>
            </a:solidFill>
            <a:prstDash val="solid"/>
            <a:tailEnd type="triangle"/>
          </a:ln>
        </p:spPr>
      </p:sp>
      <p:sp>
        <p:nvSpPr>
          <p:cNvPr id="16" name="Shape 14"/>
          <p:cNvSpPr/>
          <p:nvPr/>
        </p:nvSpPr>
        <p:spPr>
          <a:xfrm>
            <a:off x="5414554" y="1645920"/>
            <a:ext cx="1332411" cy="960120"/>
          </a:xfrm>
          <a:prstGeom prst="roundRect">
            <a:avLst>
              <a:gd name="adj" fmla="val 7619"/>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5487706" y="1719072"/>
            <a:ext cx="1186107"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Azure DevOps</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Pipeline</a:t>
            </a:r>
            <a:endParaRPr lang="en-US" sz="1200" dirty="0"/>
          </a:p>
        </p:txBody>
      </p:sp>
      <p:sp>
        <p:nvSpPr>
          <p:cNvPr id="18" name="Shape 16"/>
          <p:cNvSpPr/>
          <p:nvPr/>
        </p:nvSpPr>
        <p:spPr>
          <a:xfrm>
            <a:off x="6783542" y="2125980"/>
            <a:ext cx="246888" cy="914"/>
          </a:xfrm>
          <a:prstGeom prst="line">
            <a:avLst/>
          </a:prstGeom>
          <a:noFill/>
          <a:ln w="25400">
            <a:solidFill>
              <a:srgbClr val="FB923C"/>
            </a:solidFill>
            <a:prstDash val="solid"/>
            <a:tailEnd type="triangle"/>
          </a:ln>
        </p:spPr>
      </p:sp>
      <p:sp>
        <p:nvSpPr>
          <p:cNvPr id="19" name="Shape 17"/>
          <p:cNvSpPr/>
          <p:nvPr/>
        </p:nvSpPr>
        <p:spPr>
          <a:xfrm>
            <a:off x="7067006" y="1645920"/>
            <a:ext cx="1332411" cy="960120"/>
          </a:xfrm>
          <a:prstGeom prst="roundRect">
            <a:avLst>
              <a:gd name="adj" fmla="val 7619"/>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7140158" y="1719072"/>
            <a:ext cx="1186107"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Cosmos</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Database</a:t>
            </a:r>
            <a:endParaRPr lang="en-US" sz="1200" dirty="0"/>
          </a:p>
        </p:txBody>
      </p:sp>
      <p:sp>
        <p:nvSpPr>
          <p:cNvPr id="21" name="Shape 19"/>
          <p:cNvSpPr/>
          <p:nvPr/>
        </p:nvSpPr>
        <p:spPr>
          <a:xfrm>
            <a:off x="8435993" y="2125980"/>
            <a:ext cx="246888" cy="914"/>
          </a:xfrm>
          <a:prstGeom prst="line">
            <a:avLst/>
          </a:prstGeom>
          <a:noFill/>
          <a:ln w="25400">
            <a:solidFill>
              <a:srgbClr val="FB923C"/>
            </a:solidFill>
            <a:prstDash val="solid"/>
            <a:tailEnd type="triangle"/>
          </a:ln>
        </p:spPr>
      </p:sp>
      <p:sp>
        <p:nvSpPr>
          <p:cNvPr id="22" name="Shape 20"/>
          <p:cNvSpPr/>
          <p:nvPr/>
        </p:nvSpPr>
        <p:spPr>
          <a:xfrm>
            <a:off x="8719457" y="1645920"/>
            <a:ext cx="1332411" cy="960120"/>
          </a:xfrm>
          <a:prstGeom prst="roundRect">
            <a:avLst>
              <a:gd name="adj" fmla="val 7619"/>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8792609" y="1719072"/>
            <a:ext cx="1186107"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GET</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Service</a:t>
            </a:r>
            <a:endParaRPr lang="en-US" sz="1200" dirty="0"/>
          </a:p>
        </p:txBody>
      </p:sp>
      <p:sp>
        <p:nvSpPr>
          <p:cNvPr id="24" name="Shape 22"/>
          <p:cNvSpPr/>
          <p:nvPr/>
        </p:nvSpPr>
        <p:spPr>
          <a:xfrm>
            <a:off x="10088445" y="2125980"/>
            <a:ext cx="246888" cy="914"/>
          </a:xfrm>
          <a:prstGeom prst="line">
            <a:avLst/>
          </a:prstGeom>
          <a:noFill/>
          <a:ln w="25400">
            <a:solidFill>
              <a:srgbClr val="FB923C"/>
            </a:solidFill>
            <a:prstDash val="solid"/>
            <a:tailEnd type="triangle"/>
          </a:ln>
        </p:spPr>
      </p:sp>
      <p:sp>
        <p:nvSpPr>
          <p:cNvPr id="25" name="Shape 23"/>
          <p:cNvSpPr/>
          <p:nvPr/>
        </p:nvSpPr>
        <p:spPr>
          <a:xfrm>
            <a:off x="10371909" y="1645920"/>
            <a:ext cx="1332411" cy="960120"/>
          </a:xfrm>
          <a:prstGeom prst="roundRect">
            <a:avLst>
              <a:gd name="adj" fmla="val 7619"/>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10445061" y="1719072"/>
            <a:ext cx="1186107"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Response</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Validation</a:t>
            </a:r>
            <a:endParaRPr lang="en-US" sz="1200" dirty="0"/>
          </a:p>
        </p:txBody>
      </p:sp>
      <p:sp>
        <p:nvSpPr>
          <p:cNvPr id="27" name="Shape 25"/>
          <p:cNvSpPr/>
          <p:nvPr/>
        </p:nvSpPr>
        <p:spPr>
          <a:xfrm>
            <a:off x="457200" y="2834640"/>
            <a:ext cx="5440680" cy="1920240"/>
          </a:xfrm>
          <a:prstGeom prst="roundRect">
            <a:avLst>
              <a:gd name="adj" fmla="val 381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8" name="Shape 26"/>
          <p:cNvSpPr/>
          <p:nvPr/>
        </p:nvSpPr>
        <p:spPr>
          <a:xfrm>
            <a:off x="685800" y="3063240"/>
            <a:ext cx="91440" cy="91440"/>
          </a:xfrm>
          <a:prstGeom prst="roundRect">
            <a:avLst>
              <a:gd name="adj" fmla="val 50000"/>
            </a:avLst>
          </a:prstGeom>
          <a:solidFill>
            <a:srgbClr val="FB923C"/>
          </a:solidFill>
          <a:ln/>
        </p:spPr>
      </p:sp>
      <p:sp>
        <p:nvSpPr>
          <p:cNvPr id="29" name="Text 27"/>
          <p:cNvSpPr/>
          <p:nvPr/>
        </p:nvSpPr>
        <p:spPr>
          <a:xfrm>
            <a:off x="868680" y="2980944"/>
            <a:ext cx="4800600" cy="292608"/>
          </a:xfrm>
          <a:prstGeom prst="rect">
            <a:avLst/>
          </a:prstGeom>
          <a:noFill/>
          <a:ln/>
        </p:spPr>
        <p:txBody>
          <a:bodyPr wrap="square" rtlCol="0" anchor="ctr"/>
          <a:lstStyle/>
          <a:p>
            <a:pPr indent="0" marL="0">
              <a:buNone/>
            </a:pPr>
            <a:r>
              <a:rPr lang="en-US" sz="1400" b="1" dirty="0">
                <a:solidFill>
                  <a:srgbClr val="FB923C"/>
                </a:solidFill>
                <a:latin typeface="Calibri" pitchFamily="34" charset="0"/>
                <a:ea typeface="Calibri" pitchFamily="34" charset="-122"/>
                <a:cs typeface="Calibri" pitchFamily="34" charset="-120"/>
              </a:rPr>
              <a:t>Area File Validation</a:t>
            </a:r>
            <a:endParaRPr lang="en-US" sz="1400" dirty="0"/>
          </a:p>
        </p:txBody>
      </p:sp>
      <p:sp>
        <p:nvSpPr>
          <p:cNvPr id="30" name="Text 28"/>
          <p:cNvSpPr/>
          <p:nvPr/>
        </p:nvSpPr>
        <p:spPr>
          <a:xfrm>
            <a:off x="731520" y="3419856"/>
            <a:ext cx="4892040" cy="1152144"/>
          </a:xfrm>
          <a:prstGeom prst="rect">
            <a:avLst/>
          </a:prstGeom>
          <a:noFill/>
          <a:ln/>
        </p:spPr>
        <p:txBody>
          <a:bodyPr wrap="square" rtlCol="0" anchor="t"/>
          <a:lstStyle/>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Verify field names &amp; values</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Verify version</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Randomly validate selected records</a:t>
            </a:r>
            <a:endParaRPr lang="en-US" sz="1150" dirty="0"/>
          </a:p>
        </p:txBody>
      </p:sp>
      <p:sp>
        <p:nvSpPr>
          <p:cNvPr id="31" name="Shape 29"/>
          <p:cNvSpPr/>
          <p:nvPr/>
        </p:nvSpPr>
        <p:spPr>
          <a:xfrm>
            <a:off x="6172200" y="2834640"/>
            <a:ext cx="5532120" cy="1920240"/>
          </a:xfrm>
          <a:prstGeom prst="roundRect">
            <a:avLst>
              <a:gd name="adj" fmla="val 381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32" name="Shape 30"/>
          <p:cNvSpPr/>
          <p:nvPr/>
        </p:nvSpPr>
        <p:spPr>
          <a:xfrm>
            <a:off x="6400800" y="3063240"/>
            <a:ext cx="91440" cy="91440"/>
          </a:xfrm>
          <a:prstGeom prst="roundRect">
            <a:avLst>
              <a:gd name="adj" fmla="val 50000"/>
            </a:avLst>
          </a:prstGeom>
          <a:solidFill>
            <a:srgbClr val="FB923C"/>
          </a:solidFill>
          <a:ln/>
        </p:spPr>
      </p:sp>
      <p:sp>
        <p:nvSpPr>
          <p:cNvPr id="33" name="Text 31"/>
          <p:cNvSpPr/>
          <p:nvPr/>
        </p:nvSpPr>
        <p:spPr>
          <a:xfrm>
            <a:off x="6583680" y="2980944"/>
            <a:ext cx="4892040" cy="292608"/>
          </a:xfrm>
          <a:prstGeom prst="rect">
            <a:avLst/>
          </a:prstGeom>
          <a:noFill/>
          <a:ln/>
        </p:spPr>
        <p:txBody>
          <a:bodyPr wrap="square" rtlCol="0" anchor="ctr"/>
          <a:lstStyle/>
          <a:p>
            <a:pPr indent="0" marL="0">
              <a:buNone/>
            </a:pPr>
            <a:r>
              <a:rPr lang="en-US" sz="1400" b="1" dirty="0">
                <a:solidFill>
                  <a:srgbClr val="FB923C"/>
                </a:solidFill>
                <a:latin typeface="Calibri" pitchFamily="34" charset="0"/>
                <a:ea typeface="Calibri" pitchFamily="34" charset="-122"/>
                <a:cs typeface="Calibri" pitchFamily="34" charset="-120"/>
              </a:rPr>
              <a:t>Vehicle File Validation</a:t>
            </a:r>
            <a:endParaRPr lang="en-US" sz="1400" dirty="0"/>
          </a:p>
        </p:txBody>
      </p:sp>
      <p:sp>
        <p:nvSpPr>
          <p:cNvPr id="34" name="Text 32"/>
          <p:cNvSpPr/>
          <p:nvPr/>
        </p:nvSpPr>
        <p:spPr>
          <a:xfrm>
            <a:off x="6446520" y="3419856"/>
            <a:ext cx="4983480" cy="1152144"/>
          </a:xfrm>
          <a:prstGeom prst="rect">
            <a:avLst/>
          </a:prstGeom>
          <a:noFill/>
          <a:ln/>
        </p:spPr>
        <p:txBody>
          <a:bodyPr wrap="square" rtlCol="0" anchor="t"/>
          <a:lstStyle/>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Verify field names &amp; values</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Verify version</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Validate Make Model Code</a:t>
            </a:r>
            <a:endParaRPr lang="en-US" sz="1150" dirty="0"/>
          </a:p>
          <a:p>
            <a:pPr marL="177800" indent="-177800">
              <a:lnSpc>
                <a:spcPct val="112000"/>
              </a:lnSpc>
              <a:spcAft>
                <a:spcPts val="1000"/>
              </a:spcAft>
              <a:buSzPct val="100000"/>
              <a:buChar char="•"/>
            </a:pPr>
            <a:r>
              <a:rPr lang="en-US" sz="1150" dirty="0">
                <a:solidFill>
                  <a:srgbClr val="F3F6FB"/>
                </a:solidFill>
                <a:latin typeface="Calibri" pitchFamily="34" charset="0"/>
                <a:ea typeface="Calibri" pitchFamily="34" charset="-122"/>
                <a:cs typeface="Calibri" pitchFamily="34" charset="-120"/>
              </a:rPr>
              <a:t>Randomly validate selected records</a:t>
            </a:r>
            <a:endParaRPr lang="en-US" sz="1150" dirty="0"/>
          </a:p>
        </p:txBody>
      </p:sp>
      <p:sp>
        <p:nvSpPr>
          <p:cNvPr id="35" name="Shape 33"/>
          <p:cNvSpPr/>
          <p:nvPr/>
        </p:nvSpPr>
        <p:spPr>
          <a:xfrm>
            <a:off x="457200" y="4937760"/>
            <a:ext cx="11247120" cy="1051560"/>
          </a:xfrm>
          <a:prstGeom prst="roundRect">
            <a:avLst>
              <a:gd name="adj" fmla="val 6957"/>
            </a:avLst>
          </a:prstGeom>
          <a:solidFill>
            <a:srgbClr val="3D3117"/>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36" name="Text 34"/>
          <p:cNvSpPr/>
          <p:nvPr/>
        </p:nvSpPr>
        <p:spPr>
          <a:xfrm>
            <a:off x="685800" y="5047488"/>
            <a:ext cx="10789920" cy="822960"/>
          </a:xfrm>
          <a:prstGeom prst="rect">
            <a:avLst/>
          </a:prstGeom>
          <a:noFill/>
          <a:ln/>
        </p:spPr>
        <p:txBody>
          <a:bodyPr wrap="square" rtlCol="0" anchor="ctr"/>
          <a:lstStyle/>
          <a:p>
            <a:pPr indent="0" marL="0">
              <a:buNone/>
            </a:pPr>
            <a:r>
              <a:rPr lang="en-US" sz="1200" i="1" dirty="0">
                <a:solidFill>
                  <a:srgbClr val="F5B942"/>
                </a:solidFill>
                <a:latin typeface="Calibri" pitchFamily="34" charset="0"/>
                <a:ea typeface="Calibri" pitchFamily="34" charset="-122"/>
                <a:cs typeface="Calibri" pitchFamily="34" charset="-120"/>
              </a:rPr>
              <a:t>VERSION TESTING — e.g. v22 → v24 → v25: when a new version introduces fields, verify the new fields and corresponding values are present. Sample 10–20 records per check.</a:t>
            </a:r>
            <a:endParaRPr lang="en-US" sz="1200" dirty="0"/>
          </a:p>
        </p:txBody>
      </p:sp>
      <p:sp>
        <p:nvSpPr>
          <p:cNvPr id="37" name="Text 35"/>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MOTOR</a:t>
            </a:r>
            <a:endParaRPr lang="en-US" sz="900" dirty="0"/>
          </a:p>
        </p:txBody>
      </p:sp>
      <p:sp>
        <p:nvSpPr>
          <p:cNvPr id="38" name="Text 36"/>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9" name="Text 37"/>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FB923C">
              <a:alpha val="12000"/>
            </a:srgbClr>
          </a:solidFill>
          <a:ln/>
        </p:spPr>
      </p:sp>
      <p:sp>
        <p:nvSpPr>
          <p:cNvPr id="3" name="Shape 1"/>
          <p:cNvSpPr/>
          <p:nvPr/>
        </p:nvSpPr>
        <p:spPr>
          <a:xfrm>
            <a:off x="-1280160" y="6035040"/>
            <a:ext cx="2377440" cy="2377440"/>
          </a:xfrm>
          <a:prstGeom prst="ellipse">
            <a:avLst/>
          </a:prstGeom>
          <a:solidFill>
            <a:srgbClr val="FB923C">
              <a:alpha val="8000"/>
            </a:srgbClr>
          </a:solidFill>
          <a:ln/>
        </p:spPr>
      </p:sp>
      <p:sp>
        <p:nvSpPr>
          <p:cNvPr id="4" name="Shape 2"/>
          <p:cNvSpPr/>
          <p:nvPr/>
        </p:nvSpPr>
        <p:spPr>
          <a:xfrm>
            <a:off x="457200" y="384048"/>
            <a:ext cx="146304" cy="146304"/>
          </a:xfrm>
          <a:prstGeom prst="roundRect">
            <a:avLst>
              <a:gd name="adj" fmla="val 50000"/>
            </a:avLst>
          </a:prstGeom>
          <a:solidFill>
            <a:srgbClr val="FB923C"/>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FB923C"/>
                </a:solidFill>
                <a:latin typeface="Calibri" pitchFamily="34" charset="0"/>
                <a:ea typeface="Calibri" pitchFamily="34" charset="-122"/>
                <a:cs typeface="Calibri" pitchFamily="34" charset="-120"/>
              </a:rPr>
              <a:t>SECTION 03</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Migration Automation Pack</a:t>
            </a:r>
            <a:endParaRPr lang="en-US" sz="3000" dirty="0"/>
          </a:p>
        </p:txBody>
      </p:sp>
      <p:sp>
        <p:nvSpPr>
          <p:cNvPr id="7" name="Shape 5"/>
          <p:cNvSpPr/>
          <p:nvPr/>
        </p:nvSpPr>
        <p:spPr>
          <a:xfrm>
            <a:off x="457200" y="1691640"/>
            <a:ext cx="5212080" cy="1417320"/>
          </a:xfrm>
          <a:prstGeom prst="roundRect">
            <a:avLst>
              <a:gd name="adj" fmla="val 5161"/>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920240"/>
            <a:ext cx="91440" cy="91440"/>
          </a:xfrm>
          <a:prstGeom prst="roundRect">
            <a:avLst>
              <a:gd name="adj" fmla="val 50000"/>
            </a:avLst>
          </a:prstGeom>
          <a:solidFill>
            <a:srgbClr val="FB923C"/>
          </a:solidFill>
          <a:ln/>
        </p:spPr>
      </p:sp>
      <p:sp>
        <p:nvSpPr>
          <p:cNvPr id="9" name="Text 7"/>
          <p:cNvSpPr/>
          <p:nvPr/>
        </p:nvSpPr>
        <p:spPr>
          <a:xfrm>
            <a:off x="868680" y="1837944"/>
            <a:ext cx="4572000" cy="292608"/>
          </a:xfrm>
          <a:prstGeom prst="rect">
            <a:avLst/>
          </a:prstGeom>
          <a:noFill/>
          <a:ln/>
        </p:spPr>
        <p:txBody>
          <a:bodyPr wrap="square" rtlCol="0" anchor="ctr"/>
          <a:lstStyle/>
          <a:p>
            <a:pPr indent="0" marL="0">
              <a:buNone/>
            </a:pPr>
            <a:r>
              <a:rPr lang="en-US" sz="1400" b="1" dirty="0">
                <a:solidFill>
                  <a:srgbClr val="FB923C"/>
                </a:solidFill>
                <a:latin typeface="Calibri" pitchFamily="34" charset="0"/>
                <a:ea typeface="Calibri" pitchFamily="34" charset="-122"/>
                <a:cs typeface="Calibri" pitchFamily="34" charset="-120"/>
              </a:rPr>
              <a:t>Purpose</a:t>
            </a:r>
            <a:endParaRPr lang="en-US" sz="1400" dirty="0"/>
          </a:p>
        </p:txBody>
      </p:sp>
      <p:sp>
        <p:nvSpPr>
          <p:cNvPr id="10" name="Text 8"/>
          <p:cNvSpPr/>
          <p:nvPr/>
        </p:nvSpPr>
        <p:spPr>
          <a:xfrm>
            <a:off x="731520" y="2276856"/>
            <a:ext cx="4663440" cy="649224"/>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Automate API testing using structured test data and dynamic requests (ReadyAPI).</a:t>
            </a:r>
            <a:endParaRPr lang="en-US" sz="1250" dirty="0"/>
          </a:p>
        </p:txBody>
      </p:sp>
      <p:sp>
        <p:nvSpPr>
          <p:cNvPr id="11" name="Shape 9"/>
          <p:cNvSpPr/>
          <p:nvPr/>
        </p:nvSpPr>
        <p:spPr>
          <a:xfrm>
            <a:off x="6309360" y="1691640"/>
            <a:ext cx="5394960" cy="457200"/>
          </a:xfrm>
          <a:prstGeom prst="roundRect">
            <a:avLst>
              <a:gd name="adj" fmla="val 16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6446520" y="1691640"/>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Excel Test Data</a:t>
            </a:r>
            <a:endParaRPr lang="en-US" sz="1250" dirty="0"/>
          </a:p>
        </p:txBody>
      </p:sp>
      <p:sp>
        <p:nvSpPr>
          <p:cNvPr id="13" name="Shape 11"/>
          <p:cNvSpPr/>
          <p:nvPr/>
        </p:nvSpPr>
        <p:spPr>
          <a:xfrm>
            <a:off x="9006840" y="2176272"/>
            <a:ext cx="914" cy="36576"/>
          </a:xfrm>
          <a:prstGeom prst="line">
            <a:avLst/>
          </a:prstGeom>
          <a:noFill/>
          <a:ln w="25400">
            <a:solidFill>
              <a:srgbClr val="FB923C"/>
            </a:solidFill>
            <a:prstDash val="solid"/>
            <a:tailEnd type="triangle"/>
          </a:ln>
        </p:spPr>
      </p:sp>
      <p:sp>
        <p:nvSpPr>
          <p:cNvPr id="14" name="Shape 12"/>
          <p:cNvSpPr/>
          <p:nvPr/>
        </p:nvSpPr>
        <p:spPr>
          <a:xfrm>
            <a:off x="6309360" y="2240280"/>
            <a:ext cx="5394960" cy="457200"/>
          </a:xfrm>
          <a:prstGeom prst="roundRect">
            <a:avLst>
              <a:gd name="adj" fmla="val 16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5" name="Text 13"/>
          <p:cNvSpPr/>
          <p:nvPr/>
        </p:nvSpPr>
        <p:spPr>
          <a:xfrm>
            <a:off x="6446520" y="2240280"/>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Data Source / Properties</a:t>
            </a:r>
            <a:endParaRPr lang="en-US" sz="1250" dirty="0"/>
          </a:p>
        </p:txBody>
      </p:sp>
      <p:sp>
        <p:nvSpPr>
          <p:cNvPr id="16" name="Shape 14"/>
          <p:cNvSpPr/>
          <p:nvPr/>
        </p:nvSpPr>
        <p:spPr>
          <a:xfrm>
            <a:off x="9006840" y="2724912"/>
            <a:ext cx="914" cy="36576"/>
          </a:xfrm>
          <a:prstGeom prst="line">
            <a:avLst/>
          </a:prstGeom>
          <a:noFill/>
          <a:ln w="25400">
            <a:solidFill>
              <a:srgbClr val="FB923C"/>
            </a:solidFill>
            <a:prstDash val="solid"/>
            <a:tailEnd type="triangle"/>
          </a:ln>
        </p:spPr>
      </p:sp>
      <p:sp>
        <p:nvSpPr>
          <p:cNvPr id="17" name="Shape 15"/>
          <p:cNvSpPr/>
          <p:nvPr/>
        </p:nvSpPr>
        <p:spPr>
          <a:xfrm>
            <a:off x="6309360" y="2788920"/>
            <a:ext cx="5394960" cy="457200"/>
          </a:xfrm>
          <a:prstGeom prst="roundRect">
            <a:avLst>
              <a:gd name="adj" fmla="val 16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8" name="Text 16"/>
          <p:cNvSpPr/>
          <p:nvPr/>
        </p:nvSpPr>
        <p:spPr>
          <a:xfrm>
            <a:off x="6446520" y="2788920"/>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Dynamic REST Request</a:t>
            </a:r>
            <a:endParaRPr lang="en-US" sz="1250" dirty="0"/>
          </a:p>
        </p:txBody>
      </p:sp>
      <p:sp>
        <p:nvSpPr>
          <p:cNvPr id="19" name="Shape 17"/>
          <p:cNvSpPr/>
          <p:nvPr/>
        </p:nvSpPr>
        <p:spPr>
          <a:xfrm>
            <a:off x="9006840" y="3273552"/>
            <a:ext cx="914" cy="36576"/>
          </a:xfrm>
          <a:prstGeom prst="line">
            <a:avLst/>
          </a:prstGeom>
          <a:noFill/>
          <a:ln w="25400">
            <a:solidFill>
              <a:srgbClr val="FB923C"/>
            </a:solidFill>
            <a:prstDash val="solid"/>
            <a:tailEnd type="triangle"/>
          </a:ln>
        </p:spPr>
      </p:sp>
      <p:sp>
        <p:nvSpPr>
          <p:cNvPr id="20" name="Shape 18"/>
          <p:cNvSpPr/>
          <p:nvPr/>
        </p:nvSpPr>
        <p:spPr>
          <a:xfrm>
            <a:off x="6309360" y="3337560"/>
            <a:ext cx="5394960" cy="457200"/>
          </a:xfrm>
          <a:prstGeom prst="roundRect">
            <a:avLst>
              <a:gd name="adj" fmla="val 16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1" name="Text 19"/>
          <p:cNvSpPr/>
          <p:nvPr/>
        </p:nvSpPr>
        <p:spPr>
          <a:xfrm>
            <a:off x="6446520" y="3337560"/>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Execute Test Pack</a:t>
            </a:r>
            <a:endParaRPr lang="en-US" sz="1250" dirty="0"/>
          </a:p>
        </p:txBody>
      </p:sp>
      <p:sp>
        <p:nvSpPr>
          <p:cNvPr id="22" name="Shape 20"/>
          <p:cNvSpPr/>
          <p:nvPr/>
        </p:nvSpPr>
        <p:spPr>
          <a:xfrm>
            <a:off x="9006840" y="3822192"/>
            <a:ext cx="914" cy="36576"/>
          </a:xfrm>
          <a:prstGeom prst="line">
            <a:avLst/>
          </a:prstGeom>
          <a:noFill/>
          <a:ln w="25400">
            <a:solidFill>
              <a:srgbClr val="FB923C"/>
            </a:solidFill>
            <a:prstDash val="solid"/>
            <a:tailEnd type="triangle"/>
          </a:ln>
        </p:spPr>
      </p:sp>
      <p:sp>
        <p:nvSpPr>
          <p:cNvPr id="23" name="Shape 21"/>
          <p:cNvSpPr/>
          <p:nvPr/>
        </p:nvSpPr>
        <p:spPr>
          <a:xfrm>
            <a:off x="6309360" y="3886200"/>
            <a:ext cx="5394960" cy="457200"/>
          </a:xfrm>
          <a:prstGeom prst="roundRect">
            <a:avLst>
              <a:gd name="adj" fmla="val 16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6446520" y="3886200"/>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API Response</a:t>
            </a:r>
            <a:endParaRPr lang="en-US" sz="1250" dirty="0"/>
          </a:p>
        </p:txBody>
      </p:sp>
      <p:sp>
        <p:nvSpPr>
          <p:cNvPr id="25" name="Shape 23"/>
          <p:cNvSpPr/>
          <p:nvPr/>
        </p:nvSpPr>
        <p:spPr>
          <a:xfrm>
            <a:off x="9006840" y="4370832"/>
            <a:ext cx="914" cy="36576"/>
          </a:xfrm>
          <a:prstGeom prst="line">
            <a:avLst/>
          </a:prstGeom>
          <a:noFill/>
          <a:ln w="25400">
            <a:solidFill>
              <a:srgbClr val="FB923C"/>
            </a:solidFill>
            <a:prstDash val="solid"/>
            <a:tailEnd type="triangle"/>
          </a:ln>
        </p:spPr>
      </p:sp>
      <p:sp>
        <p:nvSpPr>
          <p:cNvPr id="26" name="Shape 24"/>
          <p:cNvSpPr/>
          <p:nvPr/>
        </p:nvSpPr>
        <p:spPr>
          <a:xfrm>
            <a:off x="6309360" y="4434840"/>
            <a:ext cx="5394960" cy="457200"/>
          </a:xfrm>
          <a:prstGeom prst="roundRect">
            <a:avLst>
              <a:gd name="adj" fmla="val 16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6446520" y="4434840"/>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Output Report</a:t>
            </a:r>
            <a:endParaRPr lang="en-US" sz="1250" dirty="0"/>
          </a:p>
        </p:txBody>
      </p:sp>
      <p:sp>
        <p:nvSpPr>
          <p:cNvPr id="28" name="Shape 26"/>
          <p:cNvSpPr/>
          <p:nvPr/>
        </p:nvSpPr>
        <p:spPr>
          <a:xfrm>
            <a:off x="9006840" y="4919472"/>
            <a:ext cx="914" cy="36576"/>
          </a:xfrm>
          <a:prstGeom prst="line">
            <a:avLst/>
          </a:prstGeom>
          <a:noFill/>
          <a:ln w="25400">
            <a:solidFill>
              <a:srgbClr val="FB923C"/>
            </a:solidFill>
            <a:prstDash val="solid"/>
            <a:tailEnd type="triangle"/>
          </a:ln>
        </p:spPr>
      </p:sp>
      <p:sp>
        <p:nvSpPr>
          <p:cNvPr id="29" name="Shape 27"/>
          <p:cNvSpPr/>
          <p:nvPr/>
        </p:nvSpPr>
        <p:spPr>
          <a:xfrm>
            <a:off x="6309360" y="4983480"/>
            <a:ext cx="5394960" cy="457200"/>
          </a:xfrm>
          <a:prstGeom prst="roundRect">
            <a:avLst>
              <a:gd name="adj" fmla="val 16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30" name="Text 28"/>
          <p:cNvSpPr/>
          <p:nvPr/>
        </p:nvSpPr>
        <p:spPr>
          <a:xfrm>
            <a:off x="6446520" y="4983480"/>
            <a:ext cx="5120640" cy="45720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Validation</a:t>
            </a:r>
            <a:endParaRPr lang="en-US" sz="1250" dirty="0"/>
          </a:p>
        </p:txBody>
      </p:sp>
      <p:sp>
        <p:nvSpPr>
          <p:cNvPr id="31" name="Shape 29"/>
          <p:cNvSpPr/>
          <p:nvPr/>
        </p:nvSpPr>
        <p:spPr>
          <a:xfrm>
            <a:off x="457200" y="3246120"/>
            <a:ext cx="5212080" cy="2423160"/>
          </a:xfrm>
          <a:prstGeom prst="roundRect">
            <a:avLst>
              <a:gd name="adj" fmla="val 3019"/>
            </a:avLst>
          </a:prstGeom>
          <a:solidFill>
            <a:srgbClr val="101A30"/>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32" name="Text 30"/>
          <p:cNvSpPr/>
          <p:nvPr/>
        </p:nvSpPr>
        <p:spPr>
          <a:xfrm>
            <a:off x="685800" y="3401568"/>
            <a:ext cx="4754880" cy="292608"/>
          </a:xfrm>
          <a:prstGeom prst="rect">
            <a:avLst/>
          </a:prstGeom>
          <a:noFill/>
          <a:ln/>
        </p:spPr>
        <p:txBody>
          <a:bodyPr wrap="square" rtlCol="0" anchor="ctr"/>
          <a:lstStyle/>
          <a:p>
            <a:pPr indent="0" marL="0">
              <a:buNone/>
            </a:pPr>
            <a:r>
              <a:rPr lang="en-US" sz="1200" b="1" spc="100" kern="0" dirty="0">
                <a:solidFill>
                  <a:srgbClr val="FB923C"/>
                </a:solidFill>
                <a:latin typeface="Calibri" pitchFamily="34" charset="0"/>
                <a:ea typeface="Calibri" pitchFamily="34" charset="-122"/>
                <a:cs typeface="Calibri" pitchFamily="34" charset="-120"/>
              </a:rPr>
              <a:t>TEST DATA APPROACH</a:t>
            </a:r>
            <a:endParaRPr lang="en-US" sz="1200" dirty="0"/>
          </a:p>
        </p:txBody>
      </p:sp>
      <p:sp>
        <p:nvSpPr>
          <p:cNvPr id="33" name="Text 31"/>
          <p:cNvSpPr/>
          <p:nvPr/>
        </p:nvSpPr>
        <p:spPr>
          <a:xfrm>
            <a:off x="685800" y="3749040"/>
            <a:ext cx="4754880" cy="365760"/>
          </a:xfrm>
          <a:prstGeom prst="rect">
            <a:avLst/>
          </a:prstGeom>
          <a:noFill/>
          <a:ln/>
        </p:spPr>
        <p:txBody>
          <a:bodyPr wrap="square" rtlCol="0" anchor="ctr"/>
          <a:lstStyle/>
          <a:p>
            <a:pPr indent="0" marL="0">
              <a:buNone/>
            </a:pPr>
            <a:r>
              <a:rPr lang="en-US" sz="1150" i="1" dirty="0">
                <a:solidFill>
                  <a:srgbClr val="97A3BE"/>
                </a:solidFill>
                <a:latin typeface="Calibri" pitchFamily="34" charset="0"/>
                <a:ea typeface="Calibri" pitchFamily="34" charset="-122"/>
                <a:cs typeface="Calibri" pitchFamily="34" charset="-120"/>
              </a:rPr>
              <a:t>Each row represents a different request — e.g. a 293-row pack:</a:t>
            </a:r>
            <a:endParaRPr lang="en-US" sz="1150" dirty="0"/>
          </a:p>
        </p:txBody>
      </p:sp>
      <p:sp>
        <p:nvSpPr>
          <p:cNvPr id="34" name="Shape 32"/>
          <p:cNvSpPr/>
          <p:nvPr/>
        </p:nvSpPr>
        <p:spPr>
          <a:xfrm>
            <a:off x="740664" y="4178808"/>
            <a:ext cx="256032" cy="256032"/>
          </a:xfrm>
          <a:prstGeom prst="ellipse">
            <a:avLst/>
          </a:prstGeom>
          <a:solidFill>
            <a:srgbClr val="101A30"/>
          </a:solidFill>
          <a:ln w="19050">
            <a:solidFill>
              <a:srgbClr val="FB923C"/>
            </a:solidFill>
            <a:prstDash val="solid"/>
          </a:ln>
        </p:spPr>
      </p:sp>
      <p:sp>
        <p:nvSpPr>
          <p:cNvPr id="35" name="Text 33"/>
          <p:cNvSpPr/>
          <p:nvPr/>
        </p:nvSpPr>
        <p:spPr>
          <a:xfrm>
            <a:off x="740664" y="4178808"/>
            <a:ext cx="256032" cy="256032"/>
          </a:xfrm>
          <a:prstGeom prst="rect">
            <a:avLst/>
          </a:prstGeom>
          <a:noFill/>
          <a:ln/>
        </p:spPr>
        <p:txBody>
          <a:bodyPr wrap="square" rtlCol="0" anchor="ctr"/>
          <a:lstStyle/>
          <a:p>
            <a:pPr algn="ctr" indent="0" marL="0">
              <a:buNone/>
            </a:pPr>
            <a:r>
              <a:rPr lang="en-US" sz="728" b="1" dirty="0">
                <a:solidFill>
                  <a:srgbClr val="FB923C"/>
                </a:solidFill>
                <a:latin typeface="Calibri" pitchFamily="34" charset="0"/>
                <a:ea typeface="Calibri" pitchFamily="34" charset="-122"/>
                <a:cs typeface="Calibri" pitchFamily="34" charset="-120"/>
              </a:rPr>
              <a:t>✓</a:t>
            </a:r>
            <a:endParaRPr lang="en-US" sz="728" dirty="0"/>
          </a:p>
        </p:txBody>
      </p:sp>
      <p:sp>
        <p:nvSpPr>
          <p:cNvPr id="36" name="Text 34"/>
          <p:cNvSpPr/>
          <p:nvPr/>
        </p:nvSpPr>
        <p:spPr>
          <a:xfrm>
            <a:off x="1143000" y="4160520"/>
            <a:ext cx="4389120" cy="365760"/>
          </a:xfrm>
          <a:prstGeom prst="rect">
            <a:avLst/>
          </a:prstGeom>
          <a:noFill/>
          <a:ln/>
        </p:spPr>
        <p:txBody>
          <a:bodyPr wrap="square" rtlCol="0" anchor="ctr"/>
          <a:lstStyle/>
          <a:p>
            <a:pPr indent="0" marL="0">
              <a:buNone/>
            </a:pPr>
            <a:r>
              <a:rPr lang="en-US" sz="1100" dirty="0">
                <a:solidFill>
                  <a:srgbClr val="F3F6FB"/>
                </a:solidFill>
                <a:latin typeface="Calibri" pitchFamily="34" charset="0"/>
                <a:ea typeface="Calibri" pitchFamily="34" charset="-122"/>
                <a:cs typeface="Calibri" pitchFamily="34" charset="-120"/>
              </a:rPr>
              <a:t>Request 1 → Change Field 1</a:t>
            </a:r>
            <a:endParaRPr lang="en-US" sz="1100" dirty="0"/>
          </a:p>
        </p:txBody>
      </p:sp>
      <p:sp>
        <p:nvSpPr>
          <p:cNvPr id="37" name="Shape 35"/>
          <p:cNvSpPr/>
          <p:nvPr/>
        </p:nvSpPr>
        <p:spPr>
          <a:xfrm>
            <a:off x="740664" y="4544568"/>
            <a:ext cx="256032" cy="256032"/>
          </a:xfrm>
          <a:prstGeom prst="ellipse">
            <a:avLst/>
          </a:prstGeom>
          <a:solidFill>
            <a:srgbClr val="101A30"/>
          </a:solidFill>
          <a:ln w="19050">
            <a:solidFill>
              <a:srgbClr val="FB923C"/>
            </a:solidFill>
            <a:prstDash val="solid"/>
          </a:ln>
        </p:spPr>
      </p:sp>
      <p:sp>
        <p:nvSpPr>
          <p:cNvPr id="38" name="Text 36"/>
          <p:cNvSpPr/>
          <p:nvPr/>
        </p:nvSpPr>
        <p:spPr>
          <a:xfrm>
            <a:off x="740664" y="4544568"/>
            <a:ext cx="256032" cy="256032"/>
          </a:xfrm>
          <a:prstGeom prst="rect">
            <a:avLst/>
          </a:prstGeom>
          <a:noFill/>
          <a:ln/>
        </p:spPr>
        <p:txBody>
          <a:bodyPr wrap="square" rtlCol="0" anchor="ctr"/>
          <a:lstStyle/>
          <a:p>
            <a:pPr algn="ctr" indent="0" marL="0">
              <a:buNone/>
            </a:pPr>
            <a:r>
              <a:rPr lang="en-US" sz="728" b="1" dirty="0">
                <a:solidFill>
                  <a:srgbClr val="FB923C"/>
                </a:solidFill>
                <a:latin typeface="Calibri" pitchFamily="34" charset="0"/>
                <a:ea typeface="Calibri" pitchFamily="34" charset="-122"/>
                <a:cs typeface="Calibri" pitchFamily="34" charset="-120"/>
              </a:rPr>
              <a:t>✓</a:t>
            </a:r>
            <a:endParaRPr lang="en-US" sz="728" dirty="0"/>
          </a:p>
        </p:txBody>
      </p:sp>
      <p:sp>
        <p:nvSpPr>
          <p:cNvPr id="39" name="Text 37"/>
          <p:cNvSpPr/>
          <p:nvPr/>
        </p:nvSpPr>
        <p:spPr>
          <a:xfrm>
            <a:off x="1143000" y="4526280"/>
            <a:ext cx="4389120" cy="365760"/>
          </a:xfrm>
          <a:prstGeom prst="rect">
            <a:avLst/>
          </a:prstGeom>
          <a:noFill/>
          <a:ln/>
        </p:spPr>
        <p:txBody>
          <a:bodyPr wrap="square" rtlCol="0" anchor="ctr"/>
          <a:lstStyle/>
          <a:p>
            <a:pPr indent="0" marL="0">
              <a:buNone/>
            </a:pPr>
            <a:r>
              <a:rPr lang="en-US" sz="1100" dirty="0">
                <a:solidFill>
                  <a:srgbClr val="F3F6FB"/>
                </a:solidFill>
                <a:latin typeface="Calibri" pitchFamily="34" charset="0"/>
                <a:ea typeface="Calibri" pitchFamily="34" charset="-122"/>
                <a:cs typeface="Calibri" pitchFamily="34" charset="-120"/>
              </a:rPr>
              <a:t>Request 2 → Change Field 2</a:t>
            </a:r>
            <a:endParaRPr lang="en-US" sz="1100" dirty="0"/>
          </a:p>
        </p:txBody>
      </p:sp>
      <p:sp>
        <p:nvSpPr>
          <p:cNvPr id="40" name="Shape 38"/>
          <p:cNvSpPr/>
          <p:nvPr/>
        </p:nvSpPr>
        <p:spPr>
          <a:xfrm>
            <a:off x="740664" y="4910328"/>
            <a:ext cx="256032" cy="256032"/>
          </a:xfrm>
          <a:prstGeom prst="ellipse">
            <a:avLst/>
          </a:prstGeom>
          <a:solidFill>
            <a:srgbClr val="101A30"/>
          </a:solidFill>
          <a:ln w="19050">
            <a:solidFill>
              <a:srgbClr val="FB923C"/>
            </a:solidFill>
            <a:prstDash val="solid"/>
          </a:ln>
        </p:spPr>
      </p:sp>
      <p:sp>
        <p:nvSpPr>
          <p:cNvPr id="41" name="Text 39"/>
          <p:cNvSpPr/>
          <p:nvPr/>
        </p:nvSpPr>
        <p:spPr>
          <a:xfrm>
            <a:off x="740664" y="4910328"/>
            <a:ext cx="256032" cy="256032"/>
          </a:xfrm>
          <a:prstGeom prst="rect">
            <a:avLst/>
          </a:prstGeom>
          <a:noFill/>
          <a:ln/>
        </p:spPr>
        <p:txBody>
          <a:bodyPr wrap="square" rtlCol="0" anchor="ctr"/>
          <a:lstStyle/>
          <a:p>
            <a:pPr algn="ctr" indent="0" marL="0">
              <a:buNone/>
            </a:pPr>
            <a:r>
              <a:rPr lang="en-US" sz="728" b="1" dirty="0">
                <a:solidFill>
                  <a:srgbClr val="FB923C"/>
                </a:solidFill>
                <a:latin typeface="Calibri" pitchFamily="34" charset="0"/>
                <a:ea typeface="Calibri" pitchFamily="34" charset="-122"/>
                <a:cs typeface="Calibri" pitchFamily="34" charset="-120"/>
              </a:rPr>
              <a:t>✓</a:t>
            </a:r>
            <a:endParaRPr lang="en-US" sz="728" dirty="0"/>
          </a:p>
        </p:txBody>
      </p:sp>
      <p:sp>
        <p:nvSpPr>
          <p:cNvPr id="42" name="Text 40"/>
          <p:cNvSpPr/>
          <p:nvPr/>
        </p:nvSpPr>
        <p:spPr>
          <a:xfrm>
            <a:off x="1143000" y="4892040"/>
            <a:ext cx="4389120" cy="365760"/>
          </a:xfrm>
          <a:prstGeom prst="rect">
            <a:avLst/>
          </a:prstGeom>
          <a:noFill/>
          <a:ln/>
        </p:spPr>
        <p:txBody>
          <a:bodyPr wrap="square" rtlCol="0" anchor="ctr"/>
          <a:lstStyle/>
          <a:p>
            <a:pPr indent="0" marL="0">
              <a:buNone/>
            </a:pPr>
            <a:r>
              <a:rPr lang="en-US" sz="1100" dirty="0">
                <a:solidFill>
                  <a:srgbClr val="F3F6FB"/>
                </a:solidFill>
                <a:latin typeface="Calibri" pitchFamily="34" charset="0"/>
                <a:ea typeface="Calibri" pitchFamily="34" charset="-122"/>
                <a:cs typeface="Calibri" pitchFamily="34" charset="-120"/>
              </a:rPr>
              <a:t>Request 3 → Change Field 3</a:t>
            </a:r>
            <a:endParaRPr lang="en-US" sz="1100" dirty="0"/>
          </a:p>
        </p:txBody>
      </p:sp>
      <p:sp>
        <p:nvSpPr>
          <p:cNvPr id="43" name="Shape 41"/>
          <p:cNvSpPr/>
          <p:nvPr/>
        </p:nvSpPr>
        <p:spPr>
          <a:xfrm>
            <a:off x="740664" y="5276088"/>
            <a:ext cx="256032" cy="256032"/>
          </a:xfrm>
          <a:prstGeom prst="ellipse">
            <a:avLst/>
          </a:prstGeom>
          <a:solidFill>
            <a:srgbClr val="101A30"/>
          </a:solidFill>
          <a:ln w="19050">
            <a:solidFill>
              <a:srgbClr val="FB923C"/>
            </a:solidFill>
            <a:prstDash val="solid"/>
          </a:ln>
        </p:spPr>
      </p:sp>
      <p:sp>
        <p:nvSpPr>
          <p:cNvPr id="44" name="Text 42"/>
          <p:cNvSpPr/>
          <p:nvPr/>
        </p:nvSpPr>
        <p:spPr>
          <a:xfrm>
            <a:off x="740664" y="5276088"/>
            <a:ext cx="256032" cy="256032"/>
          </a:xfrm>
          <a:prstGeom prst="rect">
            <a:avLst/>
          </a:prstGeom>
          <a:noFill/>
          <a:ln/>
        </p:spPr>
        <p:txBody>
          <a:bodyPr wrap="square" rtlCol="0" anchor="ctr"/>
          <a:lstStyle/>
          <a:p>
            <a:pPr algn="ctr" indent="0" marL="0">
              <a:buNone/>
            </a:pPr>
            <a:r>
              <a:rPr lang="en-US" sz="728" b="1" dirty="0">
                <a:solidFill>
                  <a:srgbClr val="FB923C"/>
                </a:solidFill>
                <a:latin typeface="Calibri" pitchFamily="34" charset="0"/>
                <a:ea typeface="Calibri" pitchFamily="34" charset="-122"/>
                <a:cs typeface="Calibri" pitchFamily="34" charset="-120"/>
              </a:rPr>
              <a:t>✓</a:t>
            </a:r>
            <a:endParaRPr lang="en-US" sz="728" dirty="0"/>
          </a:p>
        </p:txBody>
      </p:sp>
      <p:sp>
        <p:nvSpPr>
          <p:cNvPr id="45" name="Text 43"/>
          <p:cNvSpPr/>
          <p:nvPr/>
        </p:nvSpPr>
        <p:spPr>
          <a:xfrm>
            <a:off x="1143000" y="5257800"/>
            <a:ext cx="4389120" cy="365760"/>
          </a:xfrm>
          <a:prstGeom prst="rect">
            <a:avLst/>
          </a:prstGeom>
          <a:noFill/>
          <a:ln/>
        </p:spPr>
        <p:txBody>
          <a:bodyPr wrap="square" rtlCol="0" anchor="ctr"/>
          <a:lstStyle/>
          <a:p>
            <a:pPr indent="0" marL="0">
              <a:buNone/>
            </a:pPr>
            <a:r>
              <a:rPr lang="en-US" sz="1100" dirty="0">
                <a:solidFill>
                  <a:srgbClr val="F3F6FB"/>
                </a:solidFill>
                <a:latin typeface="Calibri" pitchFamily="34" charset="0"/>
                <a:ea typeface="Calibri" pitchFamily="34" charset="-122"/>
                <a:cs typeface="Calibri" pitchFamily="34" charset="-120"/>
              </a:rPr>
              <a:t>Remaining fields → Keep valid</a:t>
            </a:r>
            <a:endParaRPr lang="en-US" sz="1100" dirty="0"/>
          </a:p>
        </p:txBody>
      </p:sp>
      <p:sp>
        <p:nvSpPr>
          <p:cNvPr id="46" name="Shape 44"/>
          <p:cNvSpPr/>
          <p:nvPr/>
        </p:nvSpPr>
        <p:spPr>
          <a:xfrm>
            <a:off x="457200" y="5806440"/>
            <a:ext cx="5212080" cy="411480"/>
          </a:xfrm>
          <a:prstGeom prst="roundRect">
            <a:avLst>
              <a:gd name="adj" fmla="val 17778"/>
            </a:avLst>
          </a:prstGeom>
          <a:solidFill>
            <a:srgbClr val="141F38"/>
          </a:solidFill>
          <a:ln w="12700">
            <a:solidFill>
              <a:srgbClr val="26324E"/>
            </a:solidFill>
            <a:prstDash val="solid"/>
          </a:ln>
        </p:spPr>
      </p:sp>
      <p:sp>
        <p:nvSpPr>
          <p:cNvPr id="47" name="Text 45"/>
          <p:cNvSpPr/>
          <p:nvPr/>
        </p:nvSpPr>
        <p:spPr>
          <a:xfrm>
            <a:off x="548640" y="5806440"/>
            <a:ext cx="5029200" cy="411480"/>
          </a:xfrm>
          <a:prstGeom prst="rect">
            <a:avLst/>
          </a:prstGeom>
          <a:noFill/>
          <a:ln/>
        </p:spPr>
        <p:txBody>
          <a:bodyPr wrap="square" rtlCol="0" anchor="ctr"/>
          <a:lstStyle/>
          <a:p>
            <a:pPr indent="0" marL="0">
              <a:buNone/>
            </a:pPr>
            <a:r>
              <a:rPr lang="en-US" sz="1000" i="1" dirty="0">
                <a:solidFill>
                  <a:srgbClr val="6B7690"/>
                </a:solidFill>
                <a:latin typeface="Calibri" pitchFamily="34" charset="0"/>
                <a:ea typeface="Calibri" pitchFamily="34" charset="-122"/>
                <a:cs typeface="Calibri" pitchFamily="34" charset="-120"/>
              </a:rPr>
              <a:t>This allows individual fields to be tested independently.</a:t>
            </a:r>
            <a:endParaRPr lang="en-US" sz="1000" dirty="0"/>
          </a:p>
        </p:txBody>
      </p:sp>
      <p:sp>
        <p:nvSpPr>
          <p:cNvPr id="48" name="Text 46"/>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MOTOR</a:t>
            </a:r>
            <a:endParaRPr lang="en-US" sz="900" dirty="0"/>
          </a:p>
        </p:txBody>
      </p:sp>
      <p:sp>
        <p:nvSpPr>
          <p:cNvPr id="49" name="Text 47"/>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50" name="Text 48"/>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FB923C">
              <a:alpha val="12000"/>
            </a:srgbClr>
          </a:solidFill>
          <a:ln/>
        </p:spPr>
      </p:sp>
      <p:sp>
        <p:nvSpPr>
          <p:cNvPr id="3" name="Shape 1"/>
          <p:cNvSpPr/>
          <p:nvPr/>
        </p:nvSpPr>
        <p:spPr>
          <a:xfrm>
            <a:off x="-1280160" y="6035040"/>
            <a:ext cx="2377440" cy="2377440"/>
          </a:xfrm>
          <a:prstGeom prst="ellipse">
            <a:avLst/>
          </a:prstGeom>
          <a:solidFill>
            <a:srgbClr val="FB923C">
              <a:alpha val="8000"/>
            </a:srgbClr>
          </a:solidFill>
          <a:ln/>
        </p:spPr>
      </p:sp>
      <p:sp>
        <p:nvSpPr>
          <p:cNvPr id="4" name="Shape 2"/>
          <p:cNvSpPr/>
          <p:nvPr/>
        </p:nvSpPr>
        <p:spPr>
          <a:xfrm>
            <a:off x="457200" y="384048"/>
            <a:ext cx="146304" cy="146304"/>
          </a:xfrm>
          <a:prstGeom prst="roundRect">
            <a:avLst>
              <a:gd name="adj" fmla="val 50000"/>
            </a:avLst>
          </a:prstGeom>
          <a:solidFill>
            <a:srgbClr val="FB923C"/>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FB923C"/>
                </a:solidFill>
                <a:latin typeface="Calibri" pitchFamily="34" charset="0"/>
                <a:ea typeface="Calibri" pitchFamily="34" charset="-122"/>
                <a:cs typeface="Calibri" pitchFamily="34" charset="-120"/>
              </a:rPr>
              <a:t>SECTION 03 — SUMMARY</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Automation Execution, Output &amp; Validation</a:t>
            </a:r>
            <a:endParaRPr lang="en-US" sz="3000" dirty="0"/>
          </a:p>
        </p:txBody>
      </p:sp>
      <p:sp>
        <p:nvSpPr>
          <p:cNvPr id="7" name="Shape 5"/>
          <p:cNvSpPr/>
          <p:nvPr/>
        </p:nvSpPr>
        <p:spPr>
          <a:xfrm>
            <a:off x="457200" y="1645920"/>
            <a:ext cx="1607820" cy="914400"/>
          </a:xfrm>
          <a:prstGeom prst="roundRect">
            <a:avLst>
              <a:gd name="adj" fmla="val 8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530352" y="1719072"/>
            <a:ext cx="1461516" cy="76809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Upload</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Test Data</a:t>
            </a:r>
            <a:endParaRPr lang="en-US" sz="1200" dirty="0"/>
          </a:p>
        </p:txBody>
      </p:sp>
      <p:sp>
        <p:nvSpPr>
          <p:cNvPr id="9" name="Shape 7"/>
          <p:cNvSpPr/>
          <p:nvPr/>
        </p:nvSpPr>
        <p:spPr>
          <a:xfrm>
            <a:off x="2101596" y="2103120"/>
            <a:ext cx="246888" cy="914"/>
          </a:xfrm>
          <a:prstGeom prst="line">
            <a:avLst/>
          </a:prstGeom>
          <a:noFill/>
          <a:ln w="25400">
            <a:solidFill>
              <a:srgbClr val="FB923C"/>
            </a:solidFill>
            <a:prstDash val="solid"/>
            <a:tailEnd type="triangle"/>
          </a:ln>
        </p:spPr>
      </p:sp>
      <p:sp>
        <p:nvSpPr>
          <p:cNvPr id="10" name="Shape 8"/>
          <p:cNvSpPr/>
          <p:nvPr/>
        </p:nvSpPr>
        <p:spPr>
          <a:xfrm>
            <a:off x="2385060" y="1645920"/>
            <a:ext cx="1607820" cy="914400"/>
          </a:xfrm>
          <a:prstGeom prst="roundRect">
            <a:avLst>
              <a:gd name="adj" fmla="val 8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1" name="Text 9"/>
          <p:cNvSpPr/>
          <p:nvPr/>
        </p:nvSpPr>
        <p:spPr>
          <a:xfrm>
            <a:off x="2458212" y="1719072"/>
            <a:ext cx="1461516" cy="76809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Configure</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Properties</a:t>
            </a:r>
            <a:endParaRPr lang="en-US" sz="1200" dirty="0"/>
          </a:p>
        </p:txBody>
      </p:sp>
      <p:sp>
        <p:nvSpPr>
          <p:cNvPr id="12" name="Shape 10"/>
          <p:cNvSpPr/>
          <p:nvPr/>
        </p:nvSpPr>
        <p:spPr>
          <a:xfrm>
            <a:off x="4029456" y="2103120"/>
            <a:ext cx="246888" cy="914"/>
          </a:xfrm>
          <a:prstGeom prst="line">
            <a:avLst/>
          </a:prstGeom>
          <a:noFill/>
          <a:ln w="25400">
            <a:solidFill>
              <a:srgbClr val="FB923C"/>
            </a:solidFill>
            <a:prstDash val="solid"/>
            <a:tailEnd type="triangle"/>
          </a:ln>
        </p:spPr>
      </p:sp>
      <p:sp>
        <p:nvSpPr>
          <p:cNvPr id="13" name="Shape 11"/>
          <p:cNvSpPr/>
          <p:nvPr/>
        </p:nvSpPr>
        <p:spPr>
          <a:xfrm>
            <a:off x="4312920" y="1645920"/>
            <a:ext cx="1607820" cy="914400"/>
          </a:xfrm>
          <a:prstGeom prst="roundRect">
            <a:avLst>
              <a:gd name="adj" fmla="val 8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4386072" y="1719072"/>
            <a:ext cx="1461516" cy="76809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Dynamic</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Request</a:t>
            </a:r>
            <a:endParaRPr lang="en-US" sz="1200" dirty="0"/>
          </a:p>
        </p:txBody>
      </p:sp>
      <p:sp>
        <p:nvSpPr>
          <p:cNvPr id="15" name="Shape 13"/>
          <p:cNvSpPr/>
          <p:nvPr/>
        </p:nvSpPr>
        <p:spPr>
          <a:xfrm>
            <a:off x="5957316" y="2103120"/>
            <a:ext cx="246888" cy="914"/>
          </a:xfrm>
          <a:prstGeom prst="line">
            <a:avLst/>
          </a:prstGeom>
          <a:noFill/>
          <a:ln w="25400">
            <a:solidFill>
              <a:srgbClr val="FB923C"/>
            </a:solidFill>
            <a:prstDash val="solid"/>
            <a:tailEnd type="triangle"/>
          </a:ln>
        </p:spPr>
      </p:sp>
      <p:sp>
        <p:nvSpPr>
          <p:cNvPr id="16" name="Shape 14"/>
          <p:cNvSpPr/>
          <p:nvPr/>
        </p:nvSpPr>
        <p:spPr>
          <a:xfrm>
            <a:off x="6240780" y="1645920"/>
            <a:ext cx="1607820" cy="914400"/>
          </a:xfrm>
          <a:prstGeom prst="roundRect">
            <a:avLst>
              <a:gd name="adj" fmla="val 8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6313932" y="1719072"/>
            <a:ext cx="1461516" cy="76809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Run Test</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Step</a:t>
            </a:r>
            <a:endParaRPr lang="en-US" sz="1200" dirty="0"/>
          </a:p>
        </p:txBody>
      </p:sp>
      <p:sp>
        <p:nvSpPr>
          <p:cNvPr id="18" name="Shape 16"/>
          <p:cNvSpPr/>
          <p:nvPr/>
        </p:nvSpPr>
        <p:spPr>
          <a:xfrm>
            <a:off x="7885176" y="2103120"/>
            <a:ext cx="246888" cy="914"/>
          </a:xfrm>
          <a:prstGeom prst="line">
            <a:avLst/>
          </a:prstGeom>
          <a:noFill/>
          <a:ln w="25400">
            <a:solidFill>
              <a:srgbClr val="FB923C"/>
            </a:solidFill>
            <a:prstDash val="solid"/>
            <a:tailEnd type="triangle"/>
          </a:ln>
        </p:spPr>
      </p:sp>
      <p:sp>
        <p:nvSpPr>
          <p:cNvPr id="19" name="Shape 17"/>
          <p:cNvSpPr/>
          <p:nvPr/>
        </p:nvSpPr>
        <p:spPr>
          <a:xfrm>
            <a:off x="8168640" y="1645920"/>
            <a:ext cx="1607820" cy="914400"/>
          </a:xfrm>
          <a:prstGeom prst="roundRect">
            <a:avLst>
              <a:gd name="adj" fmla="val 8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8241792" y="1719072"/>
            <a:ext cx="1461516" cy="76809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Transaction</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Log</a:t>
            </a:r>
            <a:endParaRPr lang="en-US" sz="1200" dirty="0"/>
          </a:p>
        </p:txBody>
      </p:sp>
      <p:sp>
        <p:nvSpPr>
          <p:cNvPr id="21" name="Shape 19"/>
          <p:cNvSpPr/>
          <p:nvPr/>
        </p:nvSpPr>
        <p:spPr>
          <a:xfrm>
            <a:off x="9813036" y="2103120"/>
            <a:ext cx="246888" cy="914"/>
          </a:xfrm>
          <a:prstGeom prst="line">
            <a:avLst/>
          </a:prstGeom>
          <a:noFill/>
          <a:ln w="25400">
            <a:solidFill>
              <a:srgbClr val="FB923C"/>
            </a:solidFill>
            <a:prstDash val="solid"/>
            <a:tailEnd type="triangle"/>
          </a:ln>
        </p:spPr>
      </p:sp>
      <p:sp>
        <p:nvSpPr>
          <p:cNvPr id="22" name="Shape 20"/>
          <p:cNvSpPr/>
          <p:nvPr/>
        </p:nvSpPr>
        <p:spPr>
          <a:xfrm>
            <a:off x="10096500" y="1645920"/>
            <a:ext cx="1607820" cy="914400"/>
          </a:xfrm>
          <a:prstGeom prst="roundRect">
            <a:avLst>
              <a:gd name="adj" fmla="val 8000"/>
            </a:avLst>
          </a:prstGeom>
          <a:solidFill>
            <a:srgbClr val="141F38"/>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10169652" y="1719072"/>
            <a:ext cx="1461516" cy="76809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Generate</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Output</a:t>
            </a:r>
            <a:endParaRPr lang="en-US" sz="1200" dirty="0"/>
          </a:p>
        </p:txBody>
      </p:sp>
      <p:sp>
        <p:nvSpPr>
          <p:cNvPr id="24" name="Shape 22"/>
          <p:cNvSpPr/>
          <p:nvPr/>
        </p:nvSpPr>
        <p:spPr>
          <a:xfrm>
            <a:off x="457200" y="2743200"/>
            <a:ext cx="5440680" cy="2286000"/>
          </a:xfrm>
          <a:prstGeom prst="roundRect">
            <a:avLst>
              <a:gd name="adj" fmla="val 3200"/>
            </a:avLst>
          </a:prstGeom>
          <a:solidFill>
            <a:srgbClr val="101A30"/>
          </a:solidFill>
          <a:ln w="12700">
            <a:solidFill>
              <a:srgbClr val="FB923C"/>
            </a:solidFill>
            <a:prstDash val="solid"/>
          </a:ln>
          <a:effectLst>
            <a:outerShdw sx="100000" sy="100000" kx="0" ky="0" algn="bl" rotWithShape="0" blurRad="101600" dist="38100" dir="5400000">
              <a:srgbClr val="000000">
                <a:alpha val="45000"/>
              </a:srgbClr>
            </a:outerShdw>
          </a:effectLst>
        </p:spPr>
      </p:sp>
      <p:sp>
        <p:nvSpPr>
          <p:cNvPr id="25" name="Text 23"/>
          <p:cNvSpPr/>
          <p:nvPr/>
        </p:nvSpPr>
        <p:spPr>
          <a:xfrm>
            <a:off x="685800" y="2898648"/>
            <a:ext cx="4937760" cy="292608"/>
          </a:xfrm>
          <a:prstGeom prst="rect">
            <a:avLst/>
          </a:prstGeom>
          <a:noFill/>
          <a:ln/>
        </p:spPr>
        <p:txBody>
          <a:bodyPr wrap="square" rtlCol="0" anchor="ctr"/>
          <a:lstStyle/>
          <a:p>
            <a:pPr indent="0" marL="0">
              <a:buNone/>
            </a:pPr>
            <a:r>
              <a:rPr lang="en-US" sz="1200" b="1" spc="100" kern="0" dirty="0">
                <a:solidFill>
                  <a:srgbClr val="FB923C"/>
                </a:solidFill>
                <a:latin typeface="Calibri" pitchFamily="34" charset="0"/>
                <a:ea typeface="Calibri" pitchFamily="34" charset="-122"/>
                <a:cs typeface="Calibri" pitchFamily="34" charset="-120"/>
              </a:rPr>
              <a:t>OUTPUT VALIDATION</a:t>
            </a:r>
            <a:endParaRPr lang="en-US" sz="1200" dirty="0"/>
          </a:p>
        </p:txBody>
      </p:sp>
      <p:sp>
        <p:nvSpPr>
          <p:cNvPr id="26" name="Shape 24"/>
          <p:cNvSpPr/>
          <p:nvPr/>
        </p:nvSpPr>
        <p:spPr>
          <a:xfrm>
            <a:off x="722376" y="3300984"/>
            <a:ext cx="329184" cy="329184"/>
          </a:xfrm>
          <a:prstGeom prst="ellipse">
            <a:avLst/>
          </a:prstGeom>
          <a:solidFill>
            <a:srgbClr val="101A30"/>
          </a:solidFill>
          <a:ln w="19050">
            <a:solidFill>
              <a:srgbClr val="FB923C"/>
            </a:solidFill>
            <a:prstDash val="solid"/>
          </a:ln>
        </p:spPr>
      </p:sp>
      <p:sp>
        <p:nvSpPr>
          <p:cNvPr id="27" name="Text 25"/>
          <p:cNvSpPr/>
          <p:nvPr/>
        </p:nvSpPr>
        <p:spPr>
          <a:xfrm>
            <a:off x="722376" y="330098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28" name="Text 26"/>
          <p:cNvSpPr/>
          <p:nvPr/>
        </p:nvSpPr>
        <p:spPr>
          <a:xfrm>
            <a:off x="1143000" y="3246120"/>
            <a:ext cx="1874520" cy="42291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Quote ID</a:t>
            </a:r>
            <a:endParaRPr lang="en-US" sz="1150" dirty="0"/>
          </a:p>
        </p:txBody>
      </p:sp>
      <p:sp>
        <p:nvSpPr>
          <p:cNvPr id="29" name="Shape 27"/>
          <p:cNvSpPr/>
          <p:nvPr/>
        </p:nvSpPr>
        <p:spPr>
          <a:xfrm>
            <a:off x="3328416" y="3300984"/>
            <a:ext cx="329184" cy="329184"/>
          </a:xfrm>
          <a:prstGeom prst="ellipse">
            <a:avLst/>
          </a:prstGeom>
          <a:solidFill>
            <a:srgbClr val="101A30"/>
          </a:solidFill>
          <a:ln w="19050">
            <a:solidFill>
              <a:srgbClr val="FB923C"/>
            </a:solidFill>
            <a:prstDash val="solid"/>
          </a:ln>
        </p:spPr>
      </p:sp>
      <p:sp>
        <p:nvSpPr>
          <p:cNvPr id="30" name="Text 28"/>
          <p:cNvSpPr/>
          <p:nvPr/>
        </p:nvSpPr>
        <p:spPr>
          <a:xfrm>
            <a:off x="3328416" y="330098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31" name="Text 29"/>
          <p:cNvSpPr/>
          <p:nvPr/>
        </p:nvSpPr>
        <p:spPr>
          <a:xfrm>
            <a:off x="3749040" y="3246120"/>
            <a:ext cx="1874520" cy="42291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MQS Quote ID</a:t>
            </a:r>
            <a:endParaRPr lang="en-US" sz="1150" dirty="0"/>
          </a:p>
        </p:txBody>
      </p:sp>
      <p:sp>
        <p:nvSpPr>
          <p:cNvPr id="32" name="Shape 30"/>
          <p:cNvSpPr/>
          <p:nvPr/>
        </p:nvSpPr>
        <p:spPr>
          <a:xfrm>
            <a:off x="722376" y="3723894"/>
            <a:ext cx="329184" cy="329184"/>
          </a:xfrm>
          <a:prstGeom prst="ellipse">
            <a:avLst/>
          </a:prstGeom>
          <a:solidFill>
            <a:srgbClr val="101A30"/>
          </a:solidFill>
          <a:ln w="19050">
            <a:solidFill>
              <a:srgbClr val="FB923C"/>
            </a:solidFill>
            <a:prstDash val="solid"/>
          </a:ln>
        </p:spPr>
      </p:sp>
      <p:sp>
        <p:nvSpPr>
          <p:cNvPr id="33" name="Text 31"/>
          <p:cNvSpPr/>
          <p:nvPr/>
        </p:nvSpPr>
        <p:spPr>
          <a:xfrm>
            <a:off x="722376" y="372389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34" name="Text 32"/>
          <p:cNvSpPr/>
          <p:nvPr/>
        </p:nvSpPr>
        <p:spPr>
          <a:xfrm>
            <a:off x="1143000" y="3669030"/>
            <a:ext cx="1874520" cy="42291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Gold/Silver/Bronze tiers</a:t>
            </a:r>
            <a:endParaRPr lang="en-US" sz="1150" dirty="0"/>
          </a:p>
        </p:txBody>
      </p:sp>
      <p:sp>
        <p:nvSpPr>
          <p:cNvPr id="35" name="Shape 33"/>
          <p:cNvSpPr/>
          <p:nvPr/>
        </p:nvSpPr>
        <p:spPr>
          <a:xfrm>
            <a:off x="3328416" y="3723894"/>
            <a:ext cx="329184" cy="329184"/>
          </a:xfrm>
          <a:prstGeom prst="ellipse">
            <a:avLst/>
          </a:prstGeom>
          <a:solidFill>
            <a:srgbClr val="101A30"/>
          </a:solidFill>
          <a:ln w="19050">
            <a:solidFill>
              <a:srgbClr val="FB923C"/>
            </a:solidFill>
            <a:prstDash val="solid"/>
          </a:ln>
        </p:spPr>
      </p:sp>
      <p:sp>
        <p:nvSpPr>
          <p:cNvPr id="36" name="Text 34"/>
          <p:cNvSpPr/>
          <p:nvPr/>
        </p:nvSpPr>
        <p:spPr>
          <a:xfrm>
            <a:off x="3328416" y="372389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37" name="Text 35"/>
          <p:cNvSpPr/>
          <p:nvPr/>
        </p:nvSpPr>
        <p:spPr>
          <a:xfrm>
            <a:off x="3749040" y="3669030"/>
            <a:ext cx="1874520" cy="42291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Premium details</a:t>
            </a:r>
            <a:endParaRPr lang="en-US" sz="1150" dirty="0"/>
          </a:p>
        </p:txBody>
      </p:sp>
      <p:sp>
        <p:nvSpPr>
          <p:cNvPr id="38" name="Shape 36"/>
          <p:cNvSpPr/>
          <p:nvPr/>
        </p:nvSpPr>
        <p:spPr>
          <a:xfrm>
            <a:off x="722376" y="4146804"/>
            <a:ext cx="329184" cy="329184"/>
          </a:xfrm>
          <a:prstGeom prst="ellipse">
            <a:avLst/>
          </a:prstGeom>
          <a:solidFill>
            <a:srgbClr val="101A30"/>
          </a:solidFill>
          <a:ln w="19050">
            <a:solidFill>
              <a:srgbClr val="FB923C"/>
            </a:solidFill>
            <a:prstDash val="solid"/>
          </a:ln>
        </p:spPr>
      </p:sp>
      <p:sp>
        <p:nvSpPr>
          <p:cNvPr id="39" name="Text 37"/>
          <p:cNvSpPr/>
          <p:nvPr/>
        </p:nvSpPr>
        <p:spPr>
          <a:xfrm>
            <a:off x="722376" y="414680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40" name="Text 38"/>
          <p:cNvSpPr/>
          <p:nvPr/>
        </p:nvSpPr>
        <p:spPr>
          <a:xfrm>
            <a:off x="1143000" y="4091940"/>
            <a:ext cx="1874520" cy="42291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Response fields &amp; values</a:t>
            </a:r>
            <a:endParaRPr lang="en-US" sz="1150" dirty="0"/>
          </a:p>
        </p:txBody>
      </p:sp>
      <p:sp>
        <p:nvSpPr>
          <p:cNvPr id="41" name="Shape 39"/>
          <p:cNvSpPr/>
          <p:nvPr/>
        </p:nvSpPr>
        <p:spPr>
          <a:xfrm>
            <a:off x="3328416" y="4146804"/>
            <a:ext cx="329184" cy="329184"/>
          </a:xfrm>
          <a:prstGeom prst="ellipse">
            <a:avLst/>
          </a:prstGeom>
          <a:solidFill>
            <a:srgbClr val="101A30"/>
          </a:solidFill>
          <a:ln w="19050">
            <a:solidFill>
              <a:srgbClr val="FB923C"/>
            </a:solidFill>
            <a:prstDash val="solid"/>
          </a:ln>
        </p:spPr>
      </p:sp>
      <p:sp>
        <p:nvSpPr>
          <p:cNvPr id="42" name="Text 40"/>
          <p:cNvSpPr/>
          <p:nvPr/>
        </p:nvSpPr>
        <p:spPr>
          <a:xfrm>
            <a:off x="3328416" y="414680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43" name="Text 41"/>
          <p:cNvSpPr/>
          <p:nvPr/>
        </p:nvSpPr>
        <p:spPr>
          <a:xfrm>
            <a:off x="3749040" y="4091940"/>
            <a:ext cx="1874520" cy="42291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Expected status</a:t>
            </a:r>
            <a:endParaRPr lang="en-US" sz="1150" dirty="0"/>
          </a:p>
        </p:txBody>
      </p:sp>
      <p:sp>
        <p:nvSpPr>
          <p:cNvPr id="44" name="Shape 42"/>
          <p:cNvSpPr/>
          <p:nvPr/>
        </p:nvSpPr>
        <p:spPr>
          <a:xfrm>
            <a:off x="722376" y="4569714"/>
            <a:ext cx="329184" cy="329184"/>
          </a:xfrm>
          <a:prstGeom prst="ellipse">
            <a:avLst/>
          </a:prstGeom>
          <a:solidFill>
            <a:srgbClr val="101A30"/>
          </a:solidFill>
          <a:ln w="19050">
            <a:solidFill>
              <a:srgbClr val="FB923C"/>
            </a:solidFill>
            <a:prstDash val="solid"/>
          </a:ln>
        </p:spPr>
      </p:sp>
      <p:sp>
        <p:nvSpPr>
          <p:cNvPr id="45" name="Text 43"/>
          <p:cNvSpPr/>
          <p:nvPr/>
        </p:nvSpPr>
        <p:spPr>
          <a:xfrm>
            <a:off x="722376" y="456971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46" name="Text 44"/>
          <p:cNvSpPr/>
          <p:nvPr/>
        </p:nvSpPr>
        <p:spPr>
          <a:xfrm>
            <a:off x="1143000" y="4514850"/>
            <a:ext cx="1874520" cy="42291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No unexpected errors</a:t>
            </a:r>
            <a:endParaRPr lang="en-US" sz="1150" dirty="0"/>
          </a:p>
        </p:txBody>
      </p:sp>
      <p:sp>
        <p:nvSpPr>
          <p:cNvPr id="47" name="Shape 45"/>
          <p:cNvSpPr/>
          <p:nvPr/>
        </p:nvSpPr>
        <p:spPr>
          <a:xfrm>
            <a:off x="3328416" y="4569714"/>
            <a:ext cx="329184" cy="329184"/>
          </a:xfrm>
          <a:prstGeom prst="ellipse">
            <a:avLst/>
          </a:prstGeom>
          <a:solidFill>
            <a:srgbClr val="101A30"/>
          </a:solidFill>
          <a:ln w="19050">
            <a:solidFill>
              <a:srgbClr val="FB923C"/>
            </a:solidFill>
            <a:prstDash val="solid"/>
          </a:ln>
        </p:spPr>
      </p:sp>
      <p:sp>
        <p:nvSpPr>
          <p:cNvPr id="48" name="Text 46"/>
          <p:cNvSpPr/>
          <p:nvPr/>
        </p:nvSpPr>
        <p:spPr>
          <a:xfrm>
            <a:off x="3328416" y="4569714"/>
            <a:ext cx="329184" cy="329184"/>
          </a:xfrm>
          <a:prstGeom prst="rect">
            <a:avLst/>
          </a:prstGeom>
          <a:noFill/>
          <a:ln/>
        </p:spPr>
        <p:txBody>
          <a:bodyPr wrap="square" rtlCol="0" anchor="ctr"/>
          <a:lstStyle/>
          <a:p>
            <a:pPr algn="ctr" indent="0" marL="0">
              <a:buNone/>
            </a:pPr>
            <a:r>
              <a:rPr lang="en-US" sz="936" b="1" dirty="0">
                <a:solidFill>
                  <a:srgbClr val="FB923C"/>
                </a:solidFill>
                <a:latin typeface="Calibri" pitchFamily="34" charset="0"/>
                <a:ea typeface="Calibri" pitchFamily="34" charset="-122"/>
                <a:cs typeface="Calibri" pitchFamily="34" charset="-120"/>
              </a:rPr>
              <a:t>✓</a:t>
            </a:r>
            <a:endParaRPr lang="en-US" sz="936" dirty="0"/>
          </a:p>
        </p:txBody>
      </p:sp>
      <p:sp>
        <p:nvSpPr>
          <p:cNvPr id="49" name="Text 47"/>
          <p:cNvSpPr/>
          <p:nvPr/>
        </p:nvSpPr>
        <p:spPr>
          <a:xfrm>
            <a:off x="3749040" y="4514850"/>
            <a:ext cx="1874520" cy="42291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Required codes generated</a:t>
            </a:r>
            <a:endParaRPr lang="en-US" sz="1150" dirty="0"/>
          </a:p>
        </p:txBody>
      </p:sp>
      <p:sp>
        <p:nvSpPr>
          <p:cNvPr id="50" name="Shape 48"/>
          <p:cNvSpPr/>
          <p:nvPr/>
        </p:nvSpPr>
        <p:spPr>
          <a:xfrm>
            <a:off x="6172200" y="2743200"/>
            <a:ext cx="5532120" cy="3200400"/>
          </a:xfrm>
          <a:prstGeom prst="roundRect">
            <a:avLst>
              <a:gd name="adj" fmla="val 2286"/>
            </a:avLst>
          </a:prstGeom>
          <a:solidFill>
            <a:srgbClr val="3A1B1F"/>
          </a:solidFill>
          <a:ln w="15240">
            <a:solidFill>
              <a:srgbClr val="F8717A"/>
            </a:solidFill>
            <a:prstDash val="solid"/>
          </a:ln>
          <a:effectLst>
            <a:outerShdw sx="100000" sy="100000" kx="0" ky="0" algn="bl" rotWithShape="0" blurRad="101600" dist="38100" dir="5400000">
              <a:srgbClr val="000000">
                <a:alpha val="45000"/>
              </a:srgbClr>
            </a:outerShdw>
          </a:effectLst>
        </p:spPr>
      </p:sp>
      <p:sp>
        <p:nvSpPr>
          <p:cNvPr id="51" name="Text 49"/>
          <p:cNvSpPr/>
          <p:nvPr/>
        </p:nvSpPr>
        <p:spPr>
          <a:xfrm>
            <a:off x="6400800" y="2898648"/>
            <a:ext cx="5029200" cy="274320"/>
          </a:xfrm>
          <a:prstGeom prst="rect">
            <a:avLst/>
          </a:prstGeom>
          <a:noFill/>
          <a:ln/>
        </p:spPr>
        <p:txBody>
          <a:bodyPr wrap="square" rtlCol="0" anchor="ctr"/>
          <a:lstStyle/>
          <a:p>
            <a:pPr indent="0" marL="0">
              <a:buNone/>
            </a:pPr>
            <a:r>
              <a:rPr lang="en-US" sz="1150" b="1" spc="100" kern="0" dirty="0">
                <a:solidFill>
                  <a:srgbClr val="F8717A"/>
                </a:solidFill>
                <a:latin typeface="Calibri" pitchFamily="34" charset="0"/>
                <a:ea typeface="Calibri" pitchFamily="34" charset="-122"/>
                <a:cs typeface="Calibri" pitchFamily="34" charset="-120"/>
              </a:rPr>
              <a:t>FAILURE HANDLING</a:t>
            </a:r>
            <a:endParaRPr lang="en-US" sz="1150" dirty="0"/>
          </a:p>
        </p:txBody>
      </p:sp>
      <p:sp>
        <p:nvSpPr>
          <p:cNvPr id="52" name="Text 50"/>
          <p:cNvSpPr/>
          <p:nvPr/>
        </p:nvSpPr>
        <p:spPr>
          <a:xfrm>
            <a:off x="6400800" y="3246120"/>
            <a:ext cx="5120640" cy="914400"/>
          </a:xfrm>
          <a:prstGeom prst="rect">
            <a:avLst/>
          </a:prstGeom>
          <a:noFill/>
          <a:ln/>
        </p:spPr>
        <p:txBody>
          <a:bodyPr wrap="square" rtlCol="0" anchor="t"/>
          <a:lstStyle/>
          <a:p>
            <a:pPr indent="0" marL="0">
              <a:lnSpc>
                <a:spcPct val="130000"/>
              </a:lnSpc>
              <a:buNone/>
            </a:pPr>
            <a:r>
              <a:rPr lang="en-US" sz="1300" i="1" dirty="0">
                <a:solidFill>
                  <a:srgbClr val="F3F6FB"/>
                </a:solidFill>
                <a:latin typeface="Calibri" pitchFamily="34" charset="0"/>
                <a:ea typeface="Calibri" pitchFamily="34" charset="-122"/>
                <a:cs typeface="Calibri" pitchFamily="34" charset="-120"/>
              </a:rPr>
              <a:t>FAIL → Open Test → Check Description → Identify Issue → Fix/Investigate → Re-run</a:t>
            </a:r>
            <a:endParaRPr lang="en-US" sz="1300" dirty="0"/>
          </a:p>
        </p:txBody>
      </p:sp>
      <p:sp>
        <p:nvSpPr>
          <p:cNvPr id="53" name="Text 51"/>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ALLIANZ MOTOR</a:t>
            </a:r>
            <a:endParaRPr lang="en-US" sz="900" dirty="0"/>
          </a:p>
        </p:txBody>
      </p:sp>
      <p:sp>
        <p:nvSpPr>
          <p:cNvPr id="54" name="Text 52"/>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55" name="Text 53"/>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Allianz Automation — Overview &amp; Architecture</a:t>
            </a:r>
            <a:endParaRPr lang="en-US" sz="3000" dirty="0"/>
          </a:p>
        </p:txBody>
      </p:sp>
      <p:sp>
        <p:nvSpPr>
          <p:cNvPr id="7" name="Shape 5"/>
          <p:cNvSpPr/>
          <p:nvPr/>
        </p:nvSpPr>
        <p:spPr>
          <a:xfrm>
            <a:off x="457200" y="1691640"/>
            <a:ext cx="5212080" cy="4343400"/>
          </a:xfrm>
          <a:prstGeom prst="roundRect">
            <a:avLst>
              <a:gd name="adj" fmla="val 1684"/>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920240"/>
            <a:ext cx="91440" cy="91440"/>
          </a:xfrm>
          <a:prstGeom prst="roundRect">
            <a:avLst>
              <a:gd name="adj" fmla="val 50000"/>
            </a:avLst>
          </a:prstGeom>
          <a:solidFill>
            <a:srgbClr val="B18CF5"/>
          </a:solidFill>
          <a:ln/>
        </p:spPr>
      </p:sp>
      <p:sp>
        <p:nvSpPr>
          <p:cNvPr id="9" name="Text 7"/>
          <p:cNvSpPr/>
          <p:nvPr/>
        </p:nvSpPr>
        <p:spPr>
          <a:xfrm>
            <a:off x="868680" y="1837944"/>
            <a:ext cx="4572000" cy="292608"/>
          </a:xfrm>
          <a:prstGeom prst="rect">
            <a:avLst/>
          </a:prstGeom>
          <a:noFill/>
          <a:ln/>
        </p:spPr>
        <p:txBody>
          <a:bodyPr wrap="square" rtlCol="0" anchor="ctr"/>
          <a:lstStyle/>
          <a:p>
            <a:pPr indent="0" marL="0">
              <a:buNone/>
            </a:pPr>
            <a:r>
              <a:rPr lang="en-US" sz="1400" b="1" dirty="0">
                <a:solidFill>
                  <a:srgbClr val="B18CF5"/>
                </a:solidFill>
                <a:latin typeface="Calibri" pitchFamily="34" charset="0"/>
                <a:ea typeface="Calibri" pitchFamily="34" charset="-122"/>
                <a:cs typeface="Calibri" pitchFamily="34" charset="-120"/>
              </a:rPr>
              <a:t>Objective</a:t>
            </a:r>
            <a:endParaRPr lang="en-US" sz="1400" dirty="0"/>
          </a:p>
        </p:txBody>
      </p:sp>
      <p:sp>
        <p:nvSpPr>
          <p:cNvPr id="10" name="Text 8"/>
          <p:cNvSpPr/>
          <p:nvPr/>
        </p:nvSpPr>
        <p:spPr>
          <a:xfrm>
            <a:off x="731520" y="2276856"/>
            <a:ext cx="4663440" cy="3575304"/>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Validate both backend/API services and the UI — not UI alone.</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Confirm correct data flow between microservices before depending on UI validation.</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Tools: Playwright (UI automation), ReadyAPI/SoapUI (API/backend), GenAI (validation support).</a:t>
            </a:r>
            <a:endParaRPr lang="en-US" sz="1250" dirty="0"/>
          </a:p>
          <a:p>
            <a:pPr marL="177800" indent="-177800">
              <a:lnSpc>
                <a:spcPct val="112000"/>
              </a:lnSpc>
              <a:spcAft>
                <a:spcPts val="1000"/>
              </a:spcAft>
              <a:buSzPct val="100000"/>
              <a:buChar char="•"/>
            </a:pPr>
            <a:r>
              <a:rPr lang="en-US" sz="1250" dirty="0">
                <a:solidFill>
                  <a:srgbClr val="F3F6FB"/>
                </a:solidFill>
                <a:latin typeface="Calibri" pitchFamily="34" charset="0"/>
                <a:ea typeface="Calibri" pitchFamily="34" charset="-122"/>
                <a:cs typeface="Calibri" pitchFamily="34" charset="-120"/>
              </a:rPr>
              <a:t>High-level approach: validate the message at the service layer first, then confirm it surfaces correctly on screen.</a:t>
            </a:r>
            <a:endParaRPr lang="en-US" sz="1250" dirty="0"/>
          </a:p>
        </p:txBody>
      </p:sp>
      <p:sp>
        <p:nvSpPr>
          <p:cNvPr id="11" name="Shape 9"/>
          <p:cNvSpPr/>
          <p:nvPr/>
        </p:nvSpPr>
        <p:spPr>
          <a:xfrm>
            <a:off x="6583680" y="1691640"/>
            <a:ext cx="5120640" cy="548640"/>
          </a:xfrm>
          <a:prstGeom prst="roundRect">
            <a:avLst>
              <a:gd name="adj" fmla="val 13333"/>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6720840" y="1691640"/>
            <a:ext cx="4846320" cy="54864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UI</a:t>
            </a:r>
            <a:endParaRPr lang="en-US" sz="1250" dirty="0"/>
          </a:p>
        </p:txBody>
      </p:sp>
      <p:sp>
        <p:nvSpPr>
          <p:cNvPr id="13" name="Shape 11"/>
          <p:cNvSpPr/>
          <p:nvPr/>
        </p:nvSpPr>
        <p:spPr>
          <a:xfrm>
            <a:off x="9144000" y="2267712"/>
            <a:ext cx="914" cy="91440"/>
          </a:xfrm>
          <a:prstGeom prst="line">
            <a:avLst/>
          </a:prstGeom>
          <a:noFill/>
          <a:ln w="25400">
            <a:solidFill>
              <a:srgbClr val="B18CF5"/>
            </a:solidFill>
            <a:prstDash val="solid"/>
            <a:tailEnd type="triangle"/>
          </a:ln>
        </p:spPr>
      </p:sp>
      <p:sp>
        <p:nvSpPr>
          <p:cNvPr id="14" name="Shape 12"/>
          <p:cNvSpPr/>
          <p:nvPr/>
        </p:nvSpPr>
        <p:spPr>
          <a:xfrm>
            <a:off x="6583680" y="2386584"/>
            <a:ext cx="5120640" cy="548640"/>
          </a:xfrm>
          <a:prstGeom prst="roundRect">
            <a:avLst>
              <a:gd name="adj" fmla="val 13333"/>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5" name="Text 13"/>
          <p:cNvSpPr/>
          <p:nvPr/>
        </p:nvSpPr>
        <p:spPr>
          <a:xfrm>
            <a:off x="6720840" y="2386584"/>
            <a:ext cx="4846320" cy="54864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Adapter</a:t>
            </a:r>
            <a:endParaRPr lang="en-US" sz="1250" dirty="0"/>
          </a:p>
        </p:txBody>
      </p:sp>
      <p:sp>
        <p:nvSpPr>
          <p:cNvPr id="16" name="Shape 14"/>
          <p:cNvSpPr/>
          <p:nvPr/>
        </p:nvSpPr>
        <p:spPr>
          <a:xfrm>
            <a:off x="9144000" y="2962656"/>
            <a:ext cx="914" cy="91440"/>
          </a:xfrm>
          <a:prstGeom prst="line">
            <a:avLst/>
          </a:prstGeom>
          <a:noFill/>
          <a:ln w="25400">
            <a:solidFill>
              <a:srgbClr val="B18CF5"/>
            </a:solidFill>
            <a:prstDash val="solid"/>
            <a:tailEnd type="triangle"/>
          </a:ln>
        </p:spPr>
      </p:sp>
      <p:sp>
        <p:nvSpPr>
          <p:cNvPr id="17" name="Shape 15"/>
          <p:cNvSpPr/>
          <p:nvPr/>
        </p:nvSpPr>
        <p:spPr>
          <a:xfrm>
            <a:off x="6583680" y="3081528"/>
            <a:ext cx="5120640" cy="548640"/>
          </a:xfrm>
          <a:prstGeom prst="roundRect">
            <a:avLst>
              <a:gd name="adj" fmla="val 13333"/>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8" name="Text 16"/>
          <p:cNvSpPr/>
          <p:nvPr/>
        </p:nvSpPr>
        <p:spPr>
          <a:xfrm>
            <a:off x="6720840" y="3081528"/>
            <a:ext cx="4846320" cy="54864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Backend Microservices</a:t>
            </a:r>
            <a:endParaRPr lang="en-US" sz="1250" dirty="0"/>
          </a:p>
        </p:txBody>
      </p:sp>
      <p:sp>
        <p:nvSpPr>
          <p:cNvPr id="19" name="Shape 17"/>
          <p:cNvSpPr/>
          <p:nvPr/>
        </p:nvSpPr>
        <p:spPr>
          <a:xfrm>
            <a:off x="9144000" y="3657600"/>
            <a:ext cx="914" cy="91440"/>
          </a:xfrm>
          <a:prstGeom prst="line">
            <a:avLst/>
          </a:prstGeom>
          <a:noFill/>
          <a:ln w="25400">
            <a:solidFill>
              <a:srgbClr val="B18CF5"/>
            </a:solidFill>
            <a:prstDash val="solid"/>
            <a:tailEnd type="triangle"/>
          </a:ln>
        </p:spPr>
      </p:sp>
      <p:sp>
        <p:nvSpPr>
          <p:cNvPr id="20" name="Shape 18"/>
          <p:cNvSpPr/>
          <p:nvPr/>
        </p:nvSpPr>
        <p:spPr>
          <a:xfrm>
            <a:off x="6583680" y="3776472"/>
            <a:ext cx="5120640" cy="548640"/>
          </a:xfrm>
          <a:prstGeom prst="roundRect">
            <a:avLst>
              <a:gd name="adj" fmla="val 13333"/>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1" name="Text 19"/>
          <p:cNvSpPr/>
          <p:nvPr/>
        </p:nvSpPr>
        <p:spPr>
          <a:xfrm>
            <a:off x="6720840" y="3776472"/>
            <a:ext cx="4846320" cy="54864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CRS</a:t>
            </a:r>
            <a:endParaRPr lang="en-US" sz="1250" dirty="0"/>
          </a:p>
        </p:txBody>
      </p:sp>
      <p:sp>
        <p:nvSpPr>
          <p:cNvPr id="22" name="Shape 20"/>
          <p:cNvSpPr/>
          <p:nvPr/>
        </p:nvSpPr>
        <p:spPr>
          <a:xfrm>
            <a:off x="9144000" y="4352544"/>
            <a:ext cx="914" cy="91440"/>
          </a:xfrm>
          <a:prstGeom prst="line">
            <a:avLst/>
          </a:prstGeom>
          <a:noFill/>
          <a:ln w="25400">
            <a:solidFill>
              <a:srgbClr val="B18CF5"/>
            </a:solidFill>
            <a:prstDash val="solid"/>
            <a:tailEnd type="triangle"/>
          </a:ln>
        </p:spPr>
      </p:sp>
      <p:sp>
        <p:nvSpPr>
          <p:cNvPr id="23" name="Shape 21"/>
          <p:cNvSpPr/>
          <p:nvPr/>
        </p:nvSpPr>
        <p:spPr>
          <a:xfrm>
            <a:off x="6583680" y="4471416"/>
            <a:ext cx="5120640" cy="548640"/>
          </a:xfrm>
          <a:prstGeom prst="roundRect">
            <a:avLst>
              <a:gd name="adj" fmla="val 13333"/>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6720840" y="4471416"/>
            <a:ext cx="4846320" cy="54864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API / Service Layer</a:t>
            </a:r>
            <a:endParaRPr lang="en-US" sz="1250" dirty="0"/>
          </a:p>
        </p:txBody>
      </p:sp>
      <p:sp>
        <p:nvSpPr>
          <p:cNvPr id="25" name="Shape 23"/>
          <p:cNvSpPr/>
          <p:nvPr/>
        </p:nvSpPr>
        <p:spPr>
          <a:xfrm>
            <a:off x="9144000" y="5047488"/>
            <a:ext cx="914" cy="91440"/>
          </a:xfrm>
          <a:prstGeom prst="line">
            <a:avLst/>
          </a:prstGeom>
          <a:noFill/>
          <a:ln w="25400">
            <a:solidFill>
              <a:srgbClr val="B18CF5"/>
            </a:solidFill>
            <a:prstDash val="solid"/>
            <a:tailEnd type="triangle"/>
          </a:ln>
        </p:spPr>
      </p:sp>
      <p:sp>
        <p:nvSpPr>
          <p:cNvPr id="26" name="Shape 24"/>
          <p:cNvSpPr/>
          <p:nvPr/>
        </p:nvSpPr>
        <p:spPr>
          <a:xfrm>
            <a:off x="6583680" y="5166360"/>
            <a:ext cx="5120640" cy="548640"/>
          </a:xfrm>
          <a:prstGeom prst="roundRect">
            <a:avLst>
              <a:gd name="adj" fmla="val 13333"/>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6720840" y="5166360"/>
            <a:ext cx="4846320" cy="548640"/>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Response back to UI</a:t>
            </a:r>
            <a:endParaRPr lang="en-US" sz="1250" dirty="0"/>
          </a:p>
        </p:txBody>
      </p:sp>
      <p:sp>
        <p:nvSpPr>
          <p:cNvPr id="28" name="Text 26"/>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29" name="Text 27"/>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0" name="Text 28"/>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SOAP &amp; REST — and the Backend Validation Flow</a:t>
            </a:r>
            <a:endParaRPr lang="en-US" sz="3000" dirty="0"/>
          </a:p>
        </p:txBody>
      </p:sp>
      <p:sp>
        <p:nvSpPr>
          <p:cNvPr id="7" name="Shape 5"/>
          <p:cNvSpPr/>
          <p:nvPr/>
        </p:nvSpPr>
        <p:spPr>
          <a:xfrm>
            <a:off x="457200" y="1691640"/>
            <a:ext cx="5495544" cy="1554480"/>
          </a:xfrm>
          <a:prstGeom prst="roundRect">
            <a:avLst>
              <a:gd name="adj" fmla="val 4706"/>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21792" y="1837944"/>
            <a:ext cx="109728" cy="109728"/>
          </a:xfrm>
          <a:prstGeom prst="roundRect">
            <a:avLst>
              <a:gd name="adj" fmla="val 50000"/>
            </a:avLst>
          </a:prstGeom>
          <a:solidFill>
            <a:srgbClr val="B18CF5"/>
          </a:solidFill>
          <a:ln/>
        </p:spPr>
      </p:sp>
      <p:sp>
        <p:nvSpPr>
          <p:cNvPr id="9" name="Text 7"/>
          <p:cNvSpPr/>
          <p:nvPr/>
        </p:nvSpPr>
        <p:spPr>
          <a:xfrm>
            <a:off x="822960" y="1764792"/>
            <a:ext cx="4992624"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SOAP</a:t>
            </a:r>
            <a:endParaRPr lang="en-US" sz="1300" dirty="0"/>
          </a:p>
        </p:txBody>
      </p:sp>
      <p:sp>
        <p:nvSpPr>
          <p:cNvPr id="10" name="Text 8"/>
          <p:cNvSpPr/>
          <p:nvPr/>
        </p:nvSpPr>
        <p:spPr>
          <a:xfrm>
            <a:off x="640080" y="2112264"/>
            <a:ext cx="5129784" cy="102412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Structured service communication — the main focus in Allianz automation. Request/response based messaging.</a:t>
            </a:r>
            <a:endParaRPr lang="en-US" sz="1080" dirty="0"/>
          </a:p>
        </p:txBody>
      </p:sp>
      <p:sp>
        <p:nvSpPr>
          <p:cNvPr id="11" name="Shape 9"/>
          <p:cNvSpPr/>
          <p:nvPr/>
        </p:nvSpPr>
        <p:spPr>
          <a:xfrm>
            <a:off x="6208776" y="1691640"/>
            <a:ext cx="5495544" cy="1554480"/>
          </a:xfrm>
          <a:prstGeom prst="roundRect">
            <a:avLst>
              <a:gd name="adj" fmla="val 4706"/>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2" name="Shape 10"/>
          <p:cNvSpPr/>
          <p:nvPr/>
        </p:nvSpPr>
        <p:spPr>
          <a:xfrm>
            <a:off x="6373368" y="1837944"/>
            <a:ext cx="109728" cy="109728"/>
          </a:xfrm>
          <a:prstGeom prst="roundRect">
            <a:avLst>
              <a:gd name="adj" fmla="val 50000"/>
            </a:avLst>
          </a:prstGeom>
          <a:solidFill>
            <a:srgbClr val="B18CF5"/>
          </a:solidFill>
          <a:ln/>
        </p:spPr>
      </p:sp>
      <p:sp>
        <p:nvSpPr>
          <p:cNvPr id="13" name="Text 11"/>
          <p:cNvSpPr/>
          <p:nvPr/>
        </p:nvSpPr>
        <p:spPr>
          <a:xfrm>
            <a:off x="6574536" y="1764792"/>
            <a:ext cx="4992624"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REST</a:t>
            </a:r>
            <a:endParaRPr lang="en-US" sz="1300" dirty="0"/>
          </a:p>
        </p:txBody>
      </p:sp>
      <p:sp>
        <p:nvSpPr>
          <p:cNvPr id="14" name="Text 12"/>
          <p:cNvSpPr/>
          <p:nvPr/>
        </p:nvSpPr>
        <p:spPr>
          <a:xfrm>
            <a:off x="6391656" y="2112264"/>
            <a:ext cx="5129784" cy="102412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HTTP-based API communication using CRUD operations: GET, POST, PUT, DELETE.</a:t>
            </a:r>
            <a:endParaRPr lang="en-US" sz="1080" dirty="0"/>
          </a:p>
        </p:txBody>
      </p:sp>
      <p:sp>
        <p:nvSpPr>
          <p:cNvPr id="15" name="Shape 13"/>
          <p:cNvSpPr/>
          <p:nvPr/>
        </p:nvSpPr>
        <p:spPr>
          <a:xfrm>
            <a:off x="457200" y="3520440"/>
            <a:ext cx="1607820" cy="960120"/>
          </a:xfrm>
          <a:prstGeom prst="roundRect">
            <a:avLst>
              <a:gd name="adj" fmla="val 761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6" name="Text 14"/>
          <p:cNvSpPr/>
          <p:nvPr/>
        </p:nvSpPr>
        <p:spPr>
          <a:xfrm>
            <a:off x="530352" y="3593592"/>
            <a:ext cx="1461516"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Request</a:t>
            </a:r>
            <a:endParaRPr lang="en-US" sz="1200" dirty="0"/>
          </a:p>
        </p:txBody>
      </p:sp>
      <p:sp>
        <p:nvSpPr>
          <p:cNvPr id="17" name="Shape 15"/>
          <p:cNvSpPr/>
          <p:nvPr/>
        </p:nvSpPr>
        <p:spPr>
          <a:xfrm>
            <a:off x="2101596" y="4000500"/>
            <a:ext cx="246888" cy="914"/>
          </a:xfrm>
          <a:prstGeom prst="line">
            <a:avLst/>
          </a:prstGeom>
          <a:noFill/>
          <a:ln w="25400">
            <a:solidFill>
              <a:srgbClr val="B18CF5"/>
            </a:solidFill>
            <a:prstDash val="solid"/>
            <a:tailEnd type="triangle"/>
          </a:ln>
        </p:spPr>
      </p:sp>
      <p:sp>
        <p:nvSpPr>
          <p:cNvPr id="18" name="Shape 16"/>
          <p:cNvSpPr/>
          <p:nvPr/>
        </p:nvSpPr>
        <p:spPr>
          <a:xfrm>
            <a:off x="2385060" y="3520440"/>
            <a:ext cx="1607820" cy="960120"/>
          </a:xfrm>
          <a:prstGeom prst="roundRect">
            <a:avLst>
              <a:gd name="adj" fmla="val 761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9" name="Text 17"/>
          <p:cNvSpPr/>
          <p:nvPr/>
        </p:nvSpPr>
        <p:spPr>
          <a:xfrm>
            <a:off x="2458212" y="3593592"/>
            <a:ext cx="1461516"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Endpoint +</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Environment</a:t>
            </a:r>
            <a:endParaRPr lang="en-US" sz="1200" dirty="0"/>
          </a:p>
        </p:txBody>
      </p:sp>
      <p:sp>
        <p:nvSpPr>
          <p:cNvPr id="20" name="Shape 18"/>
          <p:cNvSpPr/>
          <p:nvPr/>
        </p:nvSpPr>
        <p:spPr>
          <a:xfrm>
            <a:off x="4029456" y="4000500"/>
            <a:ext cx="246888" cy="914"/>
          </a:xfrm>
          <a:prstGeom prst="line">
            <a:avLst/>
          </a:prstGeom>
          <a:noFill/>
          <a:ln w="25400">
            <a:solidFill>
              <a:srgbClr val="B18CF5"/>
            </a:solidFill>
            <a:prstDash val="solid"/>
            <a:tailEnd type="triangle"/>
          </a:ln>
        </p:spPr>
      </p:sp>
      <p:sp>
        <p:nvSpPr>
          <p:cNvPr id="21" name="Shape 19"/>
          <p:cNvSpPr/>
          <p:nvPr/>
        </p:nvSpPr>
        <p:spPr>
          <a:xfrm>
            <a:off x="4312920" y="3520440"/>
            <a:ext cx="1607820" cy="960120"/>
          </a:xfrm>
          <a:prstGeom prst="roundRect">
            <a:avLst>
              <a:gd name="adj" fmla="val 761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2" name="Text 20"/>
          <p:cNvSpPr/>
          <p:nvPr/>
        </p:nvSpPr>
        <p:spPr>
          <a:xfrm>
            <a:off x="4386072" y="3593592"/>
            <a:ext cx="1461516"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CRS ID</a:t>
            </a:r>
            <a:endParaRPr lang="en-US" sz="1200" dirty="0"/>
          </a:p>
        </p:txBody>
      </p:sp>
      <p:sp>
        <p:nvSpPr>
          <p:cNvPr id="23" name="Shape 21"/>
          <p:cNvSpPr/>
          <p:nvPr/>
        </p:nvSpPr>
        <p:spPr>
          <a:xfrm>
            <a:off x="5957316" y="4000500"/>
            <a:ext cx="246888" cy="914"/>
          </a:xfrm>
          <a:prstGeom prst="line">
            <a:avLst/>
          </a:prstGeom>
          <a:noFill/>
          <a:ln w="25400">
            <a:solidFill>
              <a:srgbClr val="B18CF5"/>
            </a:solidFill>
            <a:prstDash val="solid"/>
            <a:tailEnd type="triangle"/>
          </a:ln>
        </p:spPr>
      </p:sp>
      <p:sp>
        <p:nvSpPr>
          <p:cNvPr id="24" name="Shape 22"/>
          <p:cNvSpPr/>
          <p:nvPr/>
        </p:nvSpPr>
        <p:spPr>
          <a:xfrm>
            <a:off x="6240780" y="3520440"/>
            <a:ext cx="1607820" cy="960120"/>
          </a:xfrm>
          <a:prstGeom prst="roundRect">
            <a:avLst>
              <a:gd name="adj" fmla="val 761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5" name="Text 23"/>
          <p:cNvSpPr/>
          <p:nvPr/>
        </p:nvSpPr>
        <p:spPr>
          <a:xfrm>
            <a:off x="6313932" y="3593592"/>
            <a:ext cx="1461516"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Microservice</a:t>
            </a:r>
            <a:endParaRPr lang="en-US" sz="1200" dirty="0"/>
          </a:p>
        </p:txBody>
      </p:sp>
      <p:sp>
        <p:nvSpPr>
          <p:cNvPr id="26" name="Shape 24"/>
          <p:cNvSpPr/>
          <p:nvPr/>
        </p:nvSpPr>
        <p:spPr>
          <a:xfrm>
            <a:off x="7885176" y="4000500"/>
            <a:ext cx="246888" cy="914"/>
          </a:xfrm>
          <a:prstGeom prst="line">
            <a:avLst/>
          </a:prstGeom>
          <a:noFill/>
          <a:ln w="25400">
            <a:solidFill>
              <a:srgbClr val="B18CF5"/>
            </a:solidFill>
            <a:prstDash val="solid"/>
            <a:tailEnd type="triangle"/>
          </a:ln>
        </p:spPr>
      </p:sp>
      <p:sp>
        <p:nvSpPr>
          <p:cNvPr id="27" name="Shape 25"/>
          <p:cNvSpPr/>
          <p:nvPr/>
        </p:nvSpPr>
        <p:spPr>
          <a:xfrm>
            <a:off x="8168640" y="3520440"/>
            <a:ext cx="1607820" cy="960120"/>
          </a:xfrm>
          <a:prstGeom prst="roundRect">
            <a:avLst>
              <a:gd name="adj" fmla="val 761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8" name="Text 26"/>
          <p:cNvSpPr/>
          <p:nvPr/>
        </p:nvSpPr>
        <p:spPr>
          <a:xfrm>
            <a:off x="8241792" y="3593592"/>
            <a:ext cx="1461516"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XML</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Response</a:t>
            </a:r>
            <a:endParaRPr lang="en-US" sz="1200" dirty="0"/>
          </a:p>
        </p:txBody>
      </p:sp>
      <p:sp>
        <p:nvSpPr>
          <p:cNvPr id="29" name="Shape 27"/>
          <p:cNvSpPr/>
          <p:nvPr/>
        </p:nvSpPr>
        <p:spPr>
          <a:xfrm>
            <a:off x="9813036" y="4000500"/>
            <a:ext cx="246888" cy="914"/>
          </a:xfrm>
          <a:prstGeom prst="line">
            <a:avLst/>
          </a:prstGeom>
          <a:noFill/>
          <a:ln w="25400">
            <a:solidFill>
              <a:srgbClr val="B18CF5"/>
            </a:solidFill>
            <a:prstDash val="solid"/>
            <a:tailEnd type="triangle"/>
          </a:ln>
        </p:spPr>
      </p:sp>
      <p:sp>
        <p:nvSpPr>
          <p:cNvPr id="30" name="Shape 28"/>
          <p:cNvSpPr/>
          <p:nvPr/>
        </p:nvSpPr>
        <p:spPr>
          <a:xfrm>
            <a:off x="10096500" y="3520440"/>
            <a:ext cx="1607820" cy="960120"/>
          </a:xfrm>
          <a:prstGeom prst="roundRect">
            <a:avLst>
              <a:gd name="adj" fmla="val 761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1" name="Text 29"/>
          <p:cNvSpPr/>
          <p:nvPr/>
        </p:nvSpPr>
        <p:spPr>
          <a:xfrm>
            <a:off x="10169652" y="3593592"/>
            <a:ext cx="1461516"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Validation</a:t>
            </a:r>
            <a:endParaRPr lang="en-US" sz="1200" dirty="0"/>
          </a:p>
        </p:txBody>
      </p:sp>
      <p:sp>
        <p:nvSpPr>
          <p:cNvPr id="32" name="Shape 30"/>
          <p:cNvSpPr/>
          <p:nvPr/>
        </p:nvSpPr>
        <p:spPr>
          <a:xfrm>
            <a:off x="457200" y="4754880"/>
            <a:ext cx="11247120" cy="1188720"/>
          </a:xfrm>
          <a:prstGeom prst="roundRect">
            <a:avLst>
              <a:gd name="adj" fmla="val 6154"/>
            </a:avLst>
          </a:prstGeom>
          <a:solidFill>
            <a:srgbClr val="101A30"/>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33" name="Text 31"/>
          <p:cNvSpPr/>
          <p:nvPr/>
        </p:nvSpPr>
        <p:spPr>
          <a:xfrm>
            <a:off x="685800" y="4873752"/>
            <a:ext cx="10789920" cy="960120"/>
          </a:xfrm>
          <a:prstGeom prst="rect">
            <a:avLst/>
          </a:prstGeom>
          <a:noFill/>
          <a:ln/>
        </p:spPr>
        <p:txBody>
          <a:bodyPr wrap="square" rtlCol="0" anchor="ctr"/>
          <a:lstStyle/>
          <a:p>
            <a:pPr indent="0" marL="0">
              <a:buNone/>
            </a:pPr>
            <a:r>
              <a:rPr lang="en-US" sz="1300" i="1" dirty="0">
                <a:solidFill>
                  <a:srgbClr val="F5B942"/>
                </a:solidFill>
                <a:latin typeface="Calibri" pitchFamily="34" charset="0"/>
                <a:ea typeface="Calibri" pitchFamily="34" charset="-122"/>
                <a:cs typeface="Calibri" pitchFamily="34" charset="-120"/>
              </a:rPr>
              <a:t>Why validate the backend first? It catches issues at the source — before they're masked or reshaped by the UI layer.</a:t>
            </a:r>
            <a:endParaRPr lang="en-US" sz="1300" dirty="0"/>
          </a:p>
        </p:txBody>
      </p:sp>
      <p:sp>
        <p:nvSpPr>
          <p:cNvPr id="34" name="Text 32"/>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35" name="Text 33"/>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6" name="Text 34"/>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CRS, CRS ID &amp; Environment</a:t>
            </a:r>
            <a:endParaRPr lang="en-US" sz="3000" dirty="0"/>
          </a:p>
        </p:txBody>
      </p:sp>
      <p:sp>
        <p:nvSpPr>
          <p:cNvPr id="7" name="Shape 5"/>
          <p:cNvSpPr/>
          <p:nvPr/>
        </p:nvSpPr>
        <p:spPr>
          <a:xfrm>
            <a:off x="457200" y="1737360"/>
            <a:ext cx="3578352" cy="1828800"/>
          </a:xfrm>
          <a:prstGeom prst="roundRect">
            <a:avLst>
              <a:gd name="adj" fmla="val 4000"/>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21792" y="1883664"/>
            <a:ext cx="109728" cy="109728"/>
          </a:xfrm>
          <a:prstGeom prst="roundRect">
            <a:avLst>
              <a:gd name="adj" fmla="val 50000"/>
            </a:avLst>
          </a:prstGeom>
          <a:solidFill>
            <a:srgbClr val="B18CF5"/>
          </a:solidFill>
          <a:ln/>
        </p:spPr>
      </p:sp>
      <p:sp>
        <p:nvSpPr>
          <p:cNvPr id="9" name="Text 7"/>
          <p:cNvSpPr/>
          <p:nvPr/>
        </p:nvSpPr>
        <p:spPr>
          <a:xfrm>
            <a:off x="822960" y="181051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CRS</a:t>
            </a:r>
            <a:endParaRPr lang="en-US" sz="1300" dirty="0"/>
          </a:p>
        </p:txBody>
      </p:sp>
      <p:sp>
        <p:nvSpPr>
          <p:cNvPr id="10" name="Text 8"/>
          <p:cNvSpPr/>
          <p:nvPr/>
        </p:nvSpPr>
        <p:spPr>
          <a:xfrm>
            <a:off x="640080" y="2157984"/>
            <a:ext cx="3212592" cy="129844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Customer Rating Services — the backend service component at the center of Allianz automation.</a:t>
            </a:r>
            <a:endParaRPr lang="en-US" sz="1080" dirty="0"/>
          </a:p>
        </p:txBody>
      </p:sp>
      <p:sp>
        <p:nvSpPr>
          <p:cNvPr id="11" name="Shape 9"/>
          <p:cNvSpPr/>
          <p:nvPr/>
        </p:nvSpPr>
        <p:spPr>
          <a:xfrm>
            <a:off x="4291584" y="1737360"/>
            <a:ext cx="3578352" cy="1828800"/>
          </a:xfrm>
          <a:prstGeom prst="roundRect">
            <a:avLst>
              <a:gd name="adj" fmla="val 4000"/>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2" name="Shape 10"/>
          <p:cNvSpPr/>
          <p:nvPr/>
        </p:nvSpPr>
        <p:spPr>
          <a:xfrm>
            <a:off x="4456176" y="1883664"/>
            <a:ext cx="109728" cy="109728"/>
          </a:xfrm>
          <a:prstGeom prst="roundRect">
            <a:avLst>
              <a:gd name="adj" fmla="val 50000"/>
            </a:avLst>
          </a:prstGeom>
          <a:solidFill>
            <a:srgbClr val="B18CF5"/>
          </a:solidFill>
          <a:ln/>
        </p:spPr>
      </p:sp>
      <p:sp>
        <p:nvSpPr>
          <p:cNvPr id="13" name="Text 11"/>
          <p:cNvSpPr/>
          <p:nvPr/>
        </p:nvSpPr>
        <p:spPr>
          <a:xfrm>
            <a:off x="4657344" y="181051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CRS ID</a:t>
            </a:r>
            <a:endParaRPr lang="en-US" sz="1300" dirty="0"/>
          </a:p>
        </p:txBody>
      </p:sp>
      <p:sp>
        <p:nvSpPr>
          <p:cNvPr id="14" name="Text 12"/>
          <p:cNvSpPr/>
          <p:nvPr/>
        </p:nvSpPr>
        <p:spPr>
          <a:xfrm>
            <a:off x="4474464" y="2157984"/>
            <a:ext cx="3212592" cy="129844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The identifier used to reference and track a specific service call / request.</a:t>
            </a:r>
            <a:endParaRPr lang="en-US" sz="1080" dirty="0"/>
          </a:p>
        </p:txBody>
      </p:sp>
      <p:sp>
        <p:nvSpPr>
          <p:cNvPr id="15" name="Shape 13"/>
          <p:cNvSpPr/>
          <p:nvPr/>
        </p:nvSpPr>
        <p:spPr>
          <a:xfrm>
            <a:off x="8125968" y="1737360"/>
            <a:ext cx="3578352" cy="1828800"/>
          </a:xfrm>
          <a:prstGeom prst="roundRect">
            <a:avLst>
              <a:gd name="adj" fmla="val 4000"/>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6" name="Shape 14"/>
          <p:cNvSpPr/>
          <p:nvPr/>
        </p:nvSpPr>
        <p:spPr>
          <a:xfrm>
            <a:off x="8290560" y="1883664"/>
            <a:ext cx="109728" cy="109728"/>
          </a:xfrm>
          <a:prstGeom prst="roundRect">
            <a:avLst>
              <a:gd name="adj" fmla="val 50000"/>
            </a:avLst>
          </a:prstGeom>
          <a:solidFill>
            <a:srgbClr val="B18CF5"/>
          </a:solidFill>
          <a:ln/>
        </p:spPr>
      </p:sp>
      <p:sp>
        <p:nvSpPr>
          <p:cNvPr id="17" name="Text 15"/>
          <p:cNvSpPr/>
          <p:nvPr/>
        </p:nvSpPr>
        <p:spPr>
          <a:xfrm>
            <a:off x="8491728" y="1810512"/>
            <a:ext cx="3075432" cy="310896"/>
          </a:xfrm>
          <a:prstGeom prst="rect">
            <a:avLst/>
          </a:prstGeom>
          <a:noFill/>
          <a:ln/>
        </p:spPr>
        <p:txBody>
          <a:bodyPr wrap="square" rtlCol="0" anchor="ctr"/>
          <a:lstStyle/>
          <a:p>
            <a:pPr indent="0" marL="0">
              <a:buNone/>
            </a:pPr>
            <a:r>
              <a:rPr lang="en-US" sz="1300" b="1" dirty="0">
                <a:solidFill>
                  <a:srgbClr val="F3F6FB"/>
                </a:solidFill>
                <a:latin typeface="Calibri" pitchFamily="34" charset="0"/>
                <a:ea typeface="Calibri" pitchFamily="34" charset="-122"/>
                <a:cs typeface="Calibri" pitchFamily="34" charset="-120"/>
              </a:rPr>
              <a:t>Environment</a:t>
            </a:r>
            <a:endParaRPr lang="en-US" sz="1300" dirty="0"/>
          </a:p>
        </p:txBody>
      </p:sp>
      <p:sp>
        <p:nvSpPr>
          <p:cNvPr id="18" name="Text 16"/>
          <p:cNvSpPr/>
          <p:nvPr/>
        </p:nvSpPr>
        <p:spPr>
          <a:xfrm>
            <a:off x="8308848" y="2157984"/>
            <a:ext cx="3212592" cy="1298448"/>
          </a:xfrm>
          <a:prstGeom prst="rect">
            <a:avLst/>
          </a:prstGeom>
          <a:noFill/>
          <a:ln/>
        </p:spPr>
        <p:txBody>
          <a:bodyPr wrap="square" rtlCol="0" anchor="t"/>
          <a:lstStyle/>
          <a:p>
            <a:pPr indent="0" marL="0">
              <a:lnSpc>
                <a:spcPct val="110000"/>
              </a:lnSpc>
              <a:buNone/>
            </a:pPr>
            <a:r>
              <a:rPr lang="en-US" sz="1080" dirty="0">
                <a:solidFill>
                  <a:srgbClr val="97A3BE"/>
                </a:solidFill>
                <a:latin typeface="Calibri" pitchFamily="34" charset="0"/>
                <a:ea typeface="Calibri" pitchFamily="34" charset="-122"/>
                <a:cs typeface="Calibri" pitchFamily="34" charset="-120"/>
              </a:rPr>
              <a:t>Endpoint and configuration change depending on which environment you're pointed at.</a:t>
            </a:r>
            <a:endParaRPr lang="en-US" sz="1080" dirty="0"/>
          </a:p>
        </p:txBody>
      </p:sp>
      <p:sp>
        <p:nvSpPr>
          <p:cNvPr id="19" name="Shape 17"/>
          <p:cNvSpPr/>
          <p:nvPr/>
        </p:nvSpPr>
        <p:spPr>
          <a:xfrm>
            <a:off x="457200" y="3977640"/>
            <a:ext cx="1993392" cy="960120"/>
          </a:xfrm>
          <a:prstGeom prst="roundRect">
            <a:avLst>
              <a:gd name="adj" fmla="val 761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530352" y="4050792"/>
            <a:ext cx="1847088"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Environment</a:t>
            </a:r>
            <a:endParaRPr lang="en-US" sz="1200" dirty="0"/>
          </a:p>
        </p:txBody>
      </p:sp>
      <p:sp>
        <p:nvSpPr>
          <p:cNvPr id="21" name="Shape 19"/>
          <p:cNvSpPr/>
          <p:nvPr/>
        </p:nvSpPr>
        <p:spPr>
          <a:xfrm>
            <a:off x="2487168" y="4457700"/>
            <a:ext cx="246888" cy="914"/>
          </a:xfrm>
          <a:prstGeom prst="line">
            <a:avLst/>
          </a:prstGeom>
          <a:noFill/>
          <a:ln w="25400">
            <a:solidFill>
              <a:srgbClr val="B18CF5"/>
            </a:solidFill>
            <a:prstDash val="solid"/>
            <a:tailEnd type="triangle"/>
          </a:ln>
        </p:spPr>
      </p:sp>
      <p:sp>
        <p:nvSpPr>
          <p:cNvPr id="22" name="Shape 20"/>
          <p:cNvSpPr/>
          <p:nvPr/>
        </p:nvSpPr>
        <p:spPr>
          <a:xfrm>
            <a:off x="2770632" y="3977640"/>
            <a:ext cx="1993392" cy="960120"/>
          </a:xfrm>
          <a:prstGeom prst="roundRect">
            <a:avLst>
              <a:gd name="adj" fmla="val 761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2843784" y="4050792"/>
            <a:ext cx="1847088"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Endpoint</a:t>
            </a:r>
            <a:endParaRPr lang="en-US" sz="1200" dirty="0"/>
          </a:p>
        </p:txBody>
      </p:sp>
      <p:sp>
        <p:nvSpPr>
          <p:cNvPr id="24" name="Shape 22"/>
          <p:cNvSpPr/>
          <p:nvPr/>
        </p:nvSpPr>
        <p:spPr>
          <a:xfrm>
            <a:off x="4800600" y="4457700"/>
            <a:ext cx="246888" cy="914"/>
          </a:xfrm>
          <a:prstGeom prst="line">
            <a:avLst/>
          </a:prstGeom>
          <a:noFill/>
          <a:ln w="25400">
            <a:solidFill>
              <a:srgbClr val="B18CF5"/>
            </a:solidFill>
            <a:prstDash val="solid"/>
            <a:tailEnd type="triangle"/>
          </a:ln>
        </p:spPr>
      </p:sp>
      <p:sp>
        <p:nvSpPr>
          <p:cNvPr id="25" name="Shape 23"/>
          <p:cNvSpPr/>
          <p:nvPr/>
        </p:nvSpPr>
        <p:spPr>
          <a:xfrm>
            <a:off x="5084064" y="3977640"/>
            <a:ext cx="1993392" cy="960120"/>
          </a:xfrm>
          <a:prstGeom prst="roundRect">
            <a:avLst>
              <a:gd name="adj" fmla="val 761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5157216" y="4050792"/>
            <a:ext cx="1847088"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CRS ID</a:t>
            </a:r>
            <a:endParaRPr lang="en-US" sz="1200" dirty="0"/>
          </a:p>
        </p:txBody>
      </p:sp>
      <p:sp>
        <p:nvSpPr>
          <p:cNvPr id="27" name="Shape 25"/>
          <p:cNvSpPr/>
          <p:nvPr/>
        </p:nvSpPr>
        <p:spPr>
          <a:xfrm>
            <a:off x="7114032" y="4457700"/>
            <a:ext cx="246888" cy="914"/>
          </a:xfrm>
          <a:prstGeom prst="line">
            <a:avLst/>
          </a:prstGeom>
          <a:noFill/>
          <a:ln w="25400">
            <a:solidFill>
              <a:srgbClr val="B18CF5"/>
            </a:solidFill>
            <a:prstDash val="solid"/>
            <a:tailEnd type="triangle"/>
          </a:ln>
        </p:spPr>
      </p:sp>
      <p:sp>
        <p:nvSpPr>
          <p:cNvPr id="28" name="Shape 26"/>
          <p:cNvSpPr/>
          <p:nvPr/>
        </p:nvSpPr>
        <p:spPr>
          <a:xfrm>
            <a:off x="7397496" y="3977640"/>
            <a:ext cx="1993392" cy="960120"/>
          </a:xfrm>
          <a:prstGeom prst="roundRect">
            <a:avLst>
              <a:gd name="adj" fmla="val 761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9" name="Text 27"/>
          <p:cNvSpPr/>
          <p:nvPr/>
        </p:nvSpPr>
        <p:spPr>
          <a:xfrm>
            <a:off x="7470648" y="4050792"/>
            <a:ext cx="1847088"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Request</a:t>
            </a:r>
            <a:endParaRPr lang="en-US" sz="1200" dirty="0"/>
          </a:p>
        </p:txBody>
      </p:sp>
      <p:sp>
        <p:nvSpPr>
          <p:cNvPr id="30" name="Shape 28"/>
          <p:cNvSpPr/>
          <p:nvPr/>
        </p:nvSpPr>
        <p:spPr>
          <a:xfrm>
            <a:off x="9427464" y="4457700"/>
            <a:ext cx="246888" cy="914"/>
          </a:xfrm>
          <a:prstGeom prst="line">
            <a:avLst/>
          </a:prstGeom>
          <a:noFill/>
          <a:ln w="25400">
            <a:solidFill>
              <a:srgbClr val="B18CF5"/>
            </a:solidFill>
            <a:prstDash val="solid"/>
            <a:tailEnd type="triangle"/>
          </a:ln>
        </p:spPr>
      </p:sp>
      <p:sp>
        <p:nvSpPr>
          <p:cNvPr id="31" name="Shape 29"/>
          <p:cNvSpPr/>
          <p:nvPr/>
        </p:nvSpPr>
        <p:spPr>
          <a:xfrm>
            <a:off x="9710928" y="3977640"/>
            <a:ext cx="1993392" cy="960120"/>
          </a:xfrm>
          <a:prstGeom prst="roundRect">
            <a:avLst>
              <a:gd name="adj" fmla="val 761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2" name="Text 30"/>
          <p:cNvSpPr/>
          <p:nvPr/>
        </p:nvSpPr>
        <p:spPr>
          <a:xfrm>
            <a:off x="9784080" y="4050792"/>
            <a:ext cx="1847088" cy="81381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Response</a:t>
            </a:r>
            <a:endParaRPr lang="en-US" sz="1200" dirty="0"/>
          </a:p>
        </p:txBody>
      </p:sp>
      <p:sp>
        <p:nvSpPr>
          <p:cNvPr id="33" name="Text 31"/>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34" name="Text 32"/>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5" name="Text 33"/>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The Mapping Document — Source of Truth</a:t>
            </a:r>
            <a:endParaRPr lang="en-US" sz="3000" dirty="0"/>
          </a:p>
        </p:txBody>
      </p:sp>
      <p:sp>
        <p:nvSpPr>
          <p:cNvPr id="7" name="Shape 5"/>
          <p:cNvSpPr/>
          <p:nvPr/>
        </p:nvSpPr>
        <p:spPr>
          <a:xfrm>
            <a:off x="457200" y="1737360"/>
            <a:ext cx="5440680" cy="4206240"/>
          </a:xfrm>
          <a:prstGeom prst="roundRect">
            <a:avLst>
              <a:gd name="adj" fmla="val 1739"/>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965960"/>
            <a:ext cx="91440" cy="91440"/>
          </a:xfrm>
          <a:prstGeom prst="roundRect">
            <a:avLst>
              <a:gd name="adj" fmla="val 50000"/>
            </a:avLst>
          </a:prstGeom>
          <a:solidFill>
            <a:srgbClr val="B18CF5"/>
          </a:solidFill>
          <a:ln/>
        </p:spPr>
      </p:sp>
      <p:sp>
        <p:nvSpPr>
          <p:cNvPr id="9" name="Text 7"/>
          <p:cNvSpPr/>
          <p:nvPr/>
        </p:nvSpPr>
        <p:spPr>
          <a:xfrm>
            <a:off x="868680" y="1883664"/>
            <a:ext cx="4800600" cy="292608"/>
          </a:xfrm>
          <a:prstGeom prst="rect">
            <a:avLst/>
          </a:prstGeom>
          <a:noFill/>
          <a:ln/>
        </p:spPr>
        <p:txBody>
          <a:bodyPr wrap="square" rtlCol="0" anchor="ctr"/>
          <a:lstStyle/>
          <a:p>
            <a:pPr indent="0" marL="0">
              <a:buNone/>
            </a:pPr>
            <a:r>
              <a:rPr lang="en-US" sz="1400" b="1" dirty="0">
                <a:solidFill>
                  <a:srgbClr val="B18CF5"/>
                </a:solidFill>
                <a:latin typeface="Calibri" pitchFamily="34" charset="0"/>
                <a:ea typeface="Calibri" pitchFamily="34" charset="-122"/>
                <a:cs typeface="Calibri" pitchFamily="34" charset="-120"/>
              </a:rPr>
              <a:t>What It Contains</a:t>
            </a:r>
            <a:endParaRPr lang="en-US" sz="1400" dirty="0"/>
          </a:p>
        </p:txBody>
      </p:sp>
      <p:sp>
        <p:nvSpPr>
          <p:cNvPr id="10" name="Text 8"/>
          <p:cNvSpPr/>
          <p:nvPr/>
        </p:nvSpPr>
        <p:spPr>
          <a:xfrm>
            <a:off x="731520" y="2322576"/>
            <a:ext cx="4892040" cy="3438144"/>
          </a:xfrm>
          <a:prstGeom prst="rect">
            <a:avLst/>
          </a:prstGeom>
          <a:noFill/>
          <a:ln/>
        </p:spPr>
        <p:txBody>
          <a:bodyPr wrap="square" rtlCol="0" anchor="t"/>
          <a:lstStyle/>
          <a:p>
            <a:pPr marL="177800" indent="-177800">
              <a:lnSpc>
                <a:spcPct val="112000"/>
              </a:lnSpc>
              <a:spcAft>
                <a:spcPts val="1000"/>
              </a:spcAft>
              <a:buSzPct val="100000"/>
              <a:buChar char="•"/>
            </a:pPr>
            <a:r>
              <a:rPr lang="en-US" sz="1350" dirty="0">
                <a:solidFill>
                  <a:srgbClr val="F3F6FB"/>
                </a:solidFill>
                <a:latin typeface="Calibri" pitchFamily="34" charset="0"/>
                <a:ea typeface="Calibri" pitchFamily="34" charset="-122"/>
                <a:cs typeface="Calibri" pitchFamily="34" charset="-120"/>
              </a:rPr>
              <a:t>Field / column names</a:t>
            </a:r>
            <a:endParaRPr lang="en-US" sz="1350" dirty="0"/>
          </a:p>
          <a:p>
            <a:pPr marL="177800" indent="-177800">
              <a:lnSpc>
                <a:spcPct val="112000"/>
              </a:lnSpc>
              <a:spcAft>
                <a:spcPts val="1000"/>
              </a:spcAft>
              <a:buSzPct val="100000"/>
              <a:buChar char="•"/>
            </a:pPr>
            <a:r>
              <a:rPr lang="en-US" sz="1350" dirty="0">
                <a:solidFill>
                  <a:srgbClr val="F3F6FB"/>
                </a:solidFill>
                <a:latin typeface="Calibri" pitchFamily="34" charset="0"/>
                <a:ea typeface="Calibri" pitchFamily="34" charset="-122"/>
                <a:cs typeface="Calibri" pitchFamily="34" charset="-120"/>
              </a:rPr>
              <a:t>Data types</a:t>
            </a:r>
            <a:endParaRPr lang="en-US" sz="1350" dirty="0"/>
          </a:p>
          <a:p>
            <a:pPr marL="177800" indent="-177800">
              <a:lnSpc>
                <a:spcPct val="112000"/>
              </a:lnSpc>
              <a:spcAft>
                <a:spcPts val="1000"/>
              </a:spcAft>
              <a:buSzPct val="100000"/>
              <a:buChar char="•"/>
            </a:pPr>
            <a:r>
              <a:rPr lang="en-US" sz="1350" dirty="0">
                <a:solidFill>
                  <a:srgbClr val="F3F6FB"/>
                </a:solidFill>
                <a:latin typeface="Calibri" pitchFamily="34" charset="0"/>
                <a:ea typeface="Calibri" pitchFamily="34" charset="-122"/>
                <a:cs typeface="Calibri" pitchFamily="34" charset="-120"/>
              </a:rPr>
              <a:t>Mandatory fields</a:t>
            </a:r>
            <a:endParaRPr lang="en-US" sz="1350" dirty="0"/>
          </a:p>
          <a:p>
            <a:pPr marL="177800" indent="-177800">
              <a:lnSpc>
                <a:spcPct val="112000"/>
              </a:lnSpc>
              <a:spcAft>
                <a:spcPts val="1000"/>
              </a:spcAft>
              <a:buSzPct val="100000"/>
              <a:buChar char="•"/>
            </a:pPr>
            <a:r>
              <a:rPr lang="en-US" sz="1350" dirty="0">
                <a:solidFill>
                  <a:srgbClr val="F3F6FB"/>
                </a:solidFill>
                <a:latin typeface="Calibri" pitchFamily="34" charset="0"/>
                <a:ea typeface="Calibri" pitchFamily="34" charset="-122"/>
                <a:cs typeface="Calibri" pitchFamily="34" charset="-120"/>
              </a:rPr>
              <a:t>Expected information</a:t>
            </a:r>
            <a:endParaRPr lang="en-US" sz="1350" dirty="0"/>
          </a:p>
          <a:p>
            <a:pPr marL="177800" indent="-177800">
              <a:lnSpc>
                <a:spcPct val="112000"/>
              </a:lnSpc>
              <a:spcAft>
                <a:spcPts val="1000"/>
              </a:spcAft>
              <a:buSzPct val="100000"/>
              <a:buChar char="•"/>
            </a:pPr>
            <a:r>
              <a:rPr lang="en-US" sz="1350" dirty="0">
                <a:solidFill>
                  <a:srgbClr val="F3F6FB"/>
                </a:solidFill>
                <a:latin typeface="Calibri" pitchFamily="34" charset="0"/>
                <a:ea typeface="Calibri" pitchFamily="34" charset="-122"/>
                <a:cs typeface="Calibri" pitchFamily="34" charset="-120"/>
              </a:rPr>
              <a:t>Version / update information</a:t>
            </a:r>
            <a:endParaRPr lang="en-US" sz="1350" dirty="0"/>
          </a:p>
        </p:txBody>
      </p:sp>
      <p:sp>
        <p:nvSpPr>
          <p:cNvPr id="11" name="Shape 9"/>
          <p:cNvSpPr/>
          <p:nvPr/>
        </p:nvSpPr>
        <p:spPr>
          <a:xfrm>
            <a:off x="6172200" y="1737360"/>
            <a:ext cx="5532120" cy="4206240"/>
          </a:xfrm>
          <a:prstGeom prst="roundRect">
            <a:avLst>
              <a:gd name="adj" fmla="val 1739"/>
            </a:avLst>
          </a:prstGeom>
          <a:solidFill>
            <a:srgbClr val="18233F"/>
          </a:solidFill>
          <a:ln w="19050">
            <a:solidFill>
              <a:srgbClr val="F5B942"/>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6400800" y="1920240"/>
            <a:ext cx="4572000" cy="320040"/>
          </a:xfrm>
          <a:prstGeom prst="rect">
            <a:avLst/>
          </a:prstGeom>
          <a:noFill/>
          <a:ln/>
        </p:spPr>
        <p:txBody>
          <a:bodyPr wrap="square" rtlCol="0" anchor="ctr"/>
          <a:lstStyle/>
          <a:p>
            <a:pPr indent="0" marL="0">
              <a:buNone/>
            </a:pPr>
            <a:r>
              <a:rPr lang="en-US" sz="1250" b="1" spc="150" kern="0" dirty="0">
                <a:solidFill>
                  <a:srgbClr val="F5B942"/>
                </a:solidFill>
                <a:latin typeface="Calibri" pitchFamily="34" charset="0"/>
                <a:ea typeface="Calibri" pitchFamily="34" charset="-122"/>
                <a:cs typeface="Calibri" pitchFamily="34" charset="-120"/>
              </a:rPr>
              <a:t>PURPOSE</a:t>
            </a:r>
            <a:endParaRPr lang="en-US" sz="1250" dirty="0"/>
          </a:p>
        </p:txBody>
      </p:sp>
      <p:sp>
        <p:nvSpPr>
          <p:cNvPr id="13" name="Text 11"/>
          <p:cNvSpPr/>
          <p:nvPr/>
        </p:nvSpPr>
        <p:spPr>
          <a:xfrm>
            <a:off x="6400800" y="2331720"/>
            <a:ext cx="5029200" cy="822960"/>
          </a:xfrm>
          <a:prstGeom prst="rect">
            <a:avLst/>
          </a:prstGeom>
          <a:noFill/>
          <a:ln/>
        </p:spPr>
        <p:txBody>
          <a:bodyPr wrap="square" rtlCol="0" anchor="t"/>
          <a:lstStyle/>
          <a:p>
            <a:pPr indent="0" marL="0">
              <a:lnSpc>
                <a:spcPct val="120000"/>
              </a:lnSpc>
              <a:buNone/>
            </a:pPr>
            <a:r>
              <a:rPr lang="en-US" sz="1300" i="1" dirty="0">
                <a:solidFill>
                  <a:srgbClr val="F3F6FB"/>
                </a:solidFill>
                <a:latin typeface="Calibri" pitchFamily="34" charset="0"/>
                <a:ea typeface="Calibri" pitchFamily="34" charset="-122"/>
                <a:cs typeface="Calibri" pitchFamily="34" charset="-120"/>
              </a:rPr>
              <a:t>Defines exactly how the service data should look — the reference point for every validation.</a:t>
            </a:r>
            <a:endParaRPr lang="en-US" sz="1300" dirty="0"/>
          </a:p>
        </p:txBody>
      </p:sp>
      <p:sp>
        <p:nvSpPr>
          <p:cNvPr id="14" name="Shape 12"/>
          <p:cNvSpPr/>
          <p:nvPr/>
        </p:nvSpPr>
        <p:spPr>
          <a:xfrm>
            <a:off x="6400800" y="3291840"/>
            <a:ext cx="5029200" cy="2377440"/>
          </a:xfrm>
          <a:prstGeom prst="roundRect">
            <a:avLst>
              <a:gd name="adj" fmla="val 3077"/>
            </a:avLst>
          </a:prstGeom>
          <a:solidFill>
            <a:srgbClr val="3D3117"/>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15" name="Text 13"/>
          <p:cNvSpPr/>
          <p:nvPr/>
        </p:nvSpPr>
        <p:spPr>
          <a:xfrm>
            <a:off x="6629400" y="3474720"/>
            <a:ext cx="4572000" cy="2011680"/>
          </a:xfrm>
          <a:prstGeom prst="rect">
            <a:avLst/>
          </a:prstGeom>
          <a:noFill/>
          <a:ln/>
        </p:spPr>
        <p:txBody>
          <a:bodyPr wrap="square" rtlCol="0" anchor="ctr"/>
          <a:lstStyle/>
          <a:p>
            <a:pPr indent="0" marL="0">
              <a:lnSpc>
                <a:spcPct val="125000"/>
              </a:lnSpc>
              <a:buNone/>
            </a:pPr>
            <a:r>
              <a:rPr lang="en-US" sz="1300" b="1" dirty="0">
                <a:solidFill>
                  <a:srgbClr val="F5B942"/>
                </a:solidFill>
                <a:latin typeface="Calibri" pitchFamily="34" charset="0"/>
                <a:ea typeface="Calibri" pitchFamily="34" charset="-122"/>
                <a:cs typeface="Calibri" pitchFamily="34" charset="-120"/>
              </a:rPr>
              <a:t>Mapping information comes directly from stakeholders — it's used both to create test cases and to validate responses.</a:t>
            </a:r>
            <a:endParaRPr lang="en-US" sz="1300" dirty="0"/>
          </a:p>
        </p:txBody>
      </p:sp>
      <p:sp>
        <p:nvSpPr>
          <p:cNvPr id="16" name="Text 14"/>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17" name="Text 15"/>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18" name="Text 16"/>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From Mapping Document to Test Cases</a:t>
            </a:r>
            <a:endParaRPr lang="en-US" sz="3000" dirty="0"/>
          </a:p>
        </p:txBody>
      </p:sp>
      <p:sp>
        <p:nvSpPr>
          <p:cNvPr id="7" name="Shape 5"/>
          <p:cNvSpPr/>
          <p:nvPr/>
        </p:nvSpPr>
        <p:spPr>
          <a:xfrm>
            <a:off x="457200" y="1691640"/>
            <a:ext cx="5212080" cy="475488"/>
          </a:xfrm>
          <a:prstGeom prst="roundRect">
            <a:avLst>
              <a:gd name="adj" fmla="val 15385"/>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594360" y="1691640"/>
            <a:ext cx="493776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Mapping Document</a:t>
            </a:r>
            <a:endParaRPr lang="en-US" sz="1250" dirty="0"/>
          </a:p>
        </p:txBody>
      </p:sp>
      <p:sp>
        <p:nvSpPr>
          <p:cNvPr id="9" name="Shape 7"/>
          <p:cNvSpPr/>
          <p:nvPr/>
        </p:nvSpPr>
        <p:spPr>
          <a:xfrm>
            <a:off x="3063240" y="2194560"/>
            <a:ext cx="914" cy="73152"/>
          </a:xfrm>
          <a:prstGeom prst="line">
            <a:avLst/>
          </a:prstGeom>
          <a:noFill/>
          <a:ln w="25400">
            <a:solidFill>
              <a:srgbClr val="B18CF5"/>
            </a:solidFill>
            <a:prstDash val="solid"/>
            <a:tailEnd type="triangle"/>
          </a:ln>
        </p:spPr>
      </p:sp>
      <p:sp>
        <p:nvSpPr>
          <p:cNvPr id="10" name="Shape 8"/>
          <p:cNvSpPr/>
          <p:nvPr/>
        </p:nvSpPr>
        <p:spPr>
          <a:xfrm>
            <a:off x="457200" y="2295144"/>
            <a:ext cx="5212080" cy="475488"/>
          </a:xfrm>
          <a:prstGeom prst="roundRect">
            <a:avLst>
              <a:gd name="adj" fmla="val 15385"/>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1" name="Text 9"/>
          <p:cNvSpPr/>
          <p:nvPr/>
        </p:nvSpPr>
        <p:spPr>
          <a:xfrm>
            <a:off x="594360" y="2295144"/>
            <a:ext cx="493776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Identify Fields</a:t>
            </a:r>
            <a:endParaRPr lang="en-US" sz="1250" dirty="0"/>
          </a:p>
        </p:txBody>
      </p:sp>
      <p:sp>
        <p:nvSpPr>
          <p:cNvPr id="12" name="Shape 10"/>
          <p:cNvSpPr/>
          <p:nvPr/>
        </p:nvSpPr>
        <p:spPr>
          <a:xfrm>
            <a:off x="3063240" y="2798064"/>
            <a:ext cx="914" cy="73152"/>
          </a:xfrm>
          <a:prstGeom prst="line">
            <a:avLst/>
          </a:prstGeom>
          <a:noFill/>
          <a:ln w="25400">
            <a:solidFill>
              <a:srgbClr val="B18CF5"/>
            </a:solidFill>
            <a:prstDash val="solid"/>
            <a:tailEnd type="triangle"/>
          </a:ln>
        </p:spPr>
      </p:sp>
      <p:sp>
        <p:nvSpPr>
          <p:cNvPr id="13" name="Shape 11"/>
          <p:cNvSpPr/>
          <p:nvPr/>
        </p:nvSpPr>
        <p:spPr>
          <a:xfrm>
            <a:off x="457200" y="2898648"/>
            <a:ext cx="5212080" cy="475488"/>
          </a:xfrm>
          <a:prstGeom prst="roundRect">
            <a:avLst>
              <a:gd name="adj" fmla="val 15385"/>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594360" y="2898648"/>
            <a:ext cx="493776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Mandatory / Optional</a:t>
            </a:r>
            <a:endParaRPr lang="en-US" sz="1250" dirty="0"/>
          </a:p>
        </p:txBody>
      </p:sp>
      <p:sp>
        <p:nvSpPr>
          <p:cNvPr id="15" name="Shape 13"/>
          <p:cNvSpPr/>
          <p:nvPr/>
        </p:nvSpPr>
        <p:spPr>
          <a:xfrm>
            <a:off x="3063240" y="3401568"/>
            <a:ext cx="914" cy="73152"/>
          </a:xfrm>
          <a:prstGeom prst="line">
            <a:avLst/>
          </a:prstGeom>
          <a:noFill/>
          <a:ln w="25400">
            <a:solidFill>
              <a:srgbClr val="B18CF5"/>
            </a:solidFill>
            <a:prstDash val="solid"/>
            <a:tailEnd type="triangle"/>
          </a:ln>
        </p:spPr>
      </p:sp>
      <p:sp>
        <p:nvSpPr>
          <p:cNvPr id="16" name="Shape 14"/>
          <p:cNvSpPr/>
          <p:nvPr/>
        </p:nvSpPr>
        <p:spPr>
          <a:xfrm>
            <a:off x="457200" y="3502152"/>
            <a:ext cx="5212080" cy="475488"/>
          </a:xfrm>
          <a:prstGeom prst="roundRect">
            <a:avLst>
              <a:gd name="adj" fmla="val 15385"/>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594360" y="3502152"/>
            <a:ext cx="493776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Data Type</a:t>
            </a:r>
            <a:endParaRPr lang="en-US" sz="1250" dirty="0"/>
          </a:p>
        </p:txBody>
      </p:sp>
      <p:sp>
        <p:nvSpPr>
          <p:cNvPr id="18" name="Shape 16"/>
          <p:cNvSpPr/>
          <p:nvPr/>
        </p:nvSpPr>
        <p:spPr>
          <a:xfrm>
            <a:off x="3063240" y="4005072"/>
            <a:ext cx="914" cy="73152"/>
          </a:xfrm>
          <a:prstGeom prst="line">
            <a:avLst/>
          </a:prstGeom>
          <a:noFill/>
          <a:ln w="25400">
            <a:solidFill>
              <a:srgbClr val="B18CF5"/>
            </a:solidFill>
            <a:prstDash val="solid"/>
            <a:tailEnd type="triangle"/>
          </a:ln>
        </p:spPr>
      </p:sp>
      <p:sp>
        <p:nvSpPr>
          <p:cNvPr id="19" name="Shape 17"/>
          <p:cNvSpPr/>
          <p:nvPr/>
        </p:nvSpPr>
        <p:spPr>
          <a:xfrm>
            <a:off x="457200" y="4105656"/>
            <a:ext cx="5212080" cy="475488"/>
          </a:xfrm>
          <a:prstGeom prst="roundRect">
            <a:avLst>
              <a:gd name="adj" fmla="val 15385"/>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594360" y="4105656"/>
            <a:ext cx="493776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Valid / Invalid Values</a:t>
            </a:r>
            <a:endParaRPr lang="en-US" sz="1250" dirty="0"/>
          </a:p>
        </p:txBody>
      </p:sp>
      <p:sp>
        <p:nvSpPr>
          <p:cNvPr id="21" name="Shape 19"/>
          <p:cNvSpPr/>
          <p:nvPr/>
        </p:nvSpPr>
        <p:spPr>
          <a:xfrm>
            <a:off x="3063240" y="4608576"/>
            <a:ext cx="914" cy="73152"/>
          </a:xfrm>
          <a:prstGeom prst="line">
            <a:avLst/>
          </a:prstGeom>
          <a:noFill/>
          <a:ln w="25400">
            <a:solidFill>
              <a:srgbClr val="B18CF5"/>
            </a:solidFill>
            <a:prstDash val="solid"/>
            <a:tailEnd type="triangle"/>
          </a:ln>
        </p:spPr>
      </p:sp>
      <p:sp>
        <p:nvSpPr>
          <p:cNvPr id="22" name="Shape 20"/>
          <p:cNvSpPr/>
          <p:nvPr/>
        </p:nvSpPr>
        <p:spPr>
          <a:xfrm>
            <a:off x="457200" y="4709160"/>
            <a:ext cx="5212080" cy="475488"/>
          </a:xfrm>
          <a:prstGeom prst="roundRect">
            <a:avLst>
              <a:gd name="adj" fmla="val 15385"/>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594360" y="4709160"/>
            <a:ext cx="493776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Test Cases</a:t>
            </a:r>
            <a:endParaRPr lang="en-US" sz="1250" dirty="0"/>
          </a:p>
        </p:txBody>
      </p:sp>
      <p:sp>
        <p:nvSpPr>
          <p:cNvPr id="24" name="Shape 22"/>
          <p:cNvSpPr/>
          <p:nvPr/>
        </p:nvSpPr>
        <p:spPr>
          <a:xfrm>
            <a:off x="3063240" y="5212080"/>
            <a:ext cx="914" cy="73152"/>
          </a:xfrm>
          <a:prstGeom prst="line">
            <a:avLst/>
          </a:prstGeom>
          <a:noFill/>
          <a:ln w="25400">
            <a:solidFill>
              <a:srgbClr val="B18CF5"/>
            </a:solidFill>
            <a:prstDash val="solid"/>
            <a:tailEnd type="triangle"/>
          </a:ln>
        </p:spPr>
      </p:sp>
      <p:sp>
        <p:nvSpPr>
          <p:cNvPr id="25" name="Shape 23"/>
          <p:cNvSpPr/>
          <p:nvPr/>
        </p:nvSpPr>
        <p:spPr>
          <a:xfrm>
            <a:off x="457200" y="5312664"/>
            <a:ext cx="5212080" cy="475488"/>
          </a:xfrm>
          <a:prstGeom prst="roundRect">
            <a:avLst>
              <a:gd name="adj" fmla="val 15385"/>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594360" y="5312664"/>
            <a:ext cx="4937760" cy="475488"/>
          </a:xfrm>
          <a:prstGeom prst="rect">
            <a:avLst/>
          </a:prstGeom>
          <a:noFill/>
          <a:ln/>
        </p:spPr>
        <p:txBody>
          <a:bodyPr wrap="square" rtlCol="0" anchor="ctr"/>
          <a:lstStyle/>
          <a:p>
            <a:pPr algn="ctr" indent="0" marL="0">
              <a:buNone/>
            </a:pPr>
            <a:r>
              <a:rPr lang="en-US" sz="1250" b="1" dirty="0">
                <a:solidFill>
                  <a:srgbClr val="F3F6FB"/>
                </a:solidFill>
                <a:latin typeface="Calibri" pitchFamily="34" charset="0"/>
                <a:ea typeface="Calibri" pitchFamily="34" charset="-122"/>
                <a:cs typeface="Calibri" pitchFamily="34" charset="-120"/>
              </a:rPr>
              <a:t>Execute &amp; Record Result</a:t>
            </a:r>
            <a:endParaRPr lang="en-US" sz="1250" dirty="0"/>
          </a:p>
        </p:txBody>
      </p:sp>
      <p:sp>
        <p:nvSpPr>
          <p:cNvPr id="27" name="Shape 25"/>
          <p:cNvSpPr/>
          <p:nvPr/>
        </p:nvSpPr>
        <p:spPr>
          <a:xfrm>
            <a:off x="6126480" y="1691640"/>
            <a:ext cx="5577840" cy="4297680"/>
          </a:xfrm>
          <a:prstGeom prst="roundRect">
            <a:avLst>
              <a:gd name="adj" fmla="val 1702"/>
            </a:avLst>
          </a:prstGeom>
          <a:solidFill>
            <a:srgbClr val="101A30"/>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8" name="Text 26"/>
          <p:cNvSpPr/>
          <p:nvPr/>
        </p:nvSpPr>
        <p:spPr>
          <a:xfrm>
            <a:off x="6355080" y="1847088"/>
            <a:ext cx="5120640" cy="292608"/>
          </a:xfrm>
          <a:prstGeom prst="rect">
            <a:avLst/>
          </a:prstGeom>
          <a:noFill/>
          <a:ln/>
        </p:spPr>
        <p:txBody>
          <a:bodyPr wrap="square" rtlCol="0" anchor="ctr"/>
          <a:lstStyle/>
          <a:p>
            <a:pPr indent="0" marL="0">
              <a:buNone/>
            </a:pPr>
            <a:r>
              <a:rPr lang="en-US" sz="1200" b="1" spc="100" kern="0" dirty="0">
                <a:solidFill>
                  <a:srgbClr val="B18CF5"/>
                </a:solidFill>
                <a:latin typeface="Calibri" pitchFamily="34" charset="0"/>
                <a:ea typeface="Calibri" pitchFamily="34" charset="-122"/>
                <a:cs typeface="Calibri" pitchFamily="34" charset="-120"/>
              </a:rPr>
              <a:t>VALIDATION TYPES COVERED</a:t>
            </a:r>
            <a:endParaRPr lang="en-US" sz="1200" dirty="0"/>
          </a:p>
        </p:txBody>
      </p:sp>
      <p:sp>
        <p:nvSpPr>
          <p:cNvPr id="29" name="Shape 27"/>
          <p:cNvSpPr/>
          <p:nvPr/>
        </p:nvSpPr>
        <p:spPr>
          <a:xfrm>
            <a:off x="6391656" y="2340864"/>
            <a:ext cx="329184" cy="329184"/>
          </a:xfrm>
          <a:prstGeom prst="ellipse">
            <a:avLst/>
          </a:prstGeom>
          <a:solidFill>
            <a:srgbClr val="101A30"/>
          </a:solidFill>
          <a:ln w="19050">
            <a:solidFill>
              <a:srgbClr val="B18CF5"/>
            </a:solidFill>
            <a:prstDash val="solid"/>
          </a:ln>
        </p:spPr>
      </p:sp>
      <p:sp>
        <p:nvSpPr>
          <p:cNvPr id="30" name="Text 28"/>
          <p:cNvSpPr/>
          <p:nvPr/>
        </p:nvSpPr>
        <p:spPr>
          <a:xfrm>
            <a:off x="6391656" y="234086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31" name="Text 29"/>
          <p:cNvSpPr/>
          <p:nvPr/>
        </p:nvSpPr>
        <p:spPr>
          <a:xfrm>
            <a:off x="6812280" y="2286000"/>
            <a:ext cx="466344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Positive validation</a:t>
            </a:r>
            <a:endParaRPr lang="en-US" sz="1150" dirty="0"/>
          </a:p>
        </p:txBody>
      </p:sp>
      <p:sp>
        <p:nvSpPr>
          <p:cNvPr id="32" name="Shape 30"/>
          <p:cNvSpPr/>
          <p:nvPr/>
        </p:nvSpPr>
        <p:spPr>
          <a:xfrm>
            <a:off x="6391656" y="2706624"/>
            <a:ext cx="329184" cy="329184"/>
          </a:xfrm>
          <a:prstGeom prst="ellipse">
            <a:avLst/>
          </a:prstGeom>
          <a:solidFill>
            <a:srgbClr val="101A30"/>
          </a:solidFill>
          <a:ln w="19050">
            <a:solidFill>
              <a:srgbClr val="B18CF5"/>
            </a:solidFill>
            <a:prstDash val="solid"/>
          </a:ln>
        </p:spPr>
      </p:sp>
      <p:sp>
        <p:nvSpPr>
          <p:cNvPr id="33" name="Text 31"/>
          <p:cNvSpPr/>
          <p:nvPr/>
        </p:nvSpPr>
        <p:spPr>
          <a:xfrm>
            <a:off x="6391656" y="270662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34" name="Text 32"/>
          <p:cNvSpPr/>
          <p:nvPr/>
        </p:nvSpPr>
        <p:spPr>
          <a:xfrm>
            <a:off x="6812280" y="2651760"/>
            <a:ext cx="466344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Negative validation</a:t>
            </a:r>
            <a:endParaRPr lang="en-US" sz="1150" dirty="0"/>
          </a:p>
        </p:txBody>
      </p:sp>
      <p:sp>
        <p:nvSpPr>
          <p:cNvPr id="35" name="Shape 33"/>
          <p:cNvSpPr/>
          <p:nvPr/>
        </p:nvSpPr>
        <p:spPr>
          <a:xfrm>
            <a:off x="6391656" y="3072384"/>
            <a:ext cx="329184" cy="329184"/>
          </a:xfrm>
          <a:prstGeom prst="ellipse">
            <a:avLst/>
          </a:prstGeom>
          <a:solidFill>
            <a:srgbClr val="101A30"/>
          </a:solidFill>
          <a:ln w="19050">
            <a:solidFill>
              <a:srgbClr val="B18CF5"/>
            </a:solidFill>
            <a:prstDash val="solid"/>
          </a:ln>
        </p:spPr>
      </p:sp>
      <p:sp>
        <p:nvSpPr>
          <p:cNvPr id="36" name="Text 34"/>
          <p:cNvSpPr/>
          <p:nvPr/>
        </p:nvSpPr>
        <p:spPr>
          <a:xfrm>
            <a:off x="6391656" y="307238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37" name="Text 35"/>
          <p:cNvSpPr/>
          <p:nvPr/>
        </p:nvSpPr>
        <p:spPr>
          <a:xfrm>
            <a:off x="6812280" y="3017520"/>
            <a:ext cx="466344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Mandatory field validation</a:t>
            </a:r>
            <a:endParaRPr lang="en-US" sz="1150" dirty="0"/>
          </a:p>
        </p:txBody>
      </p:sp>
      <p:sp>
        <p:nvSpPr>
          <p:cNvPr id="38" name="Shape 36"/>
          <p:cNvSpPr/>
          <p:nvPr/>
        </p:nvSpPr>
        <p:spPr>
          <a:xfrm>
            <a:off x="6391656" y="3438144"/>
            <a:ext cx="329184" cy="329184"/>
          </a:xfrm>
          <a:prstGeom prst="ellipse">
            <a:avLst/>
          </a:prstGeom>
          <a:solidFill>
            <a:srgbClr val="101A30"/>
          </a:solidFill>
          <a:ln w="19050">
            <a:solidFill>
              <a:srgbClr val="B18CF5"/>
            </a:solidFill>
            <a:prstDash val="solid"/>
          </a:ln>
        </p:spPr>
      </p:sp>
      <p:sp>
        <p:nvSpPr>
          <p:cNvPr id="39" name="Text 37"/>
          <p:cNvSpPr/>
          <p:nvPr/>
        </p:nvSpPr>
        <p:spPr>
          <a:xfrm>
            <a:off x="6391656" y="343814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40" name="Text 38"/>
          <p:cNvSpPr/>
          <p:nvPr/>
        </p:nvSpPr>
        <p:spPr>
          <a:xfrm>
            <a:off x="6812280" y="3383280"/>
            <a:ext cx="4663440" cy="36576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Data type validation</a:t>
            </a:r>
            <a:endParaRPr lang="en-US" sz="1150" dirty="0"/>
          </a:p>
        </p:txBody>
      </p:sp>
      <p:sp>
        <p:nvSpPr>
          <p:cNvPr id="41" name="Shape 39"/>
          <p:cNvSpPr/>
          <p:nvPr/>
        </p:nvSpPr>
        <p:spPr>
          <a:xfrm>
            <a:off x="6355080" y="3931920"/>
            <a:ext cx="5120640" cy="1874520"/>
          </a:xfrm>
          <a:prstGeom prst="roundRect">
            <a:avLst>
              <a:gd name="adj" fmla="val 3902"/>
            </a:avLst>
          </a:prstGeom>
          <a:solidFill>
            <a:srgbClr val="3D3117"/>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42" name="Text 40"/>
          <p:cNvSpPr/>
          <p:nvPr/>
        </p:nvSpPr>
        <p:spPr>
          <a:xfrm>
            <a:off x="6583680" y="4069080"/>
            <a:ext cx="4663440" cy="1600200"/>
          </a:xfrm>
          <a:prstGeom prst="rect">
            <a:avLst/>
          </a:prstGeom>
          <a:noFill/>
          <a:ln/>
        </p:spPr>
        <p:txBody>
          <a:bodyPr wrap="square" rtlCol="0" anchor="ctr"/>
          <a:lstStyle/>
          <a:p>
            <a:pPr indent="0" marL="0">
              <a:lnSpc>
                <a:spcPct val="120000"/>
              </a:lnSpc>
              <a:buNone/>
            </a:pPr>
            <a:r>
              <a:rPr lang="en-US" sz="1300" i="1" dirty="0">
                <a:solidFill>
                  <a:srgbClr val="F5B942"/>
                </a:solidFill>
                <a:latin typeface="Calibri" pitchFamily="34" charset="0"/>
                <a:ea typeface="Calibri" pitchFamily="34" charset="-122"/>
                <a:cs typeface="Calibri" pitchFamily="34" charset="-120"/>
              </a:rPr>
              <a:t>The KT specifically emphasized testing fields with both acceptable and unacceptable values.</a:t>
            </a:r>
            <a:endParaRPr lang="en-US" sz="1300" dirty="0"/>
          </a:p>
        </p:txBody>
      </p:sp>
      <p:sp>
        <p:nvSpPr>
          <p:cNvPr id="43" name="Text 41"/>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44" name="Text 42"/>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45" name="Text 43"/>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Data Dictionary — Reference for Field Data</a:t>
            </a:r>
            <a:endParaRPr lang="en-US" sz="3000" dirty="0"/>
          </a:p>
        </p:txBody>
      </p:sp>
      <p:sp>
        <p:nvSpPr>
          <p:cNvPr id="7" name="Shape 5"/>
          <p:cNvSpPr/>
          <p:nvPr/>
        </p:nvSpPr>
        <p:spPr>
          <a:xfrm>
            <a:off x="457200" y="1737360"/>
            <a:ext cx="5440680" cy="2880360"/>
          </a:xfrm>
          <a:prstGeom prst="roundRect">
            <a:avLst>
              <a:gd name="adj" fmla="val 2540"/>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965960"/>
            <a:ext cx="91440" cy="91440"/>
          </a:xfrm>
          <a:prstGeom prst="roundRect">
            <a:avLst>
              <a:gd name="adj" fmla="val 50000"/>
            </a:avLst>
          </a:prstGeom>
          <a:solidFill>
            <a:srgbClr val="B18CF5"/>
          </a:solidFill>
          <a:ln/>
        </p:spPr>
      </p:sp>
      <p:sp>
        <p:nvSpPr>
          <p:cNvPr id="9" name="Text 7"/>
          <p:cNvSpPr/>
          <p:nvPr/>
        </p:nvSpPr>
        <p:spPr>
          <a:xfrm>
            <a:off x="868680" y="1883664"/>
            <a:ext cx="4800600" cy="292608"/>
          </a:xfrm>
          <a:prstGeom prst="rect">
            <a:avLst/>
          </a:prstGeom>
          <a:noFill/>
          <a:ln/>
        </p:spPr>
        <p:txBody>
          <a:bodyPr wrap="square" rtlCol="0" anchor="ctr"/>
          <a:lstStyle/>
          <a:p>
            <a:pPr indent="0" marL="0">
              <a:buNone/>
            </a:pPr>
            <a:r>
              <a:rPr lang="en-US" sz="1400" b="1" dirty="0">
                <a:solidFill>
                  <a:srgbClr val="B18CF5"/>
                </a:solidFill>
                <a:latin typeface="Calibri" pitchFamily="34" charset="0"/>
                <a:ea typeface="Calibri" pitchFamily="34" charset="-122"/>
                <a:cs typeface="Calibri" pitchFamily="34" charset="-120"/>
              </a:rPr>
              <a:t>What Is It?</a:t>
            </a:r>
            <a:endParaRPr lang="en-US" sz="1400" dirty="0"/>
          </a:p>
        </p:txBody>
      </p:sp>
      <p:sp>
        <p:nvSpPr>
          <p:cNvPr id="10" name="Text 8"/>
          <p:cNvSpPr/>
          <p:nvPr/>
        </p:nvSpPr>
        <p:spPr>
          <a:xfrm>
            <a:off x="731520" y="2322576"/>
            <a:ext cx="4892040" cy="2112264"/>
          </a:xfrm>
          <a:prstGeom prst="rect">
            <a:avLst/>
          </a:prstGeom>
          <a:noFill/>
          <a:ln/>
        </p:spPr>
        <p:txBody>
          <a:bodyPr wrap="square" rtlCol="0" anchor="t"/>
          <a:lstStyle/>
          <a:p>
            <a:pPr marL="177800" indent="-177800">
              <a:lnSpc>
                <a:spcPct val="112000"/>
              </a:lnSpc>
              <a:spcAft>
                <a:spcPts val="1000"/>
              </a:spcAft>
              <a:buSzPct val="100000"/>
              <a:buChar char="•"/>
            </a:pPr>
            <a:r>
              <a:rPr lang="en-US" sz="1350" dirty="0">
                <a:solidFill>
                  <a:srgbClr val="F3F6FB"/>
                </a:solidFill>
                <a:latin typeface="Calibri" pitchFamily="34" charset="0"/>
                <a:ea typeface="Calibri" pitchFamily="34" charset="-122"/>
                <a:cs typeface="Calibri" pitchFamily="34" charset="-120"/>
              </a:rPr>
              <a:t>Reference for application/service data.</a:t>
            </a:r>
            <a:endParaRPr lang="en-US" sz="1350" dirty="0"/>
          </a:p>
          <a:p>
            <a:pPr marL="177800" indent="-177800">
              <a:lnSpc>
                <a:spcPct val="112000"/>
              </a:lnSpc>
              <a:spcAft>
                <a:spcPts val="1000"/>
              </a:spcAft>
              <a:buSzPct val="100000"/>
              <a:buChar char="•"/>
            </a:pPr>
            <a:r>
              <a:rPr lang="en-US" sz="1350" dirty="0">
                <a:solidFill>
                  <a:srgbClr val="F3F6FB"/>
                </a:solidFill>
                <a:latin typeface="Calibri" pitchFamily="34" charset="0"/>
                <a:ea typeface="Calibri" pitchFamily="34" charset="-122"/>
                <a:cs typeface="Calibri" pitchFamily="34" charset="-120"/>
              </a:rPr>
              <a:t>Defines field-related information.</a:t>
            </a:r>
            <a:endParaRPr lang="en-US" sz="1350" dirty="0"/>
          </a:p>
          <a:p>
            <a:pPr marL="177800" indent="-177800">
              <a:lnSpc>
                <a:spcPct val="112000"/>
              </a:lnSpc>
              <a:spcAft>
                <a:spcPts val="1000"/>
              </a:spcAft>
              <a:buSzPct val="100000"/>
              <a:buChar char="•"/>
            </a:pPr>
            <a:r>
              <a:rPr lang="en-US" sz="1350" dirty="0">
                <a:solidFill>
                  <a:srgbClr val="F3F6FB"/>
                </a:solidFill>
                <a:latin typeface="Calibri" pitchFamily="34" charset="0"/>
                <a:ea typeface="Calibri" pitchFamily="34" charset="-122"/>
                <a:cs typeface="Calibri" pitchFamily="34" charset="-120"/>
              </a:rPr>
              <a:t>Helps understand expected data during validation.</a:t>
            </a:r>
            <a:endParaRPr lang="en-US" sz="1350" dirty="0"/>
          </a:p>
        </p:txBody>
      </p:sp>
      <p:sp>
        <p:nvSpPr>
          <p:cNvPr id="11" name="Shape 9"/>
          <p:cNvSpPr/>
          <p:nvPr/>
        </p:nvSpPr>
        <p:spPr>
          <a:xfrm>
            <a:off x="6172200" y="1737360"/>
            <a:ext cx="5532120" cy="2880360"/>
          </a:xfrm>
          <a:prstGeom prst="roundRect">
            <a:avLst>
              <a:gd name="adj" fmla="val 2540"/>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2" name="Shape 10"/>
          <p:cNvSpPr/>
          <p:nvPr/>
        </p:nvSpPr>
        <p:spPr>
          <a:xfrm>
            <a:off x="6400800" y="1965960"/>
            <a:ext cx="91440" cy="91440"/>
          </a:xfrm>
          <a:prstGeom prst="roundRect">
            <a:avLst>
              <a:gd name="adj" fmla="val 50000"/>
            </a:avLst>
          </a:prstGeom>
          <a:solidFill>
            <a:srgbClr val="B18CF5"/>
          </a:solidFill>
          <a:ln/>
        </p:spPr>
      </p:sp>
      <p:sp>
        <p:nvSpPr>
          <p:cNvPr id="13" name="Text 11"/>
          <p:cNvSpPr/>
          <p:nvPr/>
        </p:nvSpPr>
        <p:spPr>
          <a:xfrm>
            <a:off x="6583680" y="1883664"/>
            <a:ext cx="4892040" cy="292608"/>
          </a:xfrm>
          <a:prstGeom prst="rect">
            <a:avLst/>
          </a:prstGeom>
          <a:noFill/>
          <a:ln/>
        </p:spPr>
        <p:txBody>
          <a:bodyPr wrap="square" rtlCol="0" anchor="ctr"/>
          <a:lstStyle/>
          <a:p>
            <a:pPr indent="0" marL="0">
              <a:buNone/>
            </a:pPr>
            <a:r>
              <a:rPr lang="en-US" sz="1400" b="1" dirty="0">
                <a:solidFill>
                  <a:srgbClr val="B18CF5"/>
                </a:solidFill>
                <a:latin typeface="Calibri" pitchFamily="34" charset="0"/>
                <a:ea typeface="Calibri" pitchFamily="34" charset="-122"/>
                <a:cs typeface="Calibri" pitchFamily="34" charset="-120"/>
              </a:rPr>
              <a:t>Why Is It Useful?</a:t>
            </a:r>
            <a:endParaRPr lang="en-US" sz="1400" dirty="0"/>
          </a:p>
        </p:txBody>
      </p:sp>
      <p:sp>
        <p:nvSpPr>
          <p:cNvPr id="14" name="Text 12"/>
          <p:cNvSpPr/>
          <p:nvPr/>
        </p:nvSpPr>
        <p:spPr>
          <a:xfrm>
            <a:off x="6446520" y="2322576"/>
            <a:ext cx="4983480" cy="2112264"/>
          </a:xfrm>
          <a:prstGeom prst="rect">
            <a:avLst/>
          </a:prstGeom>
          <a:noFill/>
          <a:ln/>
        </p:spPr>
        <p:txBody>
          <a:bodyPr wrap="square" rtlCol="0" anchor="t"/>
          <a:lstStyle/>
          <a:p>
            <a:pPr marL="177800" indent="-177800">
              <a:lnSpc>
                <a:spcPct val="112000"/>
              </a:lnSpc>
              <a:spcAft>
                <a:spcPts val="1000"/>
              </a:spcAft>
              <a:buSzPct val="100000"/>
              <a:buChar char="•"/>
            </a:pPr>
            <a:r>
              <a:rPr lang="en-US" sz="1350" dirty="0">
                <a:solidFill>
                  <a:srgbClr val="F3F6FB"/>
                </a:solidFill>
                <a:latin typeface="Calibri" pitchFamily="34" charset="0"/>
                <a:ea typeface="Calibri" pitchFamily="34" charset="-122"/>
                <a:cs typeface="Calibri" pitchFamily="34" charset="-120"/>
              </a:rPr>
              <a:t>Gives a consistent understanding of fields across the team.</a:t>
            </a:r>
            <a:endParaRPr lang="en-US" sz="1350" dirty="0"/>
          </a:p>
          <a:p>
            <a:pPr marL="177800" indent="-177800">
              <a:lnSpc>
                <a:spcPct val="112000"/>
              </a:lnSpc>
              <a:spcAft>
                <a:spcPts val="1000"/>
              </a:spcAft>
              <a:buSzPct val="100000"/>
              <a:buChar char="•"/>
            </a:pPr>
            <a:r>
              <a:rPr lang="en-US" sz="1350" dirty="0">
                <a:solidFill>
                  <a:srgbClr val="F3F6FB"/>
                </a:solidFill>
                <a:latin typeface="Calibri" pitchFamily="34" charset="0"/>
                <a:ea typeface="Calibri" pitchFamily="34" charset="-122"/>
                <a:cs typeface="Calibri" pitchFamily="34" charset="-120"/>
              </a:rPr>
              <a:t>Helps prepare accurate test data.</a:t>
            </a:r>
            <a:endParaRPr lang="en-US" sz="1350" dirty="0"/>
          </a:p>
          <a:p>
            <a:pPr marL="177800" indent="-177800">
              <a:lnSpc>
                <a:spcPct val="112000"/>
              </a:lnSpc>
              <a:spcAft>
                <a:spcPts val="1000"/>
              </a:spcAft>
              <a:buSzPct val="100000"/>
              <a:buChar char="•"/>
            </a:pPr>
            <a:r>
              <a:rPr lang="en-US" sz="1350" dirty="0">
                <a:solidFill>
                  <a:srgbClr val="F3F6FB"/>
                </a:solidFill>
                <a:latin typeface="Calibri" pitchFamily="34" charset="0"/>
                <a:ea typeface="Calibri" pitchFamily="34" charset="-122"/>
                <a:cs typeface="Calibri" pitchFamily="34" charset="-120"/>
              </a:rPr>
              <a:t>Supports validation end-to-end.</a:t>
            </a:r>
            <a:endParaRPr lang="en-US" sz="1350" dirty="0"/>
          </a:p>
        </p:txBody>
      </p:sp>
      <p:sp>
        <p:nvSpPr>
          <p:cNvPr id="15" name="Shape 13"/>
          <p:cNvSpPr/>
          <p:nvPr/>
        </p:nvSpPr>
        <p:spPr>
          <a:xfrm>
            <a:off x="457200" y="4846320"/>
            <a:ext cx="11247120" cy="1097280"/>
          </a:xfrm>
          <a:prstGeom prst="roundRect">
            <a:avLst>
              <a:gd name="adj" fmla="val 6667"/>
            </a:avLst>
          </a:prstGeom>
          <a:solidFill>
            <a:srgbClr val="3D3117"/>
          </a:solidFill>
          <a:ln w="16510">
            <a:solidFill>
              <a:srgbClr val="F5B942"/>
            </a:solidFill>
            <a:prstDash val="solid"/>
          </a:ln>
          <a:effectLst>
            <a:outerShdw sx="100000" sy="100000" kx="0" ky="0" algn="bl" rotWithShape="0" blurRad="101600" dist="38100" dir="5400000">
              <a:srgbClr val="000000">
                <a:alpha val="45000"/>
              </a:srgbClr>
            </a:outerShdw>
          </a:effectLst>
        </p:spPr>
      </p:sp>
      <p:sp>
        <p:nvSpPr>
          <p:cNvPr id="16" name="Text 14"/>
          <p:cNvSpPr/>
          <p:nvPr/>
        </p:nvSpPr>
        <p:spPr>
          <a:xfrm>
            <a:off x="685800" y="4956048"/>
            <a:ext cx="10789920" cy="868680"/>
          </a:xfrm>
          <a:prstGeom prst="rect">
            <a:avLst/>
          </a:prstGeom>
          <a:noFill/>
          <a:ln/>
        </p:spPr>
        <p:txBody>
          <a:bodyPr wrap="square" rtlCol="0" anchor="ctr"/>
          <a:lstStyle/>
          <a:p>
            <a:pPr indent="0" marL="0">
              <a:buNone/>
            </a:pPr>
            <a:r>
              <a:rPr lang="en-US" sz="1400" b="1" i="1" dirty="0">
                <a:solidFill>
                  <a:srgbClr val="F5B942"/>
                </a:solidFill>
                <a:latin typeface="Calibri" pitchFamily="34" charset="0"/>
                <a:ea typeface="Calibri" pitchFamily="34" charset="-122"/>
                <a:cs typeface="Calibri" pitchFamily="34" charset="-120"/>
              </a:rPr>
              <a:t>Called out directly by mentors as a key focus area for Reverse KT.</a:t>
            </a:r>
            <a:endParaRPr lang="en-US" sz="1400" dirty="0"/>
          </a:p>
        </p:txBody>
      </p:sp>
      <p:sp>
        <p:nvSpPr>
          <p:cNvPr id="17" name="Text 15"/>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18" name="Text 16"/>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19" name="Text 17"/>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Playwright — Framework Structure</a:t>
            </a:r>
            <a:endParaRPr lang="en-US" sz="3000" dirty="0"/>
          </a:p>
        </p:txBody>
      </p:sp>
      <p:sp>
        <p:nvSpPr>
          <p:cNvPr id="7" name="Text 5"/>
          <p:cNvSpPr/>
          <p:nvPr/>
        </p:nvSpPr>
        <p:spPr>
          <a:xfrm>
            <a:off x="457200" y="1536192"/>
            <a:ext cx="11247120" cy="292608"/>
          </a:xfrm>
          <a:prstGeom prst="rect">
            <a:avLst/>
          </a:prstGeom>
          <a:noFill/>
          <a:ln/>
        </p:spPr>
        <p:txBody>
          <a:bodyPr wrap="square" rtlCol="0" anchor="ctr"/>
          <a:lstStyle/>
          <a:p>
            <a:pPr indent="0" marL="0">
              <a:buNone/>
            </a:pPr>
            <a:r>
              <a:rPr lang="en-US" sz="1200" i="1" dirty="0">
                <a:solidFill>
                  <a:srgbClr val="97A3BE"/>
                </a:solidFill>
                <a:latin typeface="Calibri" pitchFamily="34" charset="0"/>
                <a:ea typeface="Calibri" pitchFamily="34" charset="-122"/>
                <a:cs typeface="Calibri" pitchFamily="34" charset="-120"/>
              </a:rPr>
              <a:t>Playwright is an automation testing framework used to automate web applications.</a:t>
            </a:r>
            <a:endParaRPr lang="en-US" sz="1200" dirty="0"/>
          </a:p>
        </p:txBody>
      </p:sp>
      <p:sp>
        <p:nvSpPr>
          <p:cNvPr id="8" name="Shape 6"/>
          <p:cNvSpPr/>
          <p:nvPr/>
        </p:nvSpPr>
        <p:spPr>
          <a:xfrm>
            <a:off x="457200" y="1920240"/>
            <a:ext cx="539496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9" name="Text 7"/>
          <p:cNvSpPr/>
          <p:nvPr/>
        </p:nvSpPr>
        <p:spPr>
          <a:xfrm>
            <a:off x="594360" y="1920240"/>
            <a:ext cx="5120640" cy="256032"/>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Test Script</a:t>
            </a:r>
            <a:endParaRPr lang="en-US" sz="1000" dirty="0"/>
          </a:p>
        </p:txBody>
      </p:sp>
      <p:sp>
        <p:nvSpPr>
          <p:cNvPr id="10" name="Shape 8"/>
          <p:cNvSpPr/>
          <p:nvPr/>
        </p:nvSpPr>
        <p:spPr>
          <a:xfrm>
            <a:off x="3154680" y="2203704"/>
            <a:ext cx="914" cy="4572"/>
          </a:xfrm>
          <a:prstGeom prst="line">
            <a:avLst/>
          </a:prstGeom>
          <a:noFill/>
          <a:ln w="25400">
            <a:solidFill>
              <a:srgbClr val="B18CF5"/>
            </a:solidFill>
            <a:prstDash val="solid"/>
            <a:tailEnd type="triangle"/>
          </a:ln>
        </p:spPr>
      </p:sp>
      <p:sp>
        <p:nvSpPr>
          <p:cNvPr id="11" name="Shape 9"/>
          <p:cNvSpPr/>
          <p:nvPr/>
        </p:nvSpPr>
        <p:spPr>
          <a:xfrm>
            <a:off x="457200" y="2235708"/>
            <a:ext cx="539496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2" name="Text 10"/>
          <p:cNvSpPr/>
          <p:nvPr/>
        </p:nvSpPr>
        <p:spPr>
          <a:xfrm>
            <a:off x="594360" y="2235708"/>
            <a:ext cx="5120640" cy="256032"/>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Page Object</a:t>
            </a:r>
            <a:endParaRPr lang="en-US" sz="1000" dirty="0"/>
          </a:p>
        </p:txBody>
      </p:sp>
      <p:sp>
        <p:nvSpPr>
          <p:cNvPr id="13" name="Shape 11"/>
          <p:cNvSpPr/>
          <p:nvPr/>
        </p:nvSpPr>
        <p:spPr>
          <a:xfrm>
            <a:off x="3154680" y="2519172"/>
            <a:ext cx="914" cy="4572"/>
          </a:xfrm>
          <a:prstGeom prst="line">
            <a:avLst/>
          </a:prstGeom>
          <a:noFill/>
          <a:ln w="25400">
            <a:solidFill>
              <a:srgbClr val="B18CF5"/>
            </a:solidFill>
            <a:prstDash val="solid"/>
            <a:tailEnd type="triangle"/>
          </a:ln>
        </p:spPr>
      </p:sp>
      <p:sp>
        <p:nvSpPr>
          <p:cNvPr id="14" name="Shape 12"/>
          <p:cNvSpPr/>
          <p:nvPr/>
        </p:nvSpPr>
        <p:spPr>
          <a:xfrm>
            <a:off x="457200" y="2551176"/>
            <a:ext cx="539496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5" name="Text 13"/>
          <p:cNvSpPr/>
          <p:nvPr/>
        </p:nvSpPr>
        <p:spPr>
          <a:xfrm>
            <a:off x="594360" y="2551176"/>
            <a:ext cx="5120640" cy="256032"/>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Locator</a:t>
            </a:r>
            <a:endParaRPr lang="en-US" sz="1000" dirty="0"/>
          </a:p>
        </p:txBody>
      </p:sp>
      <p:sp>
        <p:nvSpPr>
          <p:cNvPr id="16" name="Shape 14"/>
          <p:cNvSpPr/>
          <p:nvPr/>
        </p:nvSpPr>
        <p:spPr>
          <a:xfrm>
            <a:off x="3154680" y="2834640"/>
            <a:ext cx="914" cy="4572"/>
          </a:xfrm>
          <a:prstGeom prst="line">
            <a:avLst/>
          </a:prstGeom>
          <a:noFill/>
          <a:ln w="25400">
            <a:solidFill>
              <a:srgbClr val="B18CF5"/>
            </a:solidFill>
            <a:prstDash val="solid"/>
            <a:tailEnd type="triangle"/>
          </a:ln>
        </p:spPr>
      </p:sp>
      <p:sp>
        <p:nvSpPr>
          <p:cNvPr id="17" name="Shape 15"/>
          <p:cNvSpPr/>
          <p:nvPr/>
        </p:nvSpPr>
        <p:spPr>
          <a:xfrm>
            <a:off x="457200" y="2866644"/>
            <a:ext cx="539496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8" name="Text 16"/>
          <p:cNvSpPr/>
          <p:nvPr/>
        </p:nvSpPr>
        <p:spPr>
          <a:xfrm>
            <a:off x="594360" y="2866644"/>
            <a:ext cx="5120640" cy="256032"/>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Browser / Application</a:t>
            </a:r>
            <a:endParaRPr lang="en-US" sz="1000" dirty="0"/>
          </a:p>
        </p:txBody>
      </p:sp>
      <p:sp>
        <p:nvSpPr>
          <p:cNvPr id="19" name="Shape 17"/>
          <p:cNvSpPr/>
          <p:nvPr/>
        </p:nvSpPr>
        <p:spPr>
          <a:xfrm>
            <a:off x="3154680" y="3150108"/>
            <a:ext cx="914" cy="4572"/>
          </a:xfrm>
          <a:prstGeom prst="line">
            <a:avLst/>
          </a:prstGeom>
          <a:noFill/>
          <a:ln w="25400">
            <a:solidFill>
              <a:srgbClr val="B18CF5"/>
            </a:solidFill>
            <a:prstDash val="solid"/>
            <a:tailEnd type="triangle"/>
          </a:ln>
        </p:spPr>
      </p:sp>
      <p:sp>
        <p:nvSpPr>
          <p:cNvPr id="20" name="Shape 18"/>
          <p:cNvSpPr/>
          <p:nvPr/>
        </p:nvSpPr>
        <p:spPr>
          <a:xfrm>
            <a:off x="457200" y="3182112"/>
            <a:ext cx="539496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1" name="Text 19"/>
          <p:cNvSpPr/>
          <p:nvPr/>
        </p:nvSpPr>
        <p:spPr>
          <a:xfrm>
            <a:off x="594360" y="3182112"/>
            <a:ext cx="5120640" cy="256032"/>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Action</a:t>
            </a:r>
            <a:endParaRPr lang="en-US" sz="1000" dirty="0"/>
          </a:p>
        </p:txBody>
      </p:sp>
      <p:sp>
        <p:nvSpPr>
          <p:cNvPr id="22" name="Shape 20"/>
          <p:cNvSpPr/>
          <p:nvPr/>
        </p:nvSpPr>
        <p:spPr>
          <a:xfrm>
            <a:off x="3154680" y="3465576"/>
            <a:ext cx="914" cy="4572"/>
          </a:xfrm>
          <a:prstGeom prst="line">
            <a:avLst/>
          </a:prstGeom>
          <a:noFill/>
          <a:ln w="25400">
            <a:solidFill>
              <a:srgbClr val="B18CF5"/>
            </a:solidFill>
            <a:prstDash val="solid"/>
            <a:tailEnd type="triangle"/>
          </a:ln>
        </p:spPr>
      </p:sp>
      <p:sp>
        <p:nvSpPr>
          <p:cNvPr id="23" name="Shape 21"/>
          <p:cNvSpPr/>
          <p:nvPr/>
        </p:nvSpPr>
        <p:spPr>
          <a:xfrm>
            <a:off x="457200" y="3497580"/>
            <a:ext cx="539496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594360" y="3497580"/>
            <a:ext cx="5120640" cy="256032"/>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Assertion</a:t>
            </a:r>
            <a:endParaRPr lang="en-US" sz="1000" dirty="0"/>
          </a:p>
        </p:txBody>
      </p:sp>
      <p:sp>
        <p:nvSpPr>
          <p:cNvPr id="25" name="Shape 23"/>
          <p:cNvSpPr/>
          <p:nvPr/>
        </p:nvSpPr>
        <p:spPr>
          <a:xfrm>
            <a:off x="3154680" y="3781044"/>
            <a:ext cx="914" cy="4572"/>
          </a:xfrm>
          <a:prstGeom prst="line">
            <a:avLst/>
          </a:prstGeom>
          <a:noFill/>
          <a:ln w="25400">
            <a:solidFill>
              <a:srgbClr val="B18CF5"/>
            </a:solidFill>
            <a:prstDash val="solid"/>
            <a:tailEnd type="triangle"/>
          </a:ln>
        </p:spPr>
      </p:sp>
      <p:sp>
        <p:nvSpPr>
          <p:cNvPr id="26" name="Shape 24"/>
          <p:cNvSpPr/>
          <p:nvPr/>
        </p:nvSpPr>
        <p:spPr>
          <a:xfrm>
            <a:off x="457200" y="3813048"/>
            <a:ext cx="539496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594360" y="3813048"/>
            <a:ext cx="5120640" cy="256032"/>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Test Result</a:t>
            </a:r>
            <a:endParaRPr lang="en-US" sz="1000" dirty="0"/>
          </a:p>
        </p:txBody>
      </p:sp>
      <p:sp>
        <p:nvSpPr>
          <p:cNvPr id="28" name="Shape 26"/>
          <p:cNvSpPr/>
          <p:nvPr/>
        </p:nvSpPr>
        <p:spPr>
          <a:xfrm>
            <a:off x="3154680" y="4096512"/>
            <a:ext cx="914" cy="4572"/>
          </a:xfrm>
          <a:prstGeom prst="line">
            <a:avLst/>
          </a:prstGeom>
          <a:noFill/>
          <a:ln w="25400">
            <a:solidFill>
              <a:srgbClr val="B18CF5"/>
            </a:solidFill>
            <a:prstDash val="solid"/>
            <a:tailEnd type="triangle"/>
          </a:ln>
        </p:spPr>
      </p:sp>
      <p:sp>
        <p:nvSpPr>
          <p:cNvPr id="29" name="Shape 27"/>
          <p:cNvSpPr/>
          <p:nvPr/>
        </p:nvSpPr>
        <p:spPr>
          <a:xfrm>
            <a:off x="457200" y="4128516"/>
            <a:ext cx="539496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0" name="Text 28"/>
          <p:cNvSpPr/>
          <p:nvPr/>
        </p:nvSpPr>
        <p:spPr>
          <a:xfrm>
            <a:off x="594360" y="4128516"/>
            <a:ext cx="5120640" cy="256032"/>
          </a:xfrm>
          <a:prstGeom prst="rect">
            <a:avLst/>
          </a:prstGeom>
          <a:noFill/>
          <a:ln/>
        </p:spPr>
        <p:txBody>
          <a:bodyPr wrap="square" rtlCol="0" anchor="ctr"/>
          <a:lstStyle/>
          <a:p>
            <a:pPr algn="ctr" indent="0" marL="0">
              <a:buNone/>
            </a:pPr>
            <a:r>
              <a:rPr lang="en-US" sz="1000" b="1" dirty="0">
                <a:solidFill>
                  <a:srgbClr val="F3F6FB"/>
                </a:solidFill>
                <a:latin typeface="Calibri" pitchFamily="34" charset="0"/>
                <a:ea typeface="Calibri" pitchFamily="34" charset="-122"/>
                <a:cs typeface="Calibri" pitchFamily="34" charset="-120"/>
              </a:rPr>
              <a:t>Report</a:t>
            </a:r>
            <a:endParaRPr lang="en-US" sz="1000" dirty="0"/>
          </a:p>
        </p:txBody>
      </p:sp>
      <p:sp>
        <p:nvSpPr>
          <p:cNvPr id="31" name="Shape 29"/>
          <p:cNvSpPr/>
          <p:nvPr/>
        </p:nvSpPr>
        <p:spPr>
          <a:xfrm>
            <a:off x="6172200" y="1920240"/>
            <a:ext cx="5532120" cy="2514600"/>
          </a:xfrm>
          <a:prstGeom prst="roundRect">
            <a:avLst>
              <a:gd name="adj" fmla="val 2909"/>
            </a:avLst>
          </a:prstGeom>
          <a:solidFill>
            <a:srgbClr val="18233F"/>
          </a:solidFill>
          <a:ln w="16510">
            <a:solidFill>
              <a:srgbClr val="B18CF5"/>
            </a:solidFill>
            <a:prstDash val="solid"/>
          </a:ln>
          <a:effectLst>
            <a:outerShdw sx="100000" sy="100000" kx="0" ky="0" algn="bl" rotWithShape="0" blurRad="101600" dist="38100" dir="5400000">
              <a:srgbClr val="000000">
                <a:alpha val="45000"/>
              </a:srgbClr>
            </a:outerShdw>
          </a:effectLst>
        </p:spPr>
      </p:sp>
      <p:sp>
        <p:nvSpPr>
          <p:cNvPr id="32" name="Text 30"/>
          <p:cNvSpPr/>
          <p:nvPr/>
        </p:nvSpPr>
        <p:spPr>
          <a:xfrm>
            <a:off x="6400800" y="2048256"/>
            <a:ext cx="5029200" cy="274320"/>
          </a:xfrm>
          <a:prstGeom prst="rect">
            <a:avLst/>
          </a:prstGeom>
          <a:noFill/>
          <a:ln/>
        </p:spPr>
        <p:txBody>
          <a:bodyPr wrap="square" rtlCol="0" anchor="ctr"/>
          <a:lstStyle/>
          <a:p>
            <a:pPr indent="0" marL="0">
              <a:buNone/>
            </a:pPr>
            <a:r>
              <a:rPr lang="en-US" sz="1200" b="1" spc="100" kern="0" dirty="0">
                <a:solidFill>
                  <a:srgbClr val="B18CF5"/>
                </a:solidFill>
                <a:latin typeface="Calibri" pitchFamily="34" charset="0"/>
                <a:ea typeface="Calibri" pitchFamily="34" charset="-122"/>
                <a:cs typeface="Calibri" pitchFamily="34" charset="-120"/>
              </a:rPr>
              <a:t>TYPICAL FOLDER STRUCTURE</a:t>
            </a:r>
            <a:endParaRPr lang="en-US" sz="1200" dirty="0"/>
          </a:p>
        </p:txBody>
      </p:sp>
      <p:sp>
        <p:nvSpPr>
          <p:cNvPr id="33" name="Shape 31"/>
          <p:cNvSpPr/>
          <p:nvPr/>
        </p:nvSpPr>
        <p:spPr>
          <a:xfrm>
            <a:off x="6437376" y="2450592"/>
            <a:ext cx="329184" cy="329184"/>
          </a:xfrm>
          <a:prstGeom prst="ellipse">
            <a:avLst/>
          </a:prstGeom>
          <a:solidFill>
            <a:srgbClr val="101A30"/>
          </a:solidFill>
          <a:ln w="19050">
            <a:solidFill>
              <a:srgbClr val="B18CF5"/>
            </a:solidFill>
            <a:prstDash val="solid"/>
          </a:ln>
        </p:spPr>
      </p:sp>
      <p:sp>
        <p:nvSpPr>
          <p:cNvPr id="34" name="Text 32"/>
          <p:cNvSpPr/>
          <p:nvPr/>
        </p:nvSpPr>
        <p:spPr>
          <a:xfrm>
            <a:off x="6437376" y="245059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35" name="Text 33"/>
          <p:cNvSpPr/>
          <p:nvPr/>
        </p:nvSpPr>
        <p:spPr>
          <a:xfrm>
            <a:off x="6858000" y="2395728"/>
            <a:ext cx="1943100" cy="46863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tests/ — Test Scripts</a:t>
            </a:r>
            <a:endParaRPr lang="en-US" sz="1150" dirty="0"/>
          </a:p>
        </p:txBody>
      </p:sp>
      <p:sp>
        <p:nvSpPr>
          <p:cNvPr id="36" name="Shape 34"/>
          <p:cNvSpPr/>
          <p:nvPr/>
        </p:nvSpPr>
        <p:spPr>
          <a:xfrm>
            <a:off x="9111996" y="2450592"/>
            <a:ext cx="329184" cy="329184"/>
          </a:xfrm>
          <a:prstGeom prst="ellipse">
            <a:avLst/>
          </a:prstGeom>
          <a:solidFill>
            <a:srgbClr val="101A30"/>
          </a:solidFill>
          <a:ln w="19050">
            <a:solidFill>
              <a:srgbClr val="B18CF5"/>
            </a:solidFill>
            <a:prstDash val="solid"/>
          </a:ln>
        </p:spPr>
      </p:sp>
      <p:sp>
        <p:nvSpPr>
          <p:cNvPr id="37" name="Text 35"/>
          <p:cNvSpPr/>
          <p:nvPr/>
        </p:nvSpPr>
        <p:spPr>
          <a:xfrm>
            <a:off x="9111996" y="245059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38" name="Text 36"/>
          <p:cNvSpPr/>
          <p:nvPr/>
        </p:nvSpPr>
        <p:spPr>
          <a:xfrm>
            <a:off x="9532620" y="2395728"/>
            <a:ext cx="1943100" cy="46863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pages/ — Page Objects</a:t>
            </a:r>
            <a:endParaRPr lang="en-US" sz="1150" dirty="0"/>
          </a:p>
        </p:txBody>
      </p:sp>
      <p:sp>
        <p:nvSpPr>
          <p:cNvPr id="39" name="Shape 37"/>
          <p:cNvSpPr/>
          <p:nvPr/>
        </p:nvSpPr>
        <p:spPr>
          <a:xfrm>
            <a:off x="6437376" y="2919222"/>
            <a:ext cx="329184" cy="329184"/>
          </a:xfrm>
          <a:prstGeom prst="ellipse">
            <a:avLst/>
          </a:prstGeom>
          <a:solidFill>
            <a:srgbClr val="101A30"/>
          </a:solidFill>
          <a:ln w="19050">
            <a:solidFill>
              <a:srgbClr val="B18CF5"/>
            </a:solidFill>
            <a:prstDash val="solid"/>
          </a:ln>
        </p:spPr>
      </p:sp>
      <p:sp>
        <p:nvSpPr>
          <p:cNvPr id="40" name="Text 38"/>
          <p:cNvSpPr/>
          <p:nvPr/>
        </p:nvSpPr>
        <p:spPr>
          <a:xfrm>
            <a:off x="6437376" y="291922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41" name="Text 39"/>
          <p:cNvSpPr/>
          <p:nvPr/>
        </p:nvSpPr>
        <p:spPr>
          <a:xfrm>
            <a:off x="6858000" y="2864358"/>
            <a:ext cx="1943100" cy="46863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utils/ — Utilities/Helpers</a:t>
            </a:r>
            <a:endParaRPr lang="en-US" sz="1150" dirty="0"/>
          </a:p>
        </p:txBody>
      </p:sp>
      <p:sp>
        <p:nvSpPr>
          <p:cNvPr id="42" name="Shape 40"/>
          <p:cNvSpPr/>
          <p:nvPr/>
        </p:nvSpPr>
        <p:spPr>
          <a:xfrm>
            <a:off x="9111996" y="2919222"/>
            <a:ext cx="329184" cy="329184"/>
          </a:xfrm>
          <a:prstGeom prst="ellipse">
            <a:avLst/>
          </a:prstGeom>
          <a:solidFill>
            <a:srgbClr val="101A30"/>
          </a:solidFill>
          <a:ln w="19050">
            <a:solidFill>
              <a:srgbClr val="B18CF5"/>
            </a:solidFill>
            <a:prstDash val="solid"/>
          </a:ln>
        </p:spPr>
      </p:sp>
      <p:sp>
        <p:nvSpPr>
          <p:cNvPr id="43" name="Text 41"/>
          <p:cNvSpPr/>
          <p:nvPr/>
        </p:nvSpPr>
        <p:spPr>
          <a:xfrm>
            <a:off x="9111996" y="291922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44" name="Text 42"/>
          <p:cNvSpPr/>
          <p:nvPr/>
        </p:nvSpPr>
        <p:spPr>
          <a:xfrm>
            <a:off x="9532620" y="2864358"/>
            <a:ext cx="1943100" cy="46863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fixtures/ — Test Fixtures</a:t>
            </a:r>
            <a:endParaRPr lang="en-US" sz="1150" dirty="0"/>
          </a:p>
        </p:txBody>
      </p:sp>
      <p:sp>
        <p:nvSpPr>
          <p:cNvPr id="45" name="Shape 43"/>
          <p:cNvSpPr/>
          <p:nvPr/>
        </p:nvSpPr>
        <p:spPr>
          <a:xfrm>
            <a:off x="6437376" y="3387852"/>
            <a:ext cx="329184" cy="329184"/>
          </a:xfrm>
          <a:prstGeom prst="ellipse">
            <a:avLst/>
          </a:prstGeom>
          <a:solidFill>
            <a:srgbClr val="101A30"/>
          </a:solidFill>
          <a:ln w="19050">
            <a:solidFill>
              <a:srgbClr val="B18CF5"/>
            </a:solidFill>
            <a:prstDash val="solid"/>
          </a:ln>
        </p:spPr>
      </p:sp>
      <p:sp>
        <p:nvSpPr>
          <p:cNvPr id="46" name="Text 44"/>
          <p:cNvSpPr/>
          <p:nvPr/>
        </p:nvSpPr>
        <p:spPr>
          <a:xfrm>
            <a:off x="6437376" y="338785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47" name="Text 45"/>
          <p:cNvSpPr/>
          <p:nvPr/>
        </p:nvSpPr>
        <p:spPr>
          <a:xfrm>
            <a:off x="6858000" y="3332988"/>
            <a:ext cx="1943100" cy="46863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test-data/ — Test Data</a:t>
            </a:r>
            <a:endParaRPr lang="en-US" sz="1150" dirty="0"/>
          </a:p>
        </p:txBody>
      </p:sp>
      <p:sp>
        <p:nvSpPr>
          <p:cNvPr id="48" name="Shape 46"/>
          <p:cNvSpPr/>
          <p:nvPr/>
        </p:nvSpPr>
        <p:spPr>
          <a:xfrm>
            <a:off x="9111996" y="3387852"/>
            <a:ext cx="329184" cy="329184"/>
          </a:xfrm>
          <a:prstGeom prst="ellipse">
            <a:avLst/>
          </a:prstGeom>
          <a:solidFill>
            <a:srgbClr val="101A30"/>
          </a:solidFill>
          <a:ln w="19050">
            <a:solidFill>
              <a:srgbClr val="B18CF5"/>
            </a:solidFill>
            <a:prstDash val="solid"/>
          </a:ln>
        </p:spPr>
      </p:sp>
      <p:sp>
        <p:nvSpPr>
          <p:cNvPr id="49" name="Text 47"/>
          <p:cNvSpPr/>
          <p:nvPr/>
        </p:nvSpPr>
        <p:spPr>
          <a:xfrm>
            <a:off x="9111996" y="338785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50" name="Text 48"/>
          <p:cNvSpPr/>
          <p:nvPr/>
        </p:nvSpPr>
        <p:spPr>
          <a:xfrm>
            <a:off x="9532620" y="3332988"/>
            <a:ext cx="1943100" cy="46863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playwright.config.ts — Config</a:t>
            </a:r>
            <a:endParaRPr lang="en-US" sz="1150" dirty="0"/>
          </a:p>
        </p:txBody>
      </p:sp>
      <p:sp>
        <p:nvSpPr>
          <p:cNvPr id="51" name="Shape 49"/>
          <p:cNvSpPr/>
          <p:nvPr/>
        </p:nvSpPr>
        <p:spPr>
          <a:xfrm>
            <a:off x="6437376" y="3856482"/>
            <a:ext cx="329184" cy="329184"/>
          </a:xfrm>
          <a:prstGeom prst="ellipse">
            <a:avLst/>
          </a:prstGeom>
          <a:solidFill>
            <a:srgbClr val="101A30"/>
          </a:solidFill>
          <a:ln w="19050">
            <a:solidFill>
              <a:srgbClr val="B18CF5"/>
            </a:solidFill>
            <a:prstDash val="solid"/>
          </a:ln>
        </p:spPr>
      </p:sp>
      <p:sp>
        <p:nvSpPr>
          <p:cNvPr id="52" name="Text 50"/>
          <p:cNvSpPr/>
          <p:nvPr/>
        </p:nvSpPr>
        <p:spPr>
          <a:xfrm>
            <a:off x="6437376" y="385648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53" name="Text 51"/>
          <p:cNvSpPr/>
          <p:nvPr/>
        </p:nvSpPr>
        <p:spPr>
          <a:xfrm>
            <a:off x="6858000" y="3801618"/>
            <a:ext cx="1943100" cy="46863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reports/ — Test Reports</a:t>
            </a:r>
            <a:endParaRPr lang="en-US" sz="11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4617720"/>
          <a:ext cx="11247120" cy="914400"/>
        </p:xfrm>
        <a:graphic>
          <a:graphicData uri="http://schemas.openxmlformats.org/drawingml/2006/table">
            <a:tbl>
              <a:tblPr/>
              <a:tblGrid>
                <a:gridCol w="5394960"/>
                <a:gridCol w="5852160"/>
              </a:tblGrid>
              <a:tr h="228600">
                <a:tc>
                  <a:txBody>
                    <a:bodyPr/>
                    <a:lstStyle/>
                    <a:p>
                      <a:pPr algn="l" indent="0" marL="0">
                        <a:buNone/>
                      </a:pPr>
                      <a:r>
                        <a:rPr lang="en-US" sz="1200" b="1" dirty="0">
                          <a:solidFill>
                            <a:srgbClr val="0A0F1E"/>
                          </a:solidFill>
                          <a:latin typeface="Calibri" pitchFamily="34" charset="0"/>
                          <a:ea typeface="Calibri" pitchFamily="34" charset="-122"/>
                          <a:cs typeface="Calibri" pitchFamily="34" charset="-120"/>
                        </a:rPr>
                        <a:t>File / Folder</a:t>
                      </a:r>
                      <a:endParaRPr lang="en-US" sz="120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B18CF5"/>
                    </a:solidFill>
                  </a:tcPr>
                </a:tc>
                <a:tc>
                  <a:txBody>
                    <a:bodyPr/>
                    <a:lstStyle/>
                    <a:p>
                      <a:pPr algn="l" indent="0" marL="0">
                        <a:buNone/>
                      </a:pPr>
                      <a:r>
                        <a:rPr lang="en-US" sz="1200" b="1" dirty="0">
                          <a:solidFill>
                            <a:srgbClr val="0A0F1E"/>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B18CF5"/>
                    </a:solidFill>
                  </a:tcPr>
                </a:tc>
              </a:tr>
              <a:tr h="22860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package.json</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Project dependencies</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r>
              <a:tr h="22860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playwright.config.ts</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01A30"/>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Browser, timeout &amp; config</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01A30"/>
                    </a:solidFill>
                  </a:tcPr>
                </a:tc>
              </a:tr>
              <a:tr h="22860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tsconfig.json</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TypeScript configuration</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r>
              <a:tr h="22860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Utils</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01A30"/>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Reusable data / config</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01A30"/>
                    </a:solidFill>
                  </a:tcPr>
                </a:tc>
              </a:tr>
              <a:tr h="22860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Environment</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Environment-specific info</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41F38"/>
                    </a:solidFill>
                  </a:tcPr>
                </a:tc>
              </a:tr>
              <a:tr h="228600">
                <a:tc>
                  <a:txBody>
                    <a:bodyPr/>
                    <a:lstStyle/>
                    <a:p>
                      <a:pPr algn="l" indent="0" marL="0">
                        <a:buNone/>
                      </a:pPr>
                      <a:r>
                        <a:rPr lang="en-US" sz="1150" b="1" dirty="0">
                          <a:solidFill>
                            <a:srgbClr val="F3F6FB"/>
                          </a:solidFill>
                          <a:latin typeface="Calibri" pitchFamily="34" charset="0"/>
                          <a:ea typeface="Calibri" pitchFamily="34" charset="-122"/>
                          <a:cs typeface="Calibri" pitchFamily="34" charset="-120"/>
                        </a:rPr>
                        <a:t>*.spec.ts</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01A30"/>
                    </a:solidFill>
                  </a:tcPr>
                </a:tc>
                <a:tc>
                  <a:txBody>
                    <a:bodyPr/>
                    <a:lstStyle/>
                    <a:p>
                      <a:pPr algn="l" indent="0" marL="0">
                        <a:buNone/>
                      </a:pPr>
                      <a:r>
                        <a:rPr lang="en-US" sz="1150" dirty="0">
                          <a:solidFill>
                            <a:srgbClr val="97A3BE"/>
                          </a:solidFill>
                          <a:latin typeface="Calibri" pitchFamily="34" charset="0"/>
                          <a:ea typeface="Calibri" pitchFamily="34" charset="-122"/>
                          <a:cs typeface="Calibri" pitchFamily="34" charset="-120"/>
                        </a:rPr>
                        <a:t>Test specifications</a:t>
                      </a:r>
                      <a:endParaRPr lang="en-US" sz="1150" dirty="0">
                        <a:latin typeface="Calibri" charset="0"/>
                        <a:ea typeface="Calibri" charset="0"/>
                        <a:cs typeface="Calibri" charset="0"/>
                      </a:endParaRPr>
                    </a:p>
                  </a:txBody>
                  <a:tcPr marL="91440" marR="91440" marT="45720" marB="45720" anchor="ctr">
                    <a:lnL w="9525" cap="flat" cmpd="sng" algn="ctr">
                      <a:solidFill>
                        <a:srgbClr val="26324E"/>
                      </a:solidFill>
                      <a:prstDash val="solid"/>
                      <a:round/>
                      <a:headEnd type="none" w="med" len="med"/>
                      <a:tailEnd type="none" w="med" len="med"/>
                    </a:lnL>
                    <a:lnR w="9525" cap="flat" cmpd="sng" algn="ctr">
                      <a:solidFill>
                        <a:srgbClr val="26324E"/>
                      </a:solidFill>
                      <a:prstDash val="solid"/>
                      <a:round/>
                      <a:headEnd type="none" w="med" len="med"/>
                      <a:tailEnd type="none" w="med" len="med"/>
                    </a:lnR>
                    <a:lnT w="9525" cap="flat" cmpd="sng" algn="ctr">
                      <a:solidFill>
                        <a:srgbClr val="26324E"/>
                      </a:solidFill>
                      <a:prstDash val="solid"/>
                      <a:round/>
                      <a:headEnd type="none" w="med" len="med"/>
                      <a:tailEnd type="none" w="med" len="med"/>
                    </a:lnT>
                    <a:lnB w="9525" cap="flat" cmpd="sng" algn="ctr">
                      <a:solidFill>
                        <a:srgbClr val="26324E"/>
                      </a:solidFill>
                      <a:prstDash val="solid"/>
                      <a:round/>
                      <a:headEnd type="none" w="med" len="med"/>
                      <a:tailEnd type="none" w="med" len="med"/>
                    </a:lnB>
                    <a:solidFill>
                      <a:srgbClr val="101A30"/>
                    </a:solidFill>
                  </a:tcPr>
                </a:tc>
              </a:tr>
            </a:tbl>
          </a:graphicData>
        </a:graphic>
      </p:graphicFrame>
      <p:sp>
        <p:nvSpPr>
          <p:cNvPr id="55" name="Text 52"/>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56" name="Text 53"/>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57" name="Text 54"/>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Test Scripts &amp; Page Object Model (POM)</a:t>
            </a:r>
            <a:endParaRPr lang="en-US" sz="3000" dirty="0"/>
          </a:p>
        </p:txBody>
      </p:sp>
      <p:sp>
        <p:nvSpPr>
          <p:cNvPr id="7" name="Shape 5"/>
          <p:cNvSpPr/>
          <p:nvPr/>
        </p:nvSpPr>
        <p:spPr>
          <a:xfrm>
            <a:off x="457200" y="1691640"/>
            <a:ext cx="5394960" cy="1691640"/>
          </a:xfrm>
          <a:prstGeom prst="roundRect">
            <a:avLst>
              <a:gd name="adj" fmla="val 4324"/>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8" name="Shape 6"/>
          <p:cNvSpPr/>
          <p:nvPr/>
        </p:nvSpPr>
        <p:spPr>
          <a:xfrm>
            <a:off x="685800" y="1920240"/>
            <a:ext cx="91440" cy="91440"/>
          </a:xfrm>
          <a:prstGeom prst="roundRect">
            <a:avLst>
              <a:gd name="adj" fmla="val 50000"/>
            </a:avLst>
          </a:prstGeom>
          <a:solidFill>
            <a:srgbClr val="B18CF5"/>
          </a:solidFill>
          <a:ln/>
        </p:spPr>
      </p:sp>
      <p:sp>
        <p:nvSpPr>
          <p:cNvPr id="9" name="Text 7"/>
          <p:cNvSpPr/>
          <p:nvPr/>
        </p:nvSpPr>
        <p:spPr>
          <a:xfrm>
            <a:off x="868680" y="1837944"/>
            <a:ext cx="4754880" cy="292608"/>
          </a:xfrm>
          <a:prstGeom prst="rect">
            <a:avLst/>
          </a:prstGeom>
          <a:noFill/>
          <a:ln/>
        </p:spPr>
        <p:txBody>
          <a:bodyPr wrap="square" rtlCol="0" anchor="ctr"/>
          <a:lstStyle/>
          <a:p>
            <a:pPr indent="0" marL="0">
              <a:buNone/>
            </a:pPr>
            <a:r>
              <a:rPr lang="en-US" sz="1400" b="1" dirty="0">
                <a:solidFill>
                  <a:srgbClr val="B18CF5"/>
                </a:solidFill>
                <a:latin typeface="Calibri" pitchFamily="34" charset="0"/>
                <a:ea typeface="Calibri" pitchFamily="34" charset="-122"/>
                <a:cs typeface="Calibri" pitchFamily="34" charset="-120"/>
              </a:rPr>
              <a:t>Test Script</a:t>
            </a:r>
            <a:endParaRPr lang="en-US" sz="1400" dirty="0"/>
          </a:p>
        </p:txBody>
      </p:sp>
      <p:sp>
        <p:nvSpPr>
          <p:cNvPr id="10" name="Text 8"/>
          <p:cNvSpPr/>
          <p:nvPr/>
        </p:nvSpPr>
        <p:spPr>
          <a:xfrm>
            <a:off x="731520" y="2276856"/>
            <a:ext cx="4846320" cy="923544"/>
          </a:xfrm>
          <a:prstGeom prst="rect">
            <a:avLst/>
          </a:prstGeom>
          <a:noFill/>
          <a:ln/>
        </p:spPr>
        <p:txBody>
          <a:bodyPr wrap="square" rtlCol="0" anchor="t"/>
          <a:lstStyle/>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Contains the actual test scenario.</a:t>
            </a:r>
            <a:endParaRPr lang="en-US" sz="1200" dirty="0"/>
          </a:p>
          <a:p>
            <a:pPr marL="177800" indent="-177800">
              <a:lnSpc>
                <a:spcPct val="112000"/>
              </a:lnSpc>
              <a:spcAft>
                <a:spcPts val="1000"/>
              </a:spcAft>
              <a:buSzPct val="100000"/>
              <a:buChar char="•"/>
            </a:pPr>
            <a:r>
              <a:rPr lang="en-US" sz="1200" dirty="0">
                <a:solidFill>
                  <a:srgbClr val="F3F6FB"/>
                </a:solidFill>
                <a:latin typeface="Calibri" pitchFamily="34" charset="0"/>
                <a:ea typeface="Calibri" pitchFamily="34" charset="-122"/>
                <a:cs typeface="Calibri" pitchFamily="34" charset="-120"/>
              </a:rPr>
              <a:t>Focuses on what we want to test — not every locator/implementation detail.</a:t>
            </a:r>
            <a:endParaRPr lang="en-US" sz="1200" dirty="0"/>
          </a:p>
        </p:txBody>
      </p:sp>
      <p:sp>
        <p:nvSpPr>
          <p:cNvPr id="11" name="Text 9"/>
          <p:cNvSpPr/>
          <p:nvPr/>
        </p:nvSpPr>
        <p:spPr>
          <a:xfrm>
            <a:off x="457200" y="3520440"/>
            <a:ext cx="5394960" cy="274320"/>
          </a:xfrm>
          <a:prstGeom prst="rect">
            <a:avLst/>
          </a:prstGeom>
          <a:noFill/>
          <a:ln/>
        </p:spPr>
        <p:txBody>
          <a:bodyPr wrap="square" rtlCol="0" anchor="ctr"/>
          <a:lstStyle/>
          <a:p>
            <a:pPr indent="0" marL="0">
              <a:buNone/>
            </a:pPr>
            <a:r>
              <a:rPr lang="en-US" sz="1100" b="1" spc="100" kern="0" dirty="0">
                <a:solidFill>
                  <a:srgbClr val="B18CF5"/>
                </a:solidFill>
                <a:latin typeface="Calibri" pitchFamily="34" charset="0"/>
                <a:ea typeface="Calibri" pitchFamily="34" charset="-122"/>
                <a:cs typeface="Calibri" pitchFamily="34" charset="-120"/>
              </a:rPr>
              <a:t>EXAMPLE SCENARIO</a:t>
            </a:r>
            <a:endParaRPr lang="en-US" sz="1100" dirty="0"/>
          </a:p>
        </p:txBody>
      </p:sp>
      <p:sp>
        <p:nvSpPr>
          <p:cNvPr id="12" name="Shape 10"/>
          <p:cNvSpPr/>
          <p:nvPr/>
        </p:nvSpPr>
        <p:spPr>
          <a:xfrm>
            <a:off x="457200" y="3840480"/>
            <a:ext cx="1108710" cy="1051560"/>
          </a:xfrm>
          <a:prstGeom prst="roundRect">
            <a:avLst>
              <a:gd name="adj" fmla="val 6957"/>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3" name="Text 11"/>
          <p:cNvSpPr/>
          <p:nvPr/>
        </p:nvSpPr>
        <p:spPr>
          <a:xfrm>
            <a:off x="530352" y="3913632"/>
            <a:ext cx="962406" cy="90525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Login</a:t>
            </a:r>
            <a:endParaRPr lang="en-US" sz="1200" dirty="0"/>
          </a:p>
        </p:txBody>
      </p:sp>
      <p:sp>
        <p:nvSpPr>
          <p:cNvPr id="14" name="Shape 12"/>
          <p:cNvSpPr/>
          <p:nvPr/>
        </p:nvSpPr>
        <p:spPr>
          <a:xfrm>
            <a:off x="1602486" y="4366260"/>
            <a:ext cx="246888" cy="914"/>
          </a:xfrm>
          <a:prstGeom prst="line">
            <a:avLst/>
          </a:prstGeom>
          <a:noFill/>
          <a:ln w="25400">
            <a:solidFill>
              <a:srgbClr val="B18CF5"/>
            </a:solidFill>
            <a:prstDash val="solid"/>
            <a:tailEnd type="triangle"/>
          </a:ln>
        </p:spPr>
      </p:sp>
      <p:sp>
        <p:nvSpPr>
          <p:cNvPr id="15" name="Shape 13"/>
          <p:cNvSpPr/>
          <p:nvPr/>
        </p:nvSpPr>
        <p:spPr>
          <a:xfrm>
            <a:off x="1885950" y="3840480"/>
            <a:ext cx="1108710" cy="1051560"/>
          </a:xfrm>
          <a:prstGeom prst="roundRect">
            <a:avLst>
              <a:gd name="adj" fmla="val 6957"/>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6" name="Text 14"/>
          <p:cNvSpPr/>
          <p:nvPr/>
        </p:nvSpPr>
        <p:spPr>
          <a:xfrm>
            <a:off x="1959102" y="3913632"/>
            <a:ext cx="962406" cy="90525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Search</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Product</a:t>
            </a:r>
            <a:endParaRPr lang="en-US" sz="1200" dirty="0"/>
          </a:p>
        </p:txBody>
      </p:sp>
      <p:sp>
        <p:nvSpPr>
          <p:cNvPr id="17" name="Shape 15"/>
          <p:cNvSpPr/>
          <p:nvPr/>
        </p:nvSpPr>
        <p:spPr>
          <a:xfrm>
            <a:off x="3031236" y="4366260"/>
            <a:ext cx="246888" cy="914"/>
          </a:xfrm>
          <a:prstGeom prst="line">
            <a:avLst/>
          </a:prstGeom>
          <a:noFill/>
          <a:ln w="25400">
            <a:solidFill>
              <a:srgbClr val="B18CF5"/>
            </a:solidFill>
            <a:prstDash val="solid"/>
            <a:tailEnd type="triangle"/>
          </a:ln>
        </p:spPr>
      </p:sp>
      <p:sp>
        <p:nvSpPr>
          <p:cNvPr id="18" name="Shape 16"/>
          <p:cNvSpPr/>
          <p:nvPr/>
        </p:nvSpPr>
        <p:spPr>
          <a:xfrm>
            <a:off x="3314700" y="3840480"/>
            <a:ext cx="1108710" cy="1051560"/>
          </a:xfrm>
          <a:prstGeom prst="roundRect">
            <a:avLst>
              <a:gd name="adj" fmla="val 6957"/>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9" name="Text 17"/>
          <p:cNvSpPr/>
          <p:nvPr/>
        </p:nvSpPr>
        <p:spPr>
          <a:xfrm>
            <a:off x="3387852" y="3913632"/>
            <a:ext cx="962406" cy="90525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Add</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Product</a:t>
            </a:r>
            <a:endParaRPr lang="en-US" sz="1200" dirty="0"/>
          </a:p>
        </p:txBody>
      </p:sp>
      <p:sp>
        <p:nvSpPr>
          <p:cNvPr id="20" name="Shape 18"/>
          <p:cNvSpPr/>
          <p:nvPr/>
        </p:nvSpPr>
        <p:spPr>
          <a:xfrm>
            <a:off x="4459986" y="4366260"/>
            <a:ext cx="246888" cy="914"/>
          </a:xfrm>
          <a:prstGeom prst="line">
            <a:avLst/>
          </a:prstGeom>
          <a:noFill/>
          <a:ln w="25400">
            <a:solidFill>
              <a:srgbClr val="B18CF5"/>
            </a:solidFill>
            <a:prstDash val="solid"/>
            <a:tailEnd type="triangle"/>
          </a:ln>
        </p:spPr>
      </p:sp>
      <p:sp>
        <p:nvSpPr>
          <p:cNvPr id="21" name="Shape 19"/>
          <p:cNvSpPr/>
          <p:nvPr/>
        </p:nvSpPr>
        <p:spPr>
          <a:xfrm>
            <a:off x="4743450" y="3840480"/>
            <a:ext cx="1108710" cy="1051560"/>
          </a:xfrm>
          <a:prstGeom prst="roundRect">
            <a:avLst>
              <a:gd name="adj" fmla="val 6957"/>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2" name="Text 20"/>
          <p:cNvSpPr/>
          <p:nvPr/>
        </p:nvSpPr>
        <p:spPr>
          <a:xfrm>
            <a:off x="4816602" y="3913632"/>
            <a:ext cx="962406" cy="905256"/>
          </a:xfrm>
          <a:prstGeom prst="rect">
            <a:avLst/>
          </a:prstGeom>
          <a:noFill/>
          <a:ln/>
        </p:spPr>
        <p:txBody>
          <a:bodyPr wrap="square" rtlCol="0" anchor="ctr"/>
          <a:lstStyle/>
          <a:p>
            <a:pPr algn="ctr" indent="0" marL="0">
              <a:buNone/>
            </a:pPr>
            <a:r>
              <a:rPr lang="en-US" sz="1200" b="1" dirty="0">
                <a:solidFill>
                  <a:srgbClr val="F3F6FB"/>
                </a:solidFill>
                <a:latin typeface="Calibri" pitchFamily="34" charset="0"/>
                <a:ea typeface="Calibri" pitchFamily="34" charset="-122"/>
                <a:cs typeface="Calibri" pitchFamily="34" charset="-120"/>
              </a:rPr>
              <a:t>Verify</a:t>
            </a:r>
            <a:endParaRPr lang="en-US" sz="1200" dirty="0"/>
          </a:p>
          <a:p>
            <a:pPr algn="ctr" indent="0" marL="0">
              <a:buNone/>
            </a:pPr>
            <a:r>
              <a:rPr lang="en-US" sz="1200" b="1" dirty="0">
                <a:solidFill>
                  <a:srgbClr val="F3F6FB"/>
                </a:solidFill>
                <a:latin typeface="Calibri" pitchFamily="34" charset="0"/>
                <a:ea typeface="Calibri" pitchFamily="34" charset="-122"/>
                <a:cs typeface="Calibri" pitchFamily="34" charset="-120"/>
              </a:rPr>
              <a:t>Result</a:t>
            </a:r>
            <a:endParaRPr lang="en-US" sz="1200" dirty="0"/>
          </a:p>
        </p:txBody>
      </p:sp>
      <p:sp>
        <p:nvSpPr>
          <p:cNvPr id="23" name="Shape 21"/>
          <p:cNvSpPr/>
          <p:nvPr/>
        </p:nvSpPr>
        <p:spPr>
          <a:xfrm>
            <a:off x="6172200" y="1691640"/>
            <a:ext cx="5532120" cy="5029200"/>
          </a:xfrm>
          <a:prstGeom prst="roundRect">
            <a:avLst>
              <a:gd name="adj" fmla="val 1455"/>
            </a:avLst>
          </a:prstGeom>
          <a:solidFill>
            <a:srgbClr val="18233F"/>
          </a:solidFill>
          <a:ln w="20320">
            <a:solidFill>
              <a:srgbClr val="F5B942"/>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6400800" y="1828800"/>
            <a:ext cx="5120640" cy="320040"/>
          </a:xfrm>
          <a:prstGeom prst="rect">
            <a:avLst/>
          </a:prstGeom>
          <a:noFill/>
          <a:ln/>
        </p:spPr>
        <p:txBody>
          <a:bodyPr wrap="square" rtlCol="0" anchor="ctr"/>
          <a:lstStyle/>
          <a:p>
            <a:pPr indent="0" marL="0">
              <a:buNone/>
            </a:pPr>
            <a:r>
              <a:rPr lang="en-US" sz="1250" b="1" spc="50" kern="0" dirty="0">
                <a:solidFill>
                  <a:srgbClr val="F5B942"/>
                </a:solidFill>
                <a:latin typeface="Calibri" pitchFamily="34" charset="0"/>
                <a:ea typeface="Calibri" pitchFamily="34" charset="-122"/>
                <a:cs typeface="Calibri" pitchFamily="34" charset="-120"/>
              </a:rPr>
              <a:t>PAGE OBJECT MODEL (POM)  ⭐⭐⭐</a:t>
            </a:r>
            <a:endParaRPr lang="en-US" sz="1250" dirty="0"/>
          </a:p>
        </p:txBody>
      </p:sp>
      <p:sp>
        <p:nvSpPr>
          <p:cNvPr id="25" name="Text 23"/>
          <p:cNvSpPr/>
          <p:nvPr/>
        </p:nvSpPr>
        <p:spPr>
          <a:xfrm>
            <a:off x="6400800" y="2176272"/>
            <a:ext cx="5120640" cy="640080"/>
          </a:xfrm>
          <a:prstGeom prst="rect">
            <a:avLst/>
          </a:prstGeom>
          <a:noFill/>
          <a:ln/>
        </p:spPr>
        <p:txBody>
          <a:bodyPr wrap="square" rtlCol="0" anchor="t"/>
          <a:lstStyle/>
          <a:p>
            <a:pPr indent="0" marL="0">
              <a:lnSpc>
                <a:spcPct val="115000"/>
              </a:lnSpc>
              <a:buNone/>
            </a:pPr>
            <a:r>
              <a:rPr lang="en-US" sz="1100" i="1" dirty="0">
                <a:solidFill>
                  <a:srgbClr val="F3F6FB"/>
                </a:solidFill>
                <a:latin typeface="Calibri" pitchFamily="34" charset="0"/>
                <a:ea typeface="Calibri" pitchFamily="34" charset="-122"/>
                <a:cs typeface="Calibri" pitchFamily="34" charset="-120"/>
              </a:rPr>
              <a:t>Keep page-specific locators and actions inside page classes instead of putting everything directly into test scripts.</a:t>
            </a:r>
            <a:endParaRPr lang="en-US" sz="1100" dirty="0"/>
          </a:p>
        </p:txBody>
      </p:sp>
      <p:sp>
        <p:nvSpPr>
          <p:cNvPr id="26" name="Text 24"/>
          <p:cNvSpPr/>
          <p:nvPr/>
        </p:nvSpPr>
        <p:spPr>
          <a:xfrm>
            <a:off x="6400800" y="2907792"/>
            <a:ext cx="5120640" cy="274320"/>
          </a:xfrm>
          <a:prstGeom prst="rect">
            <a:avLst/>
          </a:prstGeom>
          <a:noFill/>
          <a:ln/>
        </p:spPr>
        <p:txBody>
          <a:bodyPr wrap="square" rtlCol="0" anchor="ctr"/>
          <a:lstStyle/>
          <a:p>
            <a:pPr indent="0" marL="0">
              <a:buNone/>
            </a:pPr>
            <a:r>
              <a:rPr lang="en-US" sz="1150" b="1" dirty="0">
                <a:solidFill>
                  <a:srgbClr val="F3F6FB"/>
                </a:solidFill>
                <a:latin typeface="Calibri" pitchFamily="34" charset="0"/>
                <a:ea typeface="Calibri" pitchFamily="34" charset="-122"/>
                <a:cs typeface="Calibri" pitchFamily="34" charset="-120"/>
              </a:rPr>
              <a:t>Login Page</a:t>
            </a:r>
            <a:endParaRPr lang="en-US" sz="1150" dirty="0"/>
          </a:p>
        </p:txBody>
      </p:sp>
      <p:sp>
        <p:nvSpPr>
          <p:cNvPr id="27" name="Text 25"/>
          <p:cNvSpPr/>
          <p:nvPr/>
        </p:nvSpPr>
        <p:spPr>
          <a:xfrm>
            <a:off x="6400800" y="3200400"/>
            <a:ext cx="2468880" cy="1280160"/>
          </a:xfrm>
          <a:prstGeom prst="rect">
            <a:avLst/>
          </a:prstGeom>
          <a:noFill/>
          <a:ln/>
        </p:spPr>
        <p:txBody>
          <a:bodyPr wrap="square" rtlCol="0" anchor="t"/>
          <a:lstStyle/>
          <a:p>
            <a:pPr indent="0" marL="0">
              <a:lnSpc>
                <a:spcPct val="110000"/>
              </a:lnSpc>
              <a:buNone/>
            </a:pPr>
            <a:r>
              <a:rPr lang="en-US" sz="1050" b="1" dirty="0">
                <a:solidFill>
                  <a:srgbClr val="F5B942"/>
                </a:solidFill>
                <a:latin typeface="Calibri" pitchFamily="34" charset="0"/>
                <a:ea typeface="Calibri" pitchFamily="34" charset="-122"/>
                <a:cs typeface="Calibri" pitchFamily="34" charset="-120"/>
              </a:rPr>
              <a:t>Locators</a:t>
            </a:r>
            <a:endParaRPr lang="en-US" sz="1050" dirty="0"/>
          </a:p>
          <a:p>
            <a:pPr marL="342900" indent="-342900">
              <a:lnSpc>
                <a:spcPct val="110000"/>
              </a:lnSpc>
              <a:buSzPct val="100000"/>
              <a:buChar char="•"/>
            </a:pPr>
            <a:r>
              <a:rPr lang="en-US" sz="1000" dirty="0">
                <a:solidFill>
                  <a:srgbClr val="97A3BE"/>
                </a:solidFill>
                <a:latin typeface="Calibri" pitchFamily="34" charset="0"/>
                <a:ea typeface="Calibri" pitchFamily="34" charset="-122"/>
                <a:cs typeface="Calibri" pitchFamily="34" charset="-120"/>
              </a:rPr>
              <a:t>username locator</a:t>
            </a:r>
            <a:endParaRPr lang="en-US" sz="1050" dirty="0"/>
          </a:p>
          <a:p>
            <a:pPr marL="342900" indent="-342900">
              <a:lnSpc>
                <a:spcPct val="110000"/>
              </a:lnSpc>
              <a:buSzPct val="100000"/>
              <a:buChar char="•"/>
            </a:pPr>
            <a:r>
              <a:rPr lang="en-US" sz="1000" dirty="0">
                <a:solidFill>
                  <a:srgbClr val="97A3BE"/>
                </a:solidFill>
                <a:latin typeface="Calibri" pitchFamily="34" charset="0"/>
                <a:ea typeface="Calibri" pitchFamily="34" charset="-122"/>
                <a:cs typeface="Calibri" pitchFamily="34" charset="-120"/>
              </a:rPr>
              <a:t>password locator</a:t>
            </a:r>
            <a:endParaRPr lang="en-US" sz="1050" dirty="0"/>
          </a:p>
          <a:p>
            <a:pPr marL="342900" indent="-342900">
              <a:lnSpc>
                <a:spcPct val="110000"/>
              </a:lnSpc>
              <a:buSzPct val="100000"/>
              <a:buChar char="•"/>
            </a:pPr>
            <a:r>
              <a:rPr lang="en-US" sz="1000" dirty="0">
                <a:solidFill>
                  <a:srgbClr val="97A3BE"/>
                </a:solidFill>
                <a:latin typeface="Calibri" pitchFamily="34" charset="0"/>
                <a:ea typeface="Calibri" pitchFamily="34" charset="-122"/>
                <a:cs typeface="Calibri" pitchFamily="34" charset="-120"/>
              </a:rPr>
              <a:t>login button locator</a:t>
            </a:r>
            <a:endParaRPr lang="en-US" sz="1050" dirty="0"/>
          </a:p>
        </p:txBody>
      </p:sp>
      <p:sp>
        <p:nvSpPr>
          <p:cNvPr id="28" name="Text 26"/>
          <p:cNvSpPr/>
          <p:nvPr/>
        </p:nvSpPr>
        <p:spPr>
          <a:xfrm>
            <a:off x="8961120" y="3200400"/>
            <a:ext cx="2468880" cy="1280160"/>
          </a:xfrm>
          <a:prstGeom prst="rect">
            <a:avLst/>
          </a:prstGeom>
          <a:noFill/>
          <a:ln/>
        </p:spPr>
        <p:txBody>
          <a:bodyPr wrap="square" rtlCol="0" anchor="t"/>
          <a:lstStyle/>
          <a:p>
            <a:pPr indent="0" marL="0">
              <a:lnSpc>
                <a:spcPct val="110000"/>
              </a:lnSpc>
              <a:buNone/>
            </a:pPr>
            <a:r>
              <a:rPr lang="en-US" sz="1050" b="1" dirty="0">
                <a:solidFill>
                  <a:srgbClr val="F5B942"/>
                </a:solidFill>
                <a:latin typeface="Calibri" pitchFamily="34" charset="0"/>
                <a:ea typeface="Calibri" pitchFamily="34" charset="-122"/>
                <a:cs typeface="Calibri" pitchFamily="34" charset="-120"/>
              </a:rPr>
              <a:t>Methods</a:t>
            </a:r>
            <a:endParaRPr lang="en-US" sz="1050" dirty="0"/>
          </a:p>
          <a:p>
            <a:pPr marL="342900" indent="-342900">
              <a:lnSpc>
                <a:spcPct val="110000"/>
              </a:lnSpc>
              <a:buSzPct val="100000"/>
              <a:buChar char="•"/>
            </a:pPr>
            <a:r>
              <a:rPr lang="en-US" sz="1000" dirty="0">
                <a:solidFill>
                  <a:srgbClr val="97A3BE"/>
                </a:solidFill>
                <a:latin typeface="Calibri" pitchFamily="34" charset="0"/>
                <a:ea typeface="Calibri" pitchFamily="34" charset="-122"/>
                <a:cs typeface="Calibri" pitchFamily="34" charset="-120"/>
              </a:rPr>
              <a:t>enterUsername()</a:t>
            </a:r>
            <a:endParaRPr lang="en-US" sz="1050" dirty="0"/>
          </a:p>
          <a:p>
            <a:pPr marL="342900" indent="-342900">
              <a:lnSpc>
                <a:spcPct val="110000"/>
              </a:lnSpc>
              <a:buSzPct val="100000"/>
              <a:buChar char="•"/>
            </a:pPr>
            <a:r>
              <a:rPr lang="en-US" sz="1000" dirty="0">
                <a:solidFill>
                  <a:srgbClr val="97A3BE"/>
                </a:solidFill>
                <a:latin typeface="Calibri" pitchFamily="34" charset="0"/>
                <a:ea typeface="Calibri" pitchFamily="34" charset="-122"/>
                <a:cs typeface="Calibri" pitchFamily="34" charset="-120"/>
              </a:rPr>
              <a:t>enterPassword()</a:t>
            </a:r>
            <a:endParaRPr lang="en-US" sz="1050" dirty="0"/>
          </a:p>
          <a:p>
            <a:pPr marL="342900" indent="-342900">
              <a:lnSpc>
                <a:spcPct val="110000"/>
              </a:lnSpc>
              <a:buSzPct val="100000"/>
              <a:buChar char="•"/>
            </a:pPr>
            <a:r>
              <a:rPr lang="en-US" sz="1000" dirty="0">
                <a:solidFill>
                  <a:srgbClr val="97A3BE"/>
                </a:solidFill>
                <a:latin typeface="Calibri" pitchFamily="34" charset="0"/>
                <a:ea typeface="Calibri" pitchFamily="34" charset="-122"/>
                <a:cs typeface="Calibri" pitchFamily="34" charset="-120"/>
              </a:rPr>
              <a:t>clickLogin()</a:t>
            </a:r>
            <a:endParaRPr lang="en-US" sz="1050" dirty="0"/>
          </a:p>
        </p:txBody>
      </p:sp>
      <p:sp>
        <p:nvSpPr>
          <p:cNvPr id="29" name="Shape 27"/>
          <p:cNvSpPr/>
          <p:nvPr/>
        </p:nvSpPr>
        <p:spPr>
          <a:xfrm>
            <a:off x="6400800" y="4617720"/>
            <a:ext cx="5029200" cy="1051560"/>
          </a:xfrm>
          <a:prstGeom prst="roundRect">
            <a:avLst>
              <a:gd name="adj" fmla="val 6957"/>
            </a:avLst>
          </a:prstGeom>
          <a:solidFill>
            <a:srgbClr val="101A30"/>
          </a:solidFill>
          <a:ln w="12700">
            <a:solidFill>
              <a:srgbClr val="B18CF5"/>
            </a:solidFill>
            <a:prstDash val="solid"/>
          </a:ln>
        </p:spPr>
      </p:sp>
      <p:sp>
        <p:nvSpPr>
          <p:cNvPr id="30" name="Text 28"/>
          <p:cNvSpPr/>
          <p:nvPr/>
        </p:nvSpPr>
        <p:spPr>
          <a:xfrm>
            <a:off x="6583680" y="4709160"/>
            <a:ext cx="4663440" cy="868680"/>
          </a:xfrm>
          <a:prstGeom prst="rect">
            <a:avLst/>
          </a:prstGeom>
          <a:noFill/>
          <a:ln/>
        </p:spPr>
        <p:txBody>
          <a:bodyPr wrap="square" rtlCol="0" anchor="ctr"/>
          <a:lstStyle/>
          <a:p>
            <a:pPr indent="0" marL="0">
              <a:lnSpc>
                <a:spcPct val="125000"/>
              </a:lnSpc>
              <a:buNone/>
            </a:pPr>
            <a:r>
              <a:rPr lang="en-US" sz="1050" dirty="0">
                <a:solidFill>
                  <a:srgbClr val="2DD4BF"/>
                </a:solidFill>
                <a:latin typeface="Courier New" pitchFamily="34" charset="0"/>
                <a:ea typeface="Courier New" pitchFamily="34" charset="-122"/>
                <a:cs typeface="Courier New" pitchFamily="34" charset="-120"/>
              </a:rPr>
              <a:t>loginPage.enterUsername()</a:t>
            </a:r>
            <a:endParaRPr lang="en-US" sz="1050" dirty="0"/>
          </a:p>
          <a:p>
            <a:pPr indent="0" marL="0">
              <a:lnSpc>
                <a:spcPct val="125000"/>
              </a:lnSpc>
              <a:buNone/>
            </a:pPr>
            <a:r>
              <a:rPr lang="en-US" sz="1050" dirty="0">
                <a:solidFill>
                  <a:srgbClr val="2DD4BF"/>
                </a:solidFill>
                <a:latin typeface="Courier New" pitchFamily="34" charset="0"/>
                <a:ea typeface="Courier New" pitchFamily="34" charset="-122"/>
                <a:cs typeface="Courier New" pitchFamily="34" charset="-120"/>
              </a:rPr>
              <a:t>loginPage.enterPassword()</a:t>
            </a:r>
            <a:endParaRPr lang="en-US" sz="1050" dirty="0"/>
          </a:p>
          <a:p>
            <a:pPr indent="0" marL="0">
              <a:lnSpc>
                <a:spcPct val="125000"/>
              </a:lnSpc>
              <a:buNone/>
            </a:pPr>
            <a:r>
              <a:rPr lang="en-US" sz="1050" dirty="0">
                <a:solidFill>
                  <a:srgbClr val="2DD4BF"/>
                </a:solidFill>
                <a:latin typeface="Courier New" pitchFamily="34" charset="0"/>
                <a:ea typeface="Courier New" pitchFamily="34" charset="-122"/>
                <a:cs typeface="Courier New" pitchFamily="34" charset="-120"/>
              </a:rPr>
              <a:t>loginPage.clickLogin()</a:t>
            </a:r>
            <a:endParaRPr lang="en-US" sz="1050" dirty="0"/>
          </a:p>
        </p:txBody>
      </p:sp>
      <p:sp>
        <p:nvSpPr>
          <p:cNvPr id="31" name="Text 29"/>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32" name="Text 30"/>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33" name="Text 31"/>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Locators, Utilities &amp; Fixtures</a:t>
            </a:r>
            <a:endParaRPr lang="en-US" sz="3000" dirty="0"/>
          </a:p>
        </p:txBody>
      </p:sp>
      <p:sp>
        <p:nvSpPr>
          <p:cNvPr id="7" name="Shape 5"/>
          <p:cNvSpPr/>
          <p:nvPr/>
        </p:nvSpPr>
        <p:spPr>
          <a:xfrm>
            <a:off x="457200" y="1645920"/>
            <a:ext cx="5394960" cy="5074920"/>
          </a:xfrm>
          <a:prstGeom prst="roundRect">
            <a:avLst>
              <a:gd name="adj" fmla="val 1441"/>
            </a:avLst>
          </a:prstGeom>
          <a:solidFill>
            <a:srgbClr val="18233F"/>
          </a:solidFill>
          <a:ln w="16510">
            <a:solidFill>
              <a:srgbClr val="B18CF5"/>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685800" y="1783080"/>
            <a:ext cx="4937760" cy="292608"/>
          </a:xfrm>
          <a:prstGeom prst="rect">
            <a:avLst/>
          </a:prstGeom>
          <a:noFill/>
          <a:ln/>
        </p:spPr>
        <p:txBody>
          <a:bodyPr wrap="square" rtlCol="0" anchor="ctr"/>
          <a:lstStyle/>
          <a:p>
            <a:pPr indent="0" marL="0">
              <a:buNone/>
            </a:pPr>
            <a:r>
              <a:rPr lang="en-US" sz="1250" b="1" spc="100" kern="0" dirty="0">
                <a:solidFill>
                  <a:srgbClr val="B18CF5"/>
                </a:solidFill>
                <a:latin typeface="Calibri" pitchFamily="34" charset="0"/>
                <a:ea typeface="Calibri" pitchFamily="34" charset="-122"/>
                <a:cs typeface="Calibri" pitchFamily="34" charset="-120"/>
              </a:rPr>
              <a:t>LOCATORS</a:t>
            </a:r>
            <a:endParaRPr lang="en-US" sz="1250" dirty="0"/>
          </a:p>
        </p:txBody>
      </p:sp>
      <p:sp>
        <p:nvSpPr>
          <p:cNvPr id="9" name="Text 7"/>
          <p:cNvSpPr/>
          <p:nvPr/>
        </p:nvSpPr>
        <p:spPr>
          <a:xfrm>
            <a:off x="685800" y="2103120"/>
            <a:ext cx="4937760" cy="640080"/>
          </a:xfrm>
          <a:prstGeom prst="rect">
            <a:avLst/>
          </a:prstGeom>
          <a:noFill/>
          <a:ln/>
        </p:spPr>
        <p:txBody>
          <a:bodyPr wrap="square" rtlCol="0" anchor="t"/>
          <a:lstStyle/>
          <a:p>
            <a:pPr indent="0" marL="0">
              <a:lnSpc>
                <a:spcPct val="115000"/>
              </a:lnSpc>
              <a:buNone/>
            </a:pPr>
            <a:r>
              <a:rPr lang="en-US" sz="1100" i="1" dirty="0">
                <a:solidFill>
                  <a:srgbClr val="F3F6FB"/>
                </a:solidFill>
                <a:latin typeface="Calibri" pitchFamily="34" charset="0"/>
                <a:ea typeface="Calibri" pitchFamily="34" charset="-122"/>
                <a:cs typeface="Calibri" pitchFamily="34" charset="-120"/>
              </a:rPr>
              <a:t>A locator identifies an element on the webpage. The Page Object uses these locators to interact with the application.</a:t>
            </a:r>
            <a:endParaRPr lang="en-US" sz="1100" dirty="0"/>
          </a:p>
        </p:txBody>
      </p:sp>
      <p:sp>
        <p:nvSpPr>
          <p:cNvPr id="10" name="Shape 8"/>
          <p:cNvSpPr/>
          <p:nvPr/>
        </p:nvSpPr>
        <p:spPr>
          <a:xfrm>
            <a:off x="722376" y="2843784"/>
            <a:ext cx="329184" cy="329184"/>
          </a:xfrm>
          <a:prstGeom prst="ellipse">
            <a:avLst/>
          </a:prstGeom>
          <a:solidFill>
            <a:srgbClr val="101A30"/>
          </a:solidFill>
          <a:ln w="19050">
            <a:solidFill>
              <a:srgbClr val="B18CF5"/>
            </a:solidFill>
            <a:prstDash val="solid"/>
          </a:ln>
        </p:spPr>
      </p:sp>
      <p:sp>
        <p:nvSpPr>
          <p:cNvPr id="11" name="Text 9"/>
          <p:cNvSpPr/>
          <p:nvPr/>
        </p:nvSpPr>
        <p:spPr>
          <a:xfrm>
            <a:off x="722376" y="284378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12" name="Text 10"/>
          <p:cNvSpPr/>
          <p:nvPr/>
        </p:nvSpPr>
        <p:spPr>
          <a:xfrm>
            <a:off x="1143000" y="2788920"/>
            <a:ext cx="1874520" cy="4572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Username field</a:t>
            </a:r>
            <a:endParaRPr lang="en-US" sz="1150" dirty="0"/>
          </a:p>
        </p:txBody>
      </p:sp>
      <p:sp>
        <p:nvSpPr>
          <p:cNvPr id="13" name="Shape 11"/>
          <p:cNvSpPr/>
          <p:nvPr/>
        </p:nvSpPr>
        <p:spPr>
          <a:xfrm>
            <a:off x="3328416" y="2843784"/>
            <a:ext cx="329184" cy="329184"/>
          </a:xfrm>
          <a:prstGeom prst="ellipse">
            <a:avLst/>
          </a:prstGeom>
          <a:solidFill>
            <a:srgbClr val="101A30"/>
          </a:solidFill>
          <a:ln w="19050">
            <a:solidFill>
              <a:srgbClr val="B18CF5"/>
            </a:solidFill>
            <a:prstDash val="solid"/>
          </a:ln>
        </p:spPr>
      </p:sp>
      <p:sp>
        <p:nvSpPr>
          <p:cNvPr id="14" name="Text 12"/>
          <p:cNvSpPr/>
          <p:nvPr/>
        </p:nvSpPr>
        <p:spPr>
          <a:xfrm>
            <a:off x="3328416" y="284378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15" name="Text 13"/>
          <p:cNvSpPr/>
          <p:nvPr/>
        </p:nvSpPr>
        <p:spPr>
          <a:xfrm>
            <a:off x="3749040" y="2788920"/>
            <a:ext cx="1874520" cy="4572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Password field</a:t>
            </a:r>
            <a:endParaRPr lang="en-US" sz="1150" dirty="0"/>
          </a:p>
        </p:txBody>
      </p:sp>
      <p:sp>
        <p:nvSpPr>
          <p:cNvPr id="16" name="Shape 14"/>
          <p:cNvSpPr/>
          <p:nvPr/>
        </p:nvSpPr>
        <p:spPr>
          <a:xfrm>
            <a:off x="722376" y="3300984"/>
            <a:ext cx="329184" cy="329184"/>
          </a:xfrm>
          <a:prstGeom prst="ellipse">
            <a:avLst/>
          </a:prstGeom>
          <a:solidFill>
            <a:srgbClr val="101A30"/>
          </a:solidFill>
          <a:ln w="19050">
            <a:solidFill>
              <a:srgbClr val="B18CF5"/>
            </a:solidFill>
            <a:prstDash val="solid"/>
          </a:ln>
        </p:spPr>
      </p:sp>
      <p:sp>
        <p:nvSpPr>
          <p:cNvPr id="17" name="Text 15"/>
          <p:cNvSpPr/>
          <p:nvPr/>
        </p:nvSpPr>
        <p:spPr>
          <a:xfrm>
            <a:off x="722376" y="330098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18" name="Text 16"/>
          <p:cNvSpPr/>
          <p:nvPr/>
        </p:nvSpPr>
        <p:spPr>
          <a:xfrm>
            <a:off x="1143000" y="3246120"/>
            <a:ext cx="1874520" cy="4572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Login button</a:t>
            </a:r>
            <a:endParaRPr lang="en-US" sz="1150" dirty="0"/>
          </a:p>
        </p:txBody>
      </p:sp>
      <p:sp>
        <p:nvSpPr>
          <p:cNvPr id="19" name="Shape 17"/>
          <p:cNvSpPr/>
          <p:nvPr/>
        </p:nvSpPr>
        <p:spPr>
          <a:xfrm>
            <a:off x="3328416" y="3300984"/>
            <a:ext cx="329184" cy="329184"/>
          </a:xfrm>
          <a:prstGeom prst="ellipse">
            <a:avLst/>
          </a:prstGeom>
          <a:solidFill>
            <a:srgbClr val="101A30"/>
          </a:solidFill>
          <a:ln w="19050">
            <a:solidFill>
              <a:srgbClr val="B18CF5"/>
            </a:solidFill>
            <a:prstDash val="solid"/>
          </a:ln>
        </p:spPr>
      </p:sp>
      <p:sp>
        <p:nvSpPr>
          <p:cNvPr id="20" name="Text 18"/>
          <p:cNvSpPr/>
          <p:nvPr/>
        </p:nvSpPr>
        <p:spPr>
          <a:xfrm>
            <a:off x="3328416" y="330098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21" name="Text 19"/>
          <p:cNvSpPr/>
          <p:nvPr/>
        </p:nvSpPr>
        <p:spPr>
          <a:xfrm>
            <a:off x="3749040" y="3246120"/>
            <a:ext cx="1874520" cy="4572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Search box</a:t>
            </a:r>
            <a:endParaRPr lang="en-US" sz="1150" dirty="0"/>
          </a:p>
        </p:txBody>
      </p:sp>
      <p:sp>
        <p:nvSpPr>
          <p:cNvPr id="22" name="Shape 20"/>
          <p:cNvSpPr/>
          <p:nvPr/>
        </p:nvSpPr>
        <p:spPr>
          <a:xfrm>
            <a:off x="722376" y="3758184"/>
            <a:ext cx="329184" cy="329184"/>
          </a:xfrm>
          <a:prstGeom prst="ellipse">
            <a:avLst/>
          </a:prstGeom>
          <a:solidFill>
            <a:srgbClr val="101A30"/>
          </a:solidFill>
          <a:ln w="19050">
            <a:solidFill>
              <a:srgbClr val="B18CF5"/>
            </a:solidFill>
            <a:prstDash val="solid"/>
          </a:ln>
        </p:spPr>
      </p:sp>
      <p:sp>
        <p:nvSpPr>
          <p:cNvPr id="23" name="Text 21"/>
          <p:cNvSpPr/>
          <p:nvPr/>
        </p:nvSpPr>
        <p:spPr>
          <a:xfrm>
            <a:off x="722376" y="375818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24" name="Text 22"/>
          <p:cNvSpPr/>
          <p:nvPr/>
        </p:nvSpPr>
        <p:spPr>
          <a:xfrm>
            <a:off x="1143000" y="3703320"/>
            <a:ext cx="1874520" cy="4572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Submit button</a:t>
            </a:r>
            <a:endParaRPr lang="en-US" sz="1150" dirty="0"/>
          </a:p>
        </p:txBody>
      </p:sp>
      <p:sp>
        <p:nvSpPr>
          <p:cNvPr id="25" name="Shape 23"/>
          <p:cNvSpPr/>
          <p:nvPr/>
        </p:nvSpPr>
        <p:spPr>
          <a:xfrm>
            <a:off x="1417320" y="4251960"/>
            <a:ext cx="3474720" cy="329184"/>
          </a:xfrm>
          <a:prstGeom prst="roundRect">
            <a:avLst>
              <a:gd name="adj" fmla="val 22222"/>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1554480" y="4251960"/>
            <a:ext cx="3200400" cy="329184"/>
          </a:xfrm>
          <a:prstGeom prst="rect">
            <a:avLst/>
          </a:prstGeom>
          <a:noFill/>
          <a:ln/>
        </p:spPr>
        <p:txBody>
          <a:bodyPr wrap="square" rtlCol="0" anchor="ctr"/>
          <a:lstStyle/>
          <a:p>
            <a:pPr algn="ctr" indent="0" marL="0">
              <a:buNone/>
            </a:pPr>
            <a:r>
              <a:rPr lang="en-US" sz="1050" b="1" dirty="0">
                <a:solidFill>
                  <a:srgbClr val="F3F6FB"/>
                </a:solidFill>
                <a:latin typeface="Calibri" pitchFamily="34" charset="0"/>
                <a:ea typeface="Calibri" pitchFamily="34" charset="-122"/>
                <a:cs typeface="Calibri" pitchFamily="34" charset="-120"/>
              </a:rPr>
              <a:t>Test Script</a:t>
            </a:r>
            <a:endParaRPr lang="en-US" sz="1050" dirty="0"/>
          </a:p>
        </p:txBody>
      </p:sp>
      <p:sp>
        <p:nvSpPr>
          <p:cNvPr id="27" name="Shape 25"/>
          <p:cNvSpPr/>
          <p:nvPr/>
        </p:nvSpPr>
        <p:spPr>
          <a:xfrm>
            <a:off x="3154680" y="4608576"/>
            <a:ext cx="914" cy="36576"/>
          </a:xfrm>
          <a:prstGeom prst="line">
            <a:avLst/>
          </a:prstGeom>
          <a:noFill/>
          <a:ln w="25400">
            <a:solidFill>
              <a:srgbClr val="B18CF5"/>
            </a:solidFill>
            <a:prstDash val="solid"/>
            <a:tailEnd type="triangle"/>
          </a:ln>
        </p:spPr>
      </p:sp>
      <p:sp>
        <p:nvSpPr>
          <p:cNvPr id="28" name="Shape 26"/>
          <p:cNvSpPr/>
          <p:nvPr/>
        </p:nvSpPr>
        <p:spPr>
          <a:xfrm>
            <a:off x="1417320" y="4672584"/>
            <a:ext cx="3474720" cy="329184"/>
          </a:xfrm>
          <a:prstGeom prst="roundRect">
            <a:avLst>
              <a:gd name="adj" fmla="val 22222"/>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9" name="Text 27"/>
          <p:cNvSpPr/>
          <p:nvPr/>
        </p:nvSpPr>
        <p:spPr>
          <a:xfrm>
            <a:off x="1554480" y="4672584"/>
            <a:ext cx="3200400" cy="329184"/>
          </a:xfrm>
          <a:prstGeom prst="rect">
            <a:avLst/>
          </a:prstGeom>
          <a:noFill/>
          <a:ln/>
        </p:spPr>
        <p:txBody>
          <a:bodyPr wrap="square" rtlCol="0" anchor="ctr"/>
          <a:lstStyle/>
          <a:p>
            <a:pPr algn="ctr" indent="0" marL="0">
              <a:buNone/>
            </a:pPr>
            <a:r>
              <a:rPr lang="en-US" sz="1050" b="1" dirty="0">
                <a:solidFill>
                  <a:srgbClr val="F3F6FB"/>
                </a:solidFill>
                <a:latin typeface="Calibri" pitchFamily="34" charset="0"/>
                <a:ea typeface="Calibri" pitchFamily="34" charset="-122"/>
                <a:cs typeface="Calibri" pitchFamily="34" charset="-120"/>
              </a:rPr>
              <a:t>Page Object</a:t>
            </a:r>
            <a:endParaRPr lang="en-US" sz="1050" dirty="0"/>
          </a:p>
        </p:txBody>
      </p:sp>
      <p:sp>
        <p:nvSpPr>
          <p:cNvPr id="30" name="Shape 28"/>
          <p:cNvSpPr/>
          <p:nvPr/>
        </p:nvSpPr>
        <p:spPr>
          <a:xfrm>
            <a:off x="3154680" y="5029200"/>
            <a:ext cx="914" cy="36576"/>
          </a:xfrm>
          <a:prstGeom prst="line">
            <a:avLst/>
          </a:prstGeom>
          <a:noFill/>
          <a:ln w="25400">
            <a:solidFill>
              <a:srgbClr val="B18CF5"/>
            </a:solidFill>
            <a:prstDash val="solid"/>
            <a:tailEnd type="triangle"/>
          </a:ln>
        </p:spPr>
      </p:sp>
      <p:sp>
        <p:nvSpPr>
          <p:cNvPr id="31" name="Shape 29"/>
          <p:cNvSpPr/>
          <p:nvPr/>
        </p:nvSpPr>
        <p:spPr>
          <a:xfrm>
            <a:off x="1417320" y="5093208"/>
            <a:ext cx="3474720" cy="329184"/>
          </a:xfrm>
          <a:prstGeom prst="roundRect">
            <a:avLst>
              <a:gd name="adj" fmla="val 22222"/>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2" name="Text 30"/>
          <p:cNvSpPr/>
          <p:nvPr/>
        </p:nvSpPr>
        <p:spPr>
          <a:xfrm>
            <a:off x="1554480" y="5093208"/>
            <a:ext cx="3200400" cy="329184"/>
          </a:xfrm>
          <a:prstGeom prst="rect">
            <a:avLst/>
          </a:prstGeom>
          <a:noFill/>
          <a:ln/>
        </p:spPr>
        <p:txBody>
          <a:bodyPr wrap="square" rtlCol="0" anchor="ctr"/>
          <a:lstStyle/>
          <a:p>
            <a:pPr algn="ctr" indent="0" marL="0">
              <a:buNone/>
            </a:pPr>
            <a:r>
              <a:rPr lang="en-US" sz="1050" b="1" dirty="0">
                <a:solidFill>
                  <a:srgbClr val="F3F6FB"/>
                </a:solidFill>
                <a:latin typeface="Calibri" pitchFamily="34" charset="0"/>
                <a:ea typeface="Calibri" pitchFamily="34" charset="-122"/>
                <a:cs typeface="Calibri" pitchFamily="34" charset="-120"/>
              </a:rPr>
              <a:t>Locator</a:t>
            </a:r>
            <a:endParaRPr lang="en-US" sz="1050" dirty="0"/>
          </a:p>
        </p:txBody>
      </p:sp>
      <p:sp>
        <p:nvSpPr>
          <p:cNvPr id="33" name="Shape 31"/>
          <p:cNvSpPr/>
          <p:nvPr/>
        </p:nvSpPr>
        <p:spPr>
          <a:xfrm>
            <a:off x="3154680" y="5449824"/>
            <a:ext cx="914" cy="36576"/>
          </a:xfrm>
          <a:prstGeom prst="line">
            <a:avLst/>
          </a:prstGeom>
          <a:noFill/>
          <a:ln w="25400">
            <a:solidFill>
              <a:srgbClr val="B18CF5"/>
            </a:solidFill>
            <a:prstDash val="solid"/>
            <a:tailEnd type="triangle"/>
          </a:ln>
        </p:spPr>
      </p:sp>
      <p:sp>
        <p:nvSpPr>
          <p:cNvPr id="34" name="Shape 32"/>
          <p:cNvSpPr/>
          <p:nvPr/>
        </p:nvSpPr>
        <p:spPr>
          <a:xfrm>
            <a:off x="1417320" y="5513832"/>
            <a:ext cx="3474720" cy="329184"/>
          </a:xfrm>
          <a:prstGeom prst="roundRect">
            <a:avLst>
              <a:gd name="adj" fmla="val 22222"/>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5" name="Text 33"/>
          <p:cNvSpPr/>
          <p:nvPr/>
        </p:nvSpPr>
        <p:spPr>
          <a:xfrm>
            <a:off x="1554480" y="5513832"/>
            <a:ext cx="3200400" cy="329184"/>
          </a:xfrm>
          <a:prstGeom prst="rect">
            <a:avLst/>
          </a:prstGeom>
          <a:noFill/>
          <a:ln/>
        </p:spPr>
        <p:txBody>
          <a:bodyPr wrap="square" rtlCol="0" anchor="ctr"/>
          <a:lstStyle/>
          <a:p>
            <a:pPr algn="ctr" indent="0" marL="0">
              <a:buNone/>
            </a:pPr>
            <a:r>
              <a:rPr lang="en-US" sz="1050" b="1" dirty="0">
                <a:solidFill>
                  <a:srgbClr val="F3F6FB"/>
                </a:solidFill>
                <a:latin typeface="Calibri" pitchFamily="34" charset="0"/>
                <a:ea typeface="Calibri" pitchFamily="34" charset="-122"/>
                <a:cs typeface="Calibri" pitchFamily="34" charset="-120"/>
              </a:rPr>
              <a:t>Web Element</a:t>
            </a:r>
            <a:endParaRPr lang="en-US" sz="1050" dirty="0"/>
          </a:p>
        </p:txBody>
      </p:sp>
      <p:sp>
        <p:nvSpPr>
          <p:cNvPr id="36" name="Shape 34"/>
          <p:cNvSpPr/>
          <p:nvPr/>
        </p:nvSpPr>
        <p:spPr>
          <a:xfrm>
            <a:off x="6172200" y="1645920"/>
            <a:ext cx="5532120" cy="2423160"/>
          </a:xfrm>
          <a:prstGeom prst="roundRect">
            <a:avLst>
              <a:gd name="adj" fmla="val 3019"/>
            </a:avLst>
          </a:prstGeom>
          <a:solidFill>
            <a:srgbClr val="101A30"/>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7" name="Text 35"/>
          <p:cNvSpPr/>
          <p:nvPr/>
        </p:nvSpPr>
        <p:spPr>
          <a:xfrm>
            <a:off x="6400800" y="1783080"/>
            <a:ext cx="5029200" cy="274320"/>
          </a:xfrm>
          <a:prstGeom prst="rect">
            <a:avLst/>
          </a:prstGeom>
          <a:noFill/>
          <a:ln/>
        </p:spPr>
        <p:txBody>
          <a:bodyPr wrap="square" rtlCol="0" anchor="ctr"/>
          <a:lstStyle/>
          <a:p>
            <a:pPr indent="0" marL="0">
              <a:buNone/>
            </a:pPr>
            <a:r>
              <a:rPr lang="en-US" sz="1200" b="1" spc="100" kern="0" dirty="0">
                <a:solidFill>
                  <a:srgbClr val="B18CF5"/>
                </a:solidFill>
                <a:latin typeface="Calibri" pitchFamily="34" charset="0"/>
                <a:ea typeface="Calibri" pitchFamily="34" charset="-122"/>
                <a:cs typeface="Calibri" pitchFamily="34" charset="-120"/>
              </a:rPr>
              <a:t>UTILITIES / HELPERS</a:t>
            </a:r>
            <a:endParaRPr lang="en-US" sz="1200" dirty="0"/>
          </a:p>
        </p:txBody>
      </p:sp>
      <p:sp>
        <p:nvSpPr>
          <p:cNvPr id="38" name="Shape 36"/>
          <p:cNvSpPr/>
          <p:nvPr/>
        </p:nvSpPr>
        <p:spPr>
          <a:xfrm>
            <a:off x="6437376" y="2176272"/>
            <a:ext cx="329184" cy="329184"/>
          </a:xfrm>
          <a:prstGeom prst="ellipse">
            <a:avLst/>
          </a:prstGeom>
          <a:solidFill>
            <a:srgbClr val="101A30"/>
          </a:solidFill>
          <a:ln w="19050">
            <a:solidFill>
              <a:srgbClr val="B18CF5"/>
            </a:solidFill>
            <a:prstDash val="solid"/>
          </a:ln>
        </p:spPr>
      </p:sp>
      <p:sp>
        <p:nvSpPr>
          <p:cNvPr id="39" name="Text 37"/>
          <p:cNvSpPr/>
          <p:nvPr/>
        </p:nvSpPr>
        <p:spPr>
          <a:xfrm>
            <a:off x="6437376" y="217627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40" name="Text 38"/>
          <p:cNvSpPr/>
          <p:nvPr/>
        </p:nvSpPr>
        <p:spPr>
          <a:xfrm>
            <a:off x="6858000" y="2121408"/>
            <a:ext cx="1943100" cy="41148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Common navigation</a:t>
            </a:r>
            <a:endParaRPr lang="en-US" sz="1150" dirty="0"/>
          </a:p>
        </p:txBody>
      </p:sp>
      <p:sp>
        <p:nvSpPr>
          <p:cNvPr id="41" name="Shape 39"/>
          <p:cNvSpPr/>
          <p:nvPr/>
        </p:nvSpPr>
        <p:spPr>
          <a:xfrm>
            <a:off x="9111996" y="2176272"/>
            <a:ext cx="329184" cy="329184"/>
          </a:xfrm>
          <a:prstGeom prst="ellipse">
            <a:avLst/>
          </a:prstGeom>
          <a:solidFill>
            <a:srgbClr val="101A30"/>
          </a:solidFill>
          <a:ln w="19050">
            <a:solidFill>
              <a:srgbClr val="B18CF5"/>
            </a:solidFill>
            <a:prstDash val="solid"/>
          </a:ln>
        </p:spPr>
      </p:sp>
      <p:sp>
        <p:nvSpPr>
          <p:cNvPr id="42" name="Text 40"/>
          <p:cNvSpPr/>
          <p:nvPr/>
        </p:nvSpPr>
        <p:spPr>
          <a:xfrm>
            <a:off x="9111996" y="217627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43" name="Text 41"/>
          <p:cNvSpPr/>
          <p:nvPr/>
        </p:nvSpPr>
        <p:spPr>
          <a:xfrm>
            <a:off x="9532620" y="2121408"/>
            <a:ext cx="1943100" cy="41148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Data generation</a:t>
            </a:r>
            <a:endParaRPr lang="en-US" sz="1150" dirty="0"/>
          </a:p>
        </p:txBody>
      </p:sp>
      <p:sp>
        <p:nvSpPr>
          <p:cNvPr id="44" name="Shape 42"/>
          <p:cNvSpPr/>
          <p:nvPr/>
        </p:nvSpPr>
        <p:spPr>
          <a:xfrm>
            <a:off x="6437376" y="2587752"/>
            <a:ext cx="329184" cy="329184"/>
          </a:xfrm>
          <a:prstGeom prst="ellipse">
            <a:avLst/>
          </a:prstGeom>
          <a:solidFill>
            <a:srgbClr val="101A30"/>
          </a:solidFill>
          <a:ln w="19050">
            <a:solidFill>
              <a:srgbClr val="B18CF5"/>
            </a:solidFill>
            <a:prstDash val="solid"/>
          </a:ln>
        </p:spPr>
      </p:sp>
      <p:sp>
        <p:nvSpPr>
          <p:cNvPr id="45" name="Text 43"/>
          <p:cNvSpPr/>
          <p:nvPr/>
        </p:nvSpPr>
        <p:spPr>
          <a:xfrm>
            <a:off x="6437376" y="258775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46" name="Text 44"/>
          <p:cNvSpPr/>
          <p:nvPr/>
        </p:nvSpPr>
        <p:spPr>
          <a:xfrm>
            <a:off x="6858000" y="2532888"/>
            <a:ext cx="1943100" cy="41148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Date handling</a:t>
            </a:r>
            <a:endParaRPr lang="en-US" sz="1150" dirty="0"/>
          </a:p>
        </p:txBody>
      </p:sp>
      <p:sp>
        <p:nvSpPr>
          <p:cNvPr id="47" name="Shape 45"/>
          <p:cNvSpPr/>
          <p:nvPr/>
        </p:nvSpPr>
        <p:spPr>
          <a:xfrm>
            <a:off x="9111996" y="2587752"/>
            <a:ext cx="329184" cy="329184"/>
          </a:xfrm>
          <a:prstGeom prst="ellipse">
            <a:avLst/>
          </a:prstGeom>
          <a:solidFill>
            <a:srgbClr val="101A30"/>
          </a:solidFill>
          <a:ln w="19050">
            <a:solidFill>
              <a:srgbClr val="B18CF5"/>
            </a:solidFill>
            <a:prstDash val="solid"/>
          </a:ln>
        </p:spPr>
      </p:sp>
      <p:sp>
        <p:nvSpPr>
          <p:cNvPr id="48" name="Text 46"/>
          <p:cNvSpPr/>
          <p:nvPr/>
        </p:nvSpPr>
        <p:spPr>
          <a:xfrm>
            <a:off x="9111996" y="258775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49" name="Text 47"/>
          <p:cNvSpPr/>
          <p:nvPr/>
        </p:nvSpPr>
        <p:spPr>
          <a:xfrm>
            <a:off x="9532620" y="2532888"/>
            <a:ext cx="1943100" cy="41148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Reusable API/helper functions</a:t>
            </a:r>
            <a:endParaRPr lang="en-US" sz="1150" dirty="0"/>
          </a:p>
        </p:txBody>
      </p:sp>
      <p:sp>
        <p:nvSpPr>
          <p:cNvPr id="50" name="Shape 48"/>
          <p:cNvSpPr/>
          <p:nvPr/>
        </p:nvSpPr>
        <p:spPr>
          <a:xfrm>
            <a:off x="6437376" y="2999232"/>
            <a:ext cx="329184" cy="329184"/>
          </a:xfrm>
          <a:prstGeom prst="ellipse">
            <a:avLst/>
          </a:prstGeom>
          <a:solidFill>
            <a:srgbClr val="101A30"/>
          </a:solidFill>
          <a:ln w="19050">
            <a:solidFill>
              <a:srgbClr val="B18CF5"/>
            </a:solidFill>
            <a:prstDash val="solid"/>
          </a:ln>
        </p:spPr>
      </p:sp>
      <p:sp>
        <p:nvSpPr>
          <p:cNvPr id="51" name="Text 49"/>
          <p:cNvSpPr/>
          <p:nvPr/>
        </p:nvSpPr>
        <p:spPr>
          <a:xfrm>
            <a:off x="6437376" y="299923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52" name="Text 50"/>
          <p:cNvSpPr/>
          <p:nvPr/>
        </p:nvSpPr>
        <p:spPr>
          <a:xfrm>
            <a:off x="6858000" y="2944368"/>
            <a:ext cx="1943100" cy="41148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Common validation methods</a:t>
            </a:r>
            <a:endParaRPr lang="en-US" sz="1150" dirty="0"/>
          </a:p>
        </p:txBody>
      </p:sp>
      <p:sp>
        <p:nvSpPr>
          <p:cNvPr id="53" name="Shape 51"/>
          <p:cNvSpPr/>
          <p:nvPr/>
        </p:nvSpPr>
        <p:spPr>
          <a:xfrm>
            <a:off x="9111996" y="2999232"/>
            <a:ext cx="329184" cy="329184"/>
          </a:xfrm>
          <a:prstGeom prst="ellipse">
            <a:avLst/>
          </a:prstGeom>
          <a:solidFill>
            <a:srgbClr val="101A30"/>
          </a:solidFill>
          <a:ln w="19050">
            <a:solidFill>
              <a:srgbClr val="B18CF5"/>
            </a:solidFill>
            <a:prstDash val="solid"/>
          </a:ln>
        </p:spPr>
      </p:sp>
      <p:sp>
        <p:nvSpPr>
          <p:cNvPr id="54" name="Text 52"/>
          <p:cNvSpPr/>
          <p:nvPr/>
        </p:nvSpPr>
        <p:spPr>
          <a:xfrm>
            <a:off x="9111996" y="2999232"/>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55" name="Text 53"/>
          <p:cNvSpPr/>
          <p:nvPr/>
        </p:nvSpPr>
        <p:spPr>
          <a:xfrm>
            <a:off x="9532620" y="2944368"/>
            <a:ext cx="1943100" cy="41148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Screenshot/helper functions</a:t>
            </a:r>
            <a:endParaRPr lang="en-US" sz="1150" dirty="0"/>
          </a:p>
        </p:txBody>
      </p:sp>
      <p:sp>
        <p:nvSpPr>
          <p:cNvPr id="56" name="Text 54"/>
          <p:cNvSpPr/>
          <p:nvPr/>
        </p:nvSpPr>
        <p:spPr>
          <a:xfrm>
            <a:off x="6400800" y="3429000"/>
            <a:ext cx="5074920" cy="502920"/>
          </a:xfrm>
          <a:prstGeom prst="rect">
            <a:avLst/>
          </a:prstGeom>
          <a:noFill/>
          <a:ln/>
        </p:spPr>
        <p:txBody>
          <a:bodyPr wrap="square" rtlCol="0" anchor="ctr"/>
          <a:lstStyle/>
          <a:p>
            <a:pPr indent="0" marL="0">
              <a:buNone/>
            </a:pPr>
            <a:r>
              <a:rPr lang="en-US" sz="1050" i="1" dirty="0">
                <a:solidFill>
                  <a:srgbClr val="97A3BE"/>
                </a:solidFill>
                <a:latin typeface="Calibri" pitchFamily="34" charset="0"/>
                <a:ea typeface="Calibri" pitchFamily="34" charset="-122"/>
                <a:cs typeface="Calibri" pitchFamily="34" charset="-120"/>
              </a:rPr>
              <a:t>Test 1, Test 2, Test 3  →  Common Utility  (reduces duplicate code)</a:t>
            </a:r>
            <a:endParaRPr lang="en-US" sz="1050" dirty="0"/>
          </a:p>
        </p:txBody>
      </p:sp>
      <p:sp>
        <p:nvSpPr>
          <p:cNvPr id="57" name="Shape 55"/>
          <p:cNvSpPr/>
          <p:nvPr/>
        </p:nvSpPr>
        <p:spPr>
          <a:xfrm>
            <a:off x="6172200" y="4206240"/>
            <a:ext cx="5532120" cy="2514600"/>
          </a:xfrm>
          <a:prstGeom prst="roundRect">
            <a:avLst>
              <a:gd name="adj" fmla="val 2909"/>
            </a:avLst>
          </a:prstGeom>
          <a:solidFill>
            <a:srgbClr val="3D3117"/>
          </a:solidFill>
          <a:ln w="16510">
            <a:solidFill>
              <a:srgbClr val="F5B942"/>
            </a:solidFill>
            <a:prstDash val="solid"/>
          </a:ln>
          <a:effectLst>
            <a:outerShdw sx="100000" sy="100000" kx="0" ky="0" algn="bl" rotWithShape="0" blurRad="101600" dist="38100" dir="5400000">
              <a:srgbClr val="000000">
                <a:alpha val="45000"/>
              </a:srgbClr>
            </a:outerShdw>
          </a:effectLst>
        </p:spPr>
      </p:sp>
      <p:sp>
        <p:nvSpPr>
          <p:cNvPr id="58" name="Text 56"/>
          <p:cNvSpPr/>
          <p:nvPr/>
        </p:nvSpPr>
        <p:spPr>
          <a:xfrm>
            <a:off x="6400800" y="4325112"/>
            <a:ext cx="5029200" cy="292608"/>
          </a:xfrm>
          <a:prstGeom prst="rect">
            <a:avLst/>
          </a:prstGeom>
          <a:noFill/>
          <a:ln/>
        </p:spPr>
        <p:txBody>
          <a:bodyPr wrap="square" rtlCol="0" anchor="ctr"/>
          <a:lstStyle/>
          <a:p>
            <a:pPr indent="0" marL="0">
              <a:buNone/>
            </a:pPr>
            <a:r>
              <a:rPr lang="en-US" sz="1200" b="1" spc="100" kern="0" dirty="0">
                <a:solidFill>
                  <a:srgbClr val="F5B942"/>
                </a:solidFill>
                <a:latin typeface="Calibri" pitchFamily="34" charset="0"/>
                <a:ea typeface="Calibri" pitchFamily="34" charset="-122"/>
                <a:cs typeface="Calibri" pitchFamily="34" charset="-120"/>
              </a:rPr>
              <a:t>FIXTURES  ⭐⭐</a:t>
            </a:r>
            <a:endParaRPr lang="en-US" sz="1200" dirty="0"/>
          </a:p>
        </p:txBody>
      </p:sp>
      <p:sp>
        <p:nvSpPr>
          <p:cNvPr id="59" name="Text 57"/>
          <p:cNvSpPr/>
          <p:nvPr/>
        </p:nvSpPr>
        <p:spPr>
          <a:xfrm>
            <a:off x="6400800" y="4645152"/>
            <a:ext cx="5074920" cy="365760"/>
          </a:xfrm>
          <a:prstGeom prst="rect">
            <a:avLst/>
          </a:prstGeom>
          <a:noFill/>
          <a:ln/>
        </p:spPr>
        <p:txBody>
          <a:bodyPr wrap="square" rtlCol="0" anchor="ctr"/>
          <a:lstStyle/>
          <a:p>
            <a:pPr indent="0" marL="0">
              <a:buNone/>
            </a:pPr>
            <a:r>
              <a:rPr lang="en-US" sz="1100" b="1" dirty="0">
                <a:solidFill>
                  <a:srgbClr val="F5B942"/>
                </a:solidFill>
                <a:latin typeface="Calibri" pitchFamily="34" charset="0"/>
                <a:ea typeface="Calibri" pitchFamily="34" charset="-122"/>
                <a:cs typeface="Calibri" pitchFamily="34" charset="-120"/>
              </a:rPr>
              <a:t>Fixture  →  Browser/Page Setup  →  Test  →  Cleanup</a:t>
            </a:r>
            <a:endParaRPr lang="en-US" sz="1100" dirty="0"/>
          </a:p>
        </p:txBody>
      </p:sp>
      <p:sp>
        <p:nvSpPr>
          <p:cNvPr id="60" name="Text 58"/>
          <p:cNvSpPr/>
          <p:nvPr/>
        </p:nvSpPr>
        <p:spPr>
          <a:xfrm>
            <a:off x="6400800" y="5074920"/>
            <a:ext cx="5074920" cy="1508760"/>
          </a:xfrm>
          <a:prstGeom prst="rect">
            <a:avLst/>
          </a:prstGeom>
          <a:noFill/>
          <a:ln/>
        </p:spPr>
        <p:txBody>
          <a:bodyPr wrap="square" rtlCol="0" anchor="t"/>
          <a:lstStyle/>
          <a:p>
            <a:pPr indent="0" marL="0">
              <a:lnSpc>
                <a:spcPct val="125000"/>
              </a:lnSpc>
              <a:buNone/>
            </a:pPr>
            <a:r>
              <a:rPr lang="en-US" sz="1100" i="1" dirty="0">
                <a:solidFill>
                  <a:srgbClr val="F3F6FB"/>
                </a:solidFill>
                <a:latin typeface="Calibri" pitchFamily="34" charset="0"/>
                <a:ea typeface="Calibri" pitchFamily="34" charset="-122"/>
                <a:cs typeface="Calibri" pitchFamily="34" charset="-120"/>
              </a:rPr>
              <a:t>“Fixtures provide reusable test setup and dependencies to test cases, so we don't repeat the same setup logic in every test.”</a:t>
            </a:r>
            <a:endParaRPr lang="en-US" sz="1100" dirty="0"/>
          </a:p>
        </p:txBody>
      </p:sp>
      <p:sp>
        <p:nvSpPr>
          <p:cNvPr id="61" name="Text 59"/>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62" name="Text 60"/>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63" name="Text 61"/>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Configuration, Test Data &amp; Framework Relationship</a:t>
            </a:r>
            <a:endParaRPr lang="en-US" sz="3000" dirty="0"/>
          </a:p>
        </p:txBody>
      </p:sp>
      <p:sp>
        <p:nvSpPr>
          <p:cNvPr id="7" name="Shape 5"/>
          <p:cNvSpPr/>
          <p:nvPr/>
        </p:nvSpPr>
        <p:spPr>
          <a:xfrm>
            <a:off x="1920240" y="1600200"/>
            <a:ext cx="2560320" cy="292608"/>
          </a:xfrm>
          <a:prstGeom prst="roundRect">
            <a:avLst>
              <a:gd name="adj" fmla="val 25000"/>
            </a:avLst>
          </a:prstGeom>
          <a:solidFill>
            <a:srgbClr val="18233F"/>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1965960" y="1600200"/>
            <a:ext cx="2468880" cy="292608"/>
          </a:xfrm>
          <a:prstGeom prst="rect">
            <a:avLst/>
          </a:prstGeom>
          <a:noFill/>
          <a:ln/>
        </p:spPr>
        <p:txBody>
          <a:bodyPr wrap="square" rtlCol="0" anchor="ctr"/>
          <a:lstStyle/>
          <a:p>
            <a:pPr algn="ctr" indent="0" marL="0">
              <a:buNone/>
            </a:pPr>
            <a:r>
              <a:rPr lang="en-US" sz="1100" b="1" dirty="0">
                <a:solidFill>
                  <a:srgbClr val="B18CF5"/>
                </a:solidFill>
                <a:latin typeface="Calibri" pitchFamily="34" charset="0"/>
                <a:ea typeface="Calibri" pitchFamily="34" charset="-122"/>
                <a:cs typeface="Calibri" pitchFamily="34" charset="-120"/>
              </a:rPr>
              <a:t>PLAYWRIGHT</a:t>
            </a:r>
            <a:endParaRPr lang="en-US" sz="1100" dirty="0"/>
          </a:p>
        </p:txBody>
      </p:sp>
      <p:sp>
        <p:nvSpPr>
          <p:cNvPr id="9" name="Shape 7"/>
          <p:cNvSpPr/>
          <p:nvPr/>
        </p:nvSpPr>
        <p:spPr>
          <a:xfrm>
            <a:off x="3200400" y="1892808"/>
            <a:ext cx="914" cy="73152"/>
          </a:xfrm>
          <a:prstGeom prst="line">
            <a:avLst/>
          </a:prstGeom>
          <a:noFill/>
          <a:ln w="25400">
            <a:solidFill>
              <a:srgbClr val="B18CF5"/>
            </a:solidFill>
            <a:prstDash val="solid"/>
            <a:tailEnd type="triangle"/>
          </a:ln>
        </p:spPr>
      </p:sp>
      <p:sp>
        <p:nvSpPr>
          <p:cNvPr id="10" name="Shape 8"/>
          <p:cNvSpPr/>
          <p:nvPr/>
        </p:nvSpPr>
        <p:spPr>
          <a:xfrm>
            <a:off x="960120" y="1965960"/>
            <a:ext cx="1371600" cy="292608"/>
          </a:xfrm>
          <a:prstGeom prst="roundRect">
            <a:avLst>
              <a:gd name="adj" fmla="val 25000"/>
            </a:avLst>
          </a:prstGeom>
          <a:solidFill>
            <a:srgbClr val="101A30"/>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1" name="Text 9"/>
          <p:cNvSpPr/>
          <p:nvPr/>
        </p:nvSpPr>
        <p:spPr>
          <a:xfrm>
            <a:off x="1005840" y="1965960"/>
            <a:ext cx="1280160" cy="292608"/>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Tests</a:t>
            </a:r>
            <a:endParaRPr lang="en-US" sz="950" dirty="0"/>
          </a:p>
        </p:txBody>
      </p:sp>
      <p:sp>
        <p:nvSpPr>
          <p:cNvPr id="12" name="Shape 10"/>
          <p:cNvSpPr/>
          <p:nvPr/>
        </p:nvSpPr>
        <p:spPr>
          <a:xfrm>
            <a:off x="3200400" y="1892808"/>
            <a:ext cx="-1554480" cy="73152"/>
          </a:xfrm>
          <a:prstGeom prst="line">
            <a:avLst/>
          </a:prstGeom>
          <a:noFill/>
          <a:ln w="13970">
            <a:solidFill>
              <a:srgbClr val="B18CF5"/>
            </a:solidFill>
            <a:prstDash val="solid"/>
          </a:ln>
        </p:spPr>
      </p:sp>
      <p:sp>
        <p:nvSpPr>
          <p:cNvPr id="13" name="Shape 11"/>
          <p:cNvSpPr/>
          <p:nvPr/>
        </p:nvSpPr>
        <p:spPr>
          <a:xfrm>
            <a:off x="2514600" y="1965960"/>
            <a:ext cx="1371600" cy="292608"/>
          </a:xfrm>
          <a:prstGeom prst="roundRect">
            <a:avLst>
              <a:gd name="adj" fmla="val 25000"/>
            </a:avLst>
          </a:prstGeom>
          <a:solidFill>
            <a:srgbClr val="101A30"/>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2560320" y="1965960"/>
            <a:ext cx="1280160" cy="292608"/>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Pages</a:t>
            </a:r>
            <a:endParaRPr lang="en-US" sz="950" dirty="0"/>
          </a:p>
        </p:txBody>
      </p:sp>
      <p:sp>
        <p:nvSpPr>
          <p:cNvPr id="15" name="Shape 13"/>
          <p:cNvSpPr/>
          <p:nvPr/>
        </p:nvSpPr>
        <p:spPr>
          <a:xfrm>
            <a:off x="3200400" y="1892808"/>
            <a:ext cx="0" cy="73152"/>
          </a:xfrm>
          <a:prstGeom prst="line">
            <a:avLst/>
          </a:prstGeom>
          <a:noFill/>
          <a:ln w="13970">
            <a:solidFill>
              <a:srgbClr val="B18CF5"/>
            </a:solidFill>
            <a:prstDash val="solid"/>
          </a:ln>
        </p:spPr>
      </p:sp>
      <p:sp>
        <p:nvSpPr>
          <p:cNvPr id="16" name="Shape 14"/>
          <p:cNvSpPr/>
          <p:nvPr/>
        </p:nvSpPr>
        <p:spPr>
          <a:xfrm>
            <a:off x="4069080" y="1965960"/>
            <a:ext cx="1371600" cy="292608"/>
          </a:xfrm>
          <a:prstGeom prst="roundRect">
            <a:avLst>
              <a:gd name="adj" fmla="val 25000"/>
            </a:avLst>
          </a:prstGeom>
          <a:solidFill>
            <a:srgbClr val="101A30"/>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4114800" y="1965960"/>
            <a:ext cx="1280160" cy="292608"/>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Fixtures</a:t>
            </a:r>
            <a:endParaRPr lang="en-US" sz="950" dirty="0"/>
          </a:p>
        </p:txBody>
      </p:sp>
      <p:sp>
        <p:nvSpPr>
          <p:cNvPr id="18" name="Shape 16"/>
          <p:cNvSpPr/>
          <p:nvPr/>
        </p:nvSpPr>
        <p:spPr>
          <a:xfrm>
            <a:off x="3200400" y="1892808"/>
            <a:ext cx="1554480" cy="73152"/>
          </a:xfrm>
          <a:prstGeom prst="line">
            <a:avLst/>
          </a:prstGeom>
          <a:noFill/>
          <a:ln w="13970">
            <a:solidFill>
              <a:srgbClr val="B18CF5"/>
            </a:solidFill>
            <a:prstDash val="solid"/>
          </a:ln>
        </p:spPr>
      </p:sp>
      <p:sp>
        <p:nvSpPr>
          <p:cNvPr id="19" name="Shape 17"/>
          <p:cNvSpPr/>
          <p:nvPr/>
        </p:nvSpPr>
        <p:spPr>
          <a:xfrm>
            <a:off x="1645920" y="2258568"/>
            <a:ext cx="914" cy="73152"/>
          </a:xfrm>
          <a:prstGeom prst="line">
            <a:avLst/>
          </a:prstGeom>
          <a:noFill/>
          <a:ln w="25400">
            <a:solidFill>
              <a:srgbClr val="B18CF5"/>
            </a:solidFill>
            <a:prstDash val="solid"/>
            <a:tailEnd type="triangle"/>
          </a:ln>
        </p:spPr>
      </p:sp>
      <p:sp>
        <p:nvSpPr>
          <p:cNvPr id="20" name="Shape 18"/>
          <p:cNvSpPr/>
          <p:nvPr/>
        </p:nvSpPr>
        <p:spPr>
          <a:xfrm>
            <a:off x="3200400" y="2258568"/>
            <a:ext cx="914" cy="73152"/>
          </a:xfrm>
          <a:prstGeom prst="line">
            <a:avLst/>
          </a:prstGeom>
          <a:noFill/>
          <a:ln w="25400">
            <a:solidFill>
              <a:srgbClr val="B18CF5"/>
            </a:solidFill>
            <a:prstDash val="solid"/>
            <a:tailEnd type="triangle"/>
          </a:ln>
        </p:spPr>
      </p:sp>
      <p:sp>
        <p:nvSpPr>
          <p:cNvPr id="21" name="Shape 19"/>
          <p:cNvSpPr/>
          <p:nvPr/>
        </p:nvSpPr>
        <p:spPr>
          <a:xfrm>
            <a:off x="868680" y="2331720"/>
            <a:ext cx="1554480" cy="292608"/>
          </a:xfrm>
          <a:prstGeom prst="roundRect">
            <a:avLst>
              <a:gd name="adj" fmla="val 25000"/>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2" name="Text 20"/>
          <p:cNvSpPr/>
          <p:nvPr/>
        </p:nvSpPr>
        <p:spPr>
          <a:xfrm>
            <a:off x="914400" y="2331720"/>
            <a:ext cx="1463040" cy="292608"/>
          </a:xfrm>
          <a:prstGeom prst="rect">
            <a:avLst/>
          </a:prstGeom>
          <a:noFill/>
          <a:ln/>
        </p:spPr>
        <p:txBody>
          <a:bodyPr wrap="square" rtlCol="0" anchor="ctr"/>
          <a:lstStyle/>
          <a:p>
            <a:pPr algn="ctr" indent="0" marL="0">
              <a:buNone/>
            </a:pPr>
            <a:r>
              <a:rPr lang="en-US" sz="900" b="1" dirty="0">
                <a:solidFill>
                  <a:srgbClr val="F3F6FB"/>
                </a:solidFill>
                <a:latin typeface="Calibri" pitchFamily="34" charset="0"/>
                <a:ea typeface="Calibri" pitchFamily="34" charset="-122"/>
                <a:cs typeface="Calibri" pitchFamily="34" charset="-120"/>
              </a:rPr>
              <a:t>Test Scripts</a:t>
            </a:r>
            <a:endParaRPr lang="en-US" sz="900" dirty="0"/>
          </a:p>
        </p:txBody>
      </p:sp>
      <p:sp>
        <p:nvSpPr>
          <p:cNvPr id="23" name="Shape 21"/>
          <p:cNvSpPr/>
          <p:nvPr/>
        </p:nvSpPr>
        <p:spPr>
          <a:xfrm>
            <a:off x="2423160" y="2331720"/>
            <a:ext cx="1554480" cy="292608"/>
          </a:xfrm>
          <a:prstGeom prst="roundRect">
            <a:avLst>
              <a:gd name="adj" fmla="val 25000"/>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4" name="Text 22"/>
          <p:cNvSpPr/>
          <p:nvPr/>
        </p:nvSpPr>
        <p:spPr>
          <a:xfrm>
            <a:off x="2468880" y="2331720"/>
            <a:ext cx="1463040" cy="292608"/>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POM</a:t>
            </a:r>
            <a:endParaRPr lang="en-US" sz="950" dirty="0"/>
          </a:p>
        </p:txBody>
      </p:sp>
      <p:sp>
        <p:nvSpPr>
          <p:cNvPr id="25" name="Shape 23"/>
          <p:cNvSpPr/>
          <p:nvPr/>
        </p:nvSpPr>
        <p:spPr>
          <a:xfrm>
            <a:off x="3200400" y="2624328"/>
            <a:ext cx="914" cy="73152"/>
          </a:xfrm>
          <a:prstGeom prst="line">
            <a:avLst/>
          </a:prstGeom>
          <a:noFill/>
          <a:ln w="25400">
            <a:solidFill>
              <a:srgbClr val="B18CF5"/>
            </a:solidFill>
            <a:prstDash val="solid"/>
            <a:tailEnd type="triangle"/>
          </a:ln>
        </p:spPr>
      </p:sp>
      <p:sp>
        <p:nvSpPr>
          <p:cNvPr id="26" name="Shape 24"/>
          <p:cNvSpPr/>
          <p:nvPr/>
        </p:nvSpPr>
        <p:spPr>
          <a:xfrm>
            <a:off x="2286000" y="2697480"/>
            <a:ext cx="1828800" cy="292608"/>
          </a:xfrm>
          <a:prstGeom prst="roundRect">
            <a:avLst>
              <a:gd name="adj" fmla="val 25000"/>
            </a:avLst>
          </a:prstGeom>
          <a:solidFill>
            <a:srgbClr val="101A30"/>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7" name="Text 25"/>
          <p:cNvSpPr/>
          <p:nvPr/>
        </p:nvSpPr>
        <p:spPr>
          <a:xfrm>
            <a:off x="2331720" y="2697480"/>
            <a:ext cx="1737360" cy="292608"/>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Locators</a:t>
            </a:r>
            <a:endParaRPr lang="en-US" sz="950" dirty="0"/>
          </a:p>
        </p:txBody>
      </p:sp>
      <p:sp>
        <p:nvSpPr>
          <p:cNvPr id="28" name="Shape 26"/>
          <p:cNvSpPr/>
          <p:nvPr/>
        </p:nvSpPr>
        <p:spPr>
          <a:xfrm>
            <a:off x="3200400" y="2990088"/>
            <a:ext cx="914" cy="73152"/>
          </a:xfrm>
          <a:prstGeom prst="line">
            <a:avLst/>
          </a:prstGeom>
          <a:noFill/>
          <a:ln w="25400">
            <a:solidFill>
              <a:srgbClr val="B18CF5"/>
            </a:solidFill>
            <a:prstDash val="solid"/>
            <a:tailEnd type="triangle"/>
          </a:ln>
        </p:spPr>
      </p:sp>
      <p:sp>
        <p:nvSpPr>
          <p:cNvPr id="29" name="Shape 27"/>
          <p:cNvSpPr/>
          <p:nvPr/>
        </p:nvSpPr>
        <p:spPr>
          <a:xfrm>
            <a:off x="2011680" y="3063240"/>
            <a:ext cx="2377440" cy="292608"/>
          </a:xfrm>
          <a:prstGeom prst="roundRect">
            <a:avLst>
              <a:gd name="adj" fmla="val 25000"/>
            </a:avLst>
          </a:prstGeom>
          <a:solidFill>
            <a:srgbClr val="18233F"/>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0" name="Text 28"/>
          <p:cNvSpPr/>
          <p:nvPr/>
        </p:nvSpPr>
        <p:spPr>
          <a:xfrm>
            <a:off x="2057400" y="3063240"/>
            <a:ext cx="2286000" cy="292608"/>
          </a:xfrm>
          <a:prstGeom prst="rect">
            <a:avLst/>
          </a:prstGeom>
          <a:noFill/>
          <a:ln/>
        </p:spPr>
        <p:txBody>
          <a:bodyPr wrap="square" rtlCol="0" anchor="ctr"/>
          <a:lstStyle/>
          <a:p>
            <a:pPr algn="ctr" indent="0" marL="0">
              <a:buNone/>
            </a:pPr>
            <a:r>
              <a:rPr lang="en-US" sz="1000" b="1" dirty="0">
                <a:solidFill>
                  <a:srgbClr val="B18CF5"/>
                </a:solidFill>
                <a:latin typeface="Calibri" pitchFamily="34" charset="0"/>
                <a:ea typeface="Calibri" pitchFamily="34" charset="-122"/>
                <a:cs typeface="Calibri" pitchFamily="34" charset="-120"/>
              </a:rPr>
              <a:t>Application</a:t>
            </a:r>
            <a:endParaRPr lang="en-US" sz="1000" dirty="0"/>
          </a:p>
        </p:txBody>
      </p:sp>
      <p:sp>
        <p:nvSpPr>
          <p:cNvPr id="31" name="Shape 29"/>
          <p:cNvSpPr/>
          <p:nvPr/>
        </p:nvSpPr>
        <p:spPr>
          <a:xfrm>
            <a:off x="2514600" y="3355848"/>
            <a:ext cx="914" cy="73152"/>
          </a:xfrm>
          <a:prstGeom prst="line">
            <a:avLst/>
          </a:prstGeom>
          <a:noFill/>
          <a:ln w="25400">
            <a:solidFill>
              <a:srgbClr val="B18CF5"/>
            </a:solidFill>
            <a:prstDash val="solid"/>
            <a:tailEnd type="triangle"/>
          </a:ln>
        </p:spPr>
      </p:sp>
      <p:sp>
        <p:nvSpPr>
          <p:cNvPr id="32" name="Shape 30"/>
          <p:cNvSpPr/>
          <p:nvPr/>
        </p:nvSpPr>
        <p:spPr>
          <a:xfrm>
            <a:off x="3886200" y="3355848"/>
            <a:ext cx="914" cy="73152"/>
          </a:xfrm>
          <a:prstGeom prst="line">
            <a:avLst/>
          </a:prstGeom>
          <a:noFill/>
          <a:ln w="25400">
            <a:solidFill>
              <a:srgbClr val="B18CF5"/>
            </a:solidFill>
            <a:prstDash val="solid"/>
            <a:tailEnd type="triangle"/>
          </a:ln>
        </p:spPr>
      </p:sp>
      <p:sp>
        <p:nvSpPr>
          <p:cNvPr id="33" name="Shape 31"/>
          <p:cNvSpPr/>
          <p:nvPr/>
        </p:nvSpPr>
        <p:spPr>
          <a:xfrm>
            <a:off x="1691640" y="3429000"/>
            <a:ext cx="1371600" cy="292608"/>
          </a:xfrm>
          <a:prstGeom prst="roundRect">
            <a:avLst>
              <a:gd name="adj" fmla="val 25000"/>
            </a:avLst>
          </a:prstGeom>
          <a:solidFill>
            <a:srgbClr val="101A30"/>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4" name="Text 32"/>
          <p:cNvSpPr/>
          <p:nvPr/>
        </p:nvSpPr>
        <p:spPr>
          <a:xfrm>
            <a:off x="1737360" y="3429000"/>
            <a:ext cx="1280160" cy="292608"/>
          </a:xfrm>
          <a:prstGeom prst="rect">
            <a:avLst/>
          </a:prstGeom>
          <a:noFill/>
          <a:ln/>
        </p:spPr>
        <p:txBody>
          <a:bodyPr wrap="square" rtlCol="0" anchor="ctr"/>
          <a:lstStyle/>
          <a:p>
            <a:pPr algn="ctr" indent="0" marL="0">
              <a:buNone/>
            </a:pPr>
            <a:r>
              <a:rPr lang="en-US" sz="880" b="1" dirty="0">
                <a:solidFill>
                  <a:srgbClr val="F3F6FB"/>
                </a:solidFill>
                <a:latin typeface="Calibri" pitchFamily="34" charset="0"/>
                <a:ea typeface="Calibri" pitchFamily="34" charset="-122"/>
                <a:cs typeface="Calibri" pitchFamily="34" charset="-120"/>
              </a:rPr>
              <a:t>Test Data</a:t>
            </a:r>
            <a:endParaRPr lang="en-US" sz="880" dirty="0"/>
          </a:p>
        </p:txBody>
      </p:sp>
      <p:sp>
        <p:nvSpPr>
          <p:cNvPr id="35" name="Shape 33"/>
          <p:cNvSpPr/>
          <p:nvPr/>
        </p:nvSpPr>
        <p:spPr>
          <a:xfrm>
            <a:off x="3337560" y="3429000"/>
            <a:ext cx="1371600" cy="292608"/>
          </a:xfrm>
          <a:prstGeom prst="roundRect">
            <a:avLst>
              <a:gd name="adj" fmla="val 25000"/>
            </a:avLst>
          </a:prstGeom>
          <a:solidFill>
            <a:srgbClr val="101A30"/>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6" name="Text 34"/>
          <p:cNvSpPr/>
          <p:nvPr/>
        </p:nvSpPr>
        <p:spPr>
          <a:xfrm>
            <a:off x="3383280" y="3429000"/>
            <a:ext cx="1280160" cy="292608"/>
          </a:xfrm>
          <a:prstGeom prst="rect">
            <a:avLst/>
          </a:prstGeom>
          <a:noFill/>
          <a:ln/>
        </p:spPr>
        <p:txBody>
          <a:bodyPr wrap="square" rtlCol="0" anchor="ctr"/>
          <a:lstStyle/>
          <a:p>
            <a:pPr algn="ctr" indent="0" marL="0">
              <a:buNone/>
            </a:pPr>
            <a:r>
              <a:rPr lang="en-US" sz="880" b="1" dirty="0">
                <a:solidFill>
                  <a:srgbClr val="F3F6FB"/>
                </a:solidFill>
                <a:latin typeface="Calibri" pitchFamily="34" charset="0"/>
                <a:ea typeface="Calibri" pitchFamily="34" charset="-122"/>
                <a:cs typeface="Calibri" pitchFamily="34" charset="-120"/>
              </a:rPr>
              <a:t>Utilities</a:t>
            </a:r>
            <a:endParaRPr lang="en-US" sz="880" dirty="0"/>
          </a:p>
        </p:txBody>
      </p:sp>
      <p:sp>
        <p:nvSpPr>
          <p:cNvPr id="37" name="Shape 35"/>
          <p:cNvSpPr/>
          <p:nvPr/>
        </p:nvSpPr>
        <p:spPr>
          <a:xfrm>
            <a:off x="3200400" y="3721608"/>
            <a:ext cx="914" cy="73152"/>
          </a:xfrm>
          <a:prstGeom prst="line">
            <a:avLst/>
          </a:prstGeom>
          <a:noFill/>
          <a:ln w="25400">
            <a:solidFill>
              <a:srgbClr val="B18CF5"/>
            </a:solidFill>
            <a:prstDash val="solid"/>
            <a:tailEnd type="triangle"/>
          </a:ln>
        </p:spPr>
      </p:sp>
      <p:sp>
        <p:nvSpPr>
          <p:cNvPr id="38" name="Shape 36"/>
          <p:cNvSpPr/>
          <p:nvPr/>
        </p:nvSpPr>
        <p:spPr>
          <a:xfrm>
            <a:off x="1920240" y="3794760"/>
            <a:ext cx="2560320" cy="292608"/>
          </a:xfrm>
          <a:prstGeom prst="roundRect">
            <a:avLst>
              <a:gd name="adj" fmla="val 25000"/>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9" name="Text 37"/>
          <p:cNvSpPr/>
          <p:nvPr/>
        </p:nvSpPr>
        <p:spPr>
          <a:xfrm>
            <a:off x="1965960" y="3794760"/>
            <a:ext cx="2468880" cy="292608"/>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Test Execution</a:t>
            </a:r>
            <a:endParaRPr lang="en-US" sz="950" dirty="0"/>
          </a:p>
        </p:txBody>
      </p:sp>
      <p:sp>
        <p:nvSpPr>
          <p:cNvPr id="40" name="Shape 38"/>
          <p:cNvSpPr/>
          <p:nvPr/>
        </p:nvSpPr>
        <p:spPr>
          <a:xfrm>
            <a:off x="3200400" y="4087368"/>
            <a:ext cx="914" cy="73152"/>
          </a:xfrm>
          <a:prstGeom prst="line">
            <a:avLst/>
          </a:prstGeom>
          <a:noFill/>
          <a:ln w="25400">
            <a:solidFill>
              <a:srgbClr val="B18CF5"/>
            </a:solidFill>
            <a:prstDash val="solid"/>
            <a:tailEnd type="triangle"/>
          </a:ln>
        </p:spPr>
      </p:sp>
      <p:sp>
        <p:nvSpPr>
          <p:cNvPr id="41" name="Shape 39"/>
          <p:cNvSpPr/>
          <p:nvPr/>
        </p:nvSpPr>
        <p:spPr>
          <a:xfrm>
            <a:off x="1920240" y="4160520"/>
            <a:ext cx="2560320" cy="292608"/>
          </a:xfrm>
          <a:prstGeom prst="roundRect">
            <a:avLst>
              <a:gd name="adj" fmla="val 25000"/>
            </a:avLst>
          </a:prstGeom>
          <a:solidFill>
            <a:srgbClr val="3D3117"/>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42" name="Text 40"/>
          <p:cNvSpPr/>
          <p:nvPr/>
        </p:nvSpPr>
        <p:spPr>
          <a:xfrm>
            <a:off x="1965960" y="4160520"/>
            <a:ext cx="2468880" cy="292608"/>
          </a:xfrm>
          <a:prstGeom prst="rect">
            <a:avLst/>
          </a:prstGeom>
          <a:noFill/>
          <a:ln/>
        </p:spPr>
        <p:txBody>
          <a:bodyPr wrap="square" rtlCol="0" anchor="ctr"/>
          <a:lstStyle/>
          <a:p>
            <a:pPr algn="ctr" indent="0" marL="0">
              <a:buNone/>
            </a:pPr>
            <a:r>
              <a:rPr lang="en-US" sz="1000" b="1" dirty="0">
                <a:solidFill>
                  <a:srgbClr val="F5B942"/>
                </a:solidFill>
                <a:latin typeface="Calibri" pitchFamily="34" charset="0"/>
                <a:ea typeface="Calibri" pitchFamily="34" charset="-122"/>
                <a:cs typeface="Calibri" pitchFamily="34" charset="-120"/>
              </a:rPr>
              <a:t>Reports</a:t>
            </a:r>
            <a:endParaRPr lang="en-US" sz="1000" dirty="0"/>
          </a:p>
        </p:txBody>
      </p:sp>
      <p:sp>
        <p:nvSpPr>
          <p:cNvPr id="43" name="Text 41"/>
          <p:cNvSpPr/>
          <p:nvPr/>
        </p:nvSpPr>
        <p:spPr>
          <a:xfrm>
            <a:off x="365760" y="5989320"/>
            <a:ext cx="5760720" cy="365760"/>
          </a:xfrm>
          <a:prstGeom prst="rect">
            <a:avLst/>
          </a:prstGeom>
          <a:noFill/>
          <a:ln/>
        </p:spPr>
        <p:txBody>
          <a:bodyPr wrap="square" rtlCol="0" anchor="ctr"/>
          <a:lstStyle/>
          <a:p>
            <a:pPr indent="0" marL="0">
              <a:buNone/>
            </a:pPr>
            <a:r>
              <a:rPr lang="en-US" sz="950" i="1" dirty="0">
                <a:solidFill>
                  <a:srgbClr val="6B7690"/>
                </a:solidFill>
                <a:latin typeface="Calibri" pitchFamily="34" charset="0"/>
                <a:ea typeface="Calibri" pitchFamily="34" charset="-122"/>
                <a:cs typeface="Calibri" pitchFamily="34" charset="-120"/>
              </a:rPr>
              <a:t>playwright.config.ts sits across the whole framework as configuration.</a:t>
            </a:r>
            <a:endParaRPr lang="en-US" sz="950" dirty="0"/>
          </a:p>
        </p:txBody>
      </p:sp>
      <p:sp>
        <p:nvSpPr>
          <p:cNvPr id="44" name="Shape 42"/>
          <p:cNvSpPr/>
          <p:nvPr/>
        </p:nvSpPr>
        <p:spPr>
          <a:xfrm>
            <a:off x="6492240" y="1600200"/>
            <a:ext cx="5212080" cy="1691640"/>
          </a:xfrm>
          <a:prstGeom prst="roundRect">
            <a:avLst>
              <a:gd name="adj" fmla="val 4324"/>
            </a:avLst>
          </a:prstGeom>
          <a:solidFill>
            <a:srgbClr val="3D3117"/>
          </a:solidFill>
          <a:ln w="19050">
            <a:solidFill>
              <a:srgbClr val="F5B942"/>
            </a:solidFill>
            <a:prstDash val="solid"/>
          </a:ln>
          <a:effectLst>
            <a:outerShdw sx="100000" sy="100000" kx="0" ky="0" algn="bl" rotWithShape="0" blurRad="101600" dist="38100" dir="5400000">
              <a:srgbClr val="000000">
                <a:alpha val="45000"/>
              </a:srgbClr>
            </a:outerShdw>
          </a:effectLst>
        </p:spPr>
      </p:sp>
      <p:sp>
        <p:nvSpPr>
          <p:cNvPr id="45" name="Text 43"/>
          <p:cNvSpPr/>
          <p:nvPr/>
        </p:nvSpPr>
        <p:spPr>
          <a:xfrm>
            <a:off x="6720840" y="1737360"/>
            <a:ext cx="4754880" cy="274320"/>
          </a:xfrm>
          <a:prstGeom prst="rect">
            <a:avLst/>
          </a:prstGeom>
          <a:noFill/>
          <a:ln/>
        </p:spPr>
        <p:txBody>
          <a:bodyPr wrap="square" rtlCol="0" anchor="ctr"/>
          <a:lstStyle/>
          <a:p>
            <a:pPr indent="0" marL="0">
              <a:buNone/>
            </a:pPr>
            <a:r>
              <a:rPr lang="en-US" sz="1150" b="1" spc="50" kern="0" dirty="0">
                <a:solidFill>
                  <a:srgbClr val="F5B942"/>
                </a:solidFill>
                <a:latin typeface="Calibri" pitchFamily="34" charset="0"/>
                <a:ea typeface="Calibri" pitchFamily="34" charset="-122"/>
                <a:cs typeface="Calibri" pitchFamily="34" charset="-120"/>
              </a:rPr>
              <a:t>CONFIGURATION FILE  ⭐⭐⭐</a:t>
            </a:r>
            <a:endParaRPr lang="en-US" sz="1150" dirty="0"/>
          </a:p>
        </p:txBody>
      </p:sp>
      <p:sp>
        <p:nvSpPr>
          <p:cNvPr id="46" name="Text 44"/>
          <p:cNvSpPr/>
          <p:nvPr/>
        </p:nvSpPr>
        <p:spPr>
          <a:xfrm>
            <a:off x="6720840" y="2057400"/>
            <a:ext cx="4754880" cy="1143000"/>
          </a:xfrm>
          <a:prstGeom prst="rect">
            <a:avLst/>
          </a:prstGeom>
          <a:noFill/>
          <a:ln/>
        </p:spPr>
        <p:txBody>
          <a:bodyPr wrap="square" rtlCol="0" anchor="t"/>
          <a:lstStyle/>
          <a:p>
            <a:pPr indent="0" marL="0">
              <a:lnSpc>
                <a:spcPct val="120000"/>
              </a:lnSpc>
              <a:buNone/>
            </a:pPr>
            <a:r>
              <a:rPr lang="en-US" sz="1050" i="1" dirty="0">
                <a:solidFill>
                  <a:srgbClr val="F5B942"/>
                </a:solidFill>
                <a:latin typeface="Calibri" pitchFamily="34" charset="0"/>
                <a:ea typeface="Calibri" pitchFamily="34" charset="-122"/>
                <a:cs typeface="Calibri" pitchFamily="34" charset="-120"/>
              </a:rPr>
              <a:t>playwright.config.ts controls how tests execute: test directory, browser/project config, base URL, timeouts, retries, reporter, execution settings.</a:t>
            </a:r>
            <a:endParaRPr lang="en-US" sz="1050" dirty="0"/>
          </a:p>
        </p:txBody>
      </p:sp>
      <p:sp>
        <p:nvSpPr>
          <p:cNvPr id="47" name="Shape 45"/>
          <p:cNvSpPr/>
          <p:nvPr/>
        </p:nvSpPr>
        <p:spPr>
          <a:xfrm>
            <a:off x="6492240" y="3429000"/>
            <a:ext cx="5212080" cy="1600200"/>
          </a:xfrm>
          <a:prstGeom prst="roundRect">
            <a:avLst>
              <a:gd name="adj" fmla="val 4571"/>
            </a:avLst>
          </a:prstGeom>
          <a:solidFill>
            <a:srgbClr val="101A30"/>
          </a:solidFill>
          <a:ln w="12700">
            <a:solidFill>
              <a:srgbClr val="B18CF5"/>
            </a:solidFill>
            <a:prstDash val="solid"/>
          </a:ln>
        </p:spPr>
      </p:sp>
      <p:sp>
        <p:nvSpPr>
          <p:cNvPr id="48" name="Text 46"/>
          <p:cNvSpPr/>
          <p:nvPr/>
        </p:nvSpPr>
        <p:spPr>
          <a:xfrm>
            <a:off x="6720840" y="3547872"/>
            <a:ext cx="4754880" cy="274320"/>
          </a:xfrm>
          <a:prstGeom prst="rect">
            <a:avLst/>
          </a:prstGeom>
          <a:noFill/>
          <a:ln/>
        </p:spPr>
        <p:txBody>
          <a:bodyPr wrap="square" rtlCol="0" anchor="ctr"/>
          <a:lstStyle/>
          <a:p>
            <a:pPr indent="0" marL="0">
              <a:buNone/>
            </a:pPr>
            <a:r>
              <a:rPr lang="en-US" sz="1150" b="1" spc="100" kern="0" dirty="0">
                <a:solidFill>
                  <a:srgbClr val="B18CF5"/>
                </a:solidFill>
                <a:latin typeface="Calibri" pitchFamily="34" charset="0"/>
                <a:ea typeface="Calibri" pitchFamily="34" charset="-122"/>
                <a:cs typeface="Calibri" pitchFamily="34" charset="-120"/>
              </a:rPr>
              <a:t>TEST DATA</a:t>
            </a:r>
            <a:endParaRPr lang="en-US" sz="1150" dirty="0"/>
          </a:p>
        </p:txBody>
      </p:sp>
      <p:sp>
        <p:nvSpPr>
          <p:cNvPr id="49" name="Text 47"/>
          <p:cNvSpPr/>
          <p:nvPr/>
        </p:nvSpPr>
        <p:spPr>
          <a:xfrm>
            <a:off x="6720840" y="3858768"/>
            <a:ext cx="4754880" cy="1097280"/>
          </a:xfrm>
          <a:prstGeom prst="rect">
            <a:avLst/>
          </a:prstGeom>
          <a:noFill/>
          <a:ln/>
        </p:spPr>
        <p:txBody>
          <a:bodyPr wrap="square" rtlCol="0" anchor="t"/>
          <a:lstStyle/>
          <a:p>
            <a:pPr indent="0" marL="0">
              <a:lnSpc>
                <a:spcPct val="120000"/>
              </a:lnSpc>
              <a:buNone/>
            </a:pPr>
            <a:r>
              <a:rPr lang="en-US" sz="1050" i="1" dirty="0">
                <a:solidFill>
                  <a:srgbClr val="97A3BE"/>
                </a:solidFill>
                <a:latin typeface="Calibri" pitchFamily="34" charset="0"/>
                <a:ea typeface="Calibri" pitchFamily="34" charset="-122"/>
                <a:cs typeface="Calibri" pitchFamily="34" charset="-120"/>
              </a:rPr>
              <a:t>Username, password, customer/product details, search values, expected values — maintained separately and reused rather than hardcoded.</a:t>
            </a:r>
            <a:endParaRPr lang="en-US" sz="1050" dirty="0"/>
          </a:p>
        </p:txBody>
      </p:sp>
      <p:sp>
        <p:nvSpPr>
          <p:cNvPr id="50" name="Shape 48"/>
          <p:cNvSpPr/>
          <p:nvPr/>
        </p:nvSpPr>
        <p:spPr>
          <a:xfrm>
            <a:off x="6492240" y="5166360"/>
            <a:ext cx="5212080" cy="1463040"/>
          </a:xfrm>
          <a:prstGeom prst="roundRect">
            <a:avLst>
              <a:gd name="adj" fmla="val 5000"/>
            </a:avLst>
          </a:prstGeom>
          <a:solidFill>
            <a:srgbClr val="18233F"/>
          </a:solidFill>
          <a:ln w="15240">
            <a:solidFill>
              <a:srgbClr val="B18CF5"/>
            </a:solidFill>
            <a:prstDash val="solid"/>
          </a:ln>
          <a:effectLst>
            <a:outerShdw sx="100000" sy="100000" kx="0" ky="0" algn="bl" rotWithShape="0" blurRad="101600" dist="38100" dir="5400000">
              <a:srgbClr val="000000">
                <a:alpha val="45000"/>
              </a:srgbClr>
            </a:outerShdw>
          </a:effectLst>
        </p:spPr>
      </p:sp>
      <p:sp>
        <p:nvSpPr>
          <p:cNvPr id="51" name="Text 49"/>
          <p:cNvSpPr/>
          <p:nvPr/>
        </p:nvSpPr>
        <p:spPr>
          <a:xfrm>
            <a:off x="6720840" y="5285232"/>
            <a:ext cx="4754880" cy="274320"/>
          </a:xfrm>
          <a:prstGeom prst="rect">
            <a:avLst/>
          </a:prstGeom>
          <a:noFill/>
          <a:ln/>
        </p:spPr>
        <p:txBody>
          <a:bodyPr wrap="square" rtlCol="0" anchor="ctr"/>
          <a:lstStyle/>
          <a:p>
            <a:pPr indent="0" marL="0">
              <a:buNone/>
            </a:pPr>
            <a:r>
              <a:rPr lang="en-US" sz="1150" b="1" spc="100" kern="0" dirty="0">
                <a:solidFill>
                  <a:srgbClr val="B18CF5"/>
                </a:solidFill>
                <a:latin typeface="Calibri" pitchFamily="34" charset="0"/>
                <a:ea typeface="Calibri" pitchFamily="34" charset="-122"/>
                <a:cs typeface="Calibri" pitchFamily="34" charset="-120"/>
              </a:rPr>
              <a:t>REPORTS</a:t>
            </a:r>
            <a:endParaRPr lang="en-US" sz="1150" dirty="0"/>
          </a:p>
        </p:txBody>
      </p:sp>
      <p:sp>
        <p:nvSpPr>
          <p:cNvPr id="52" name="Text 50"/>
          <p:cNvSpPr/>
          <p:nvPr/>
        </p:nvSpPr>
        <p:spPr>
          <a:xfrm>
            <a:off x="6720840" y="5577840"/>
            <a:ext cx="4754880" cy="960120"/>
          </a:xfrm>
          <a:prstGeom prst="rect">
            <a:avLst/>
          </a:prstGeom>
          <a:noFill/>
          <a:ln/>
        </p:spPr>
        <p:txBody>
          <a:bodyPr wrap="square" rtlCol="0" anchor="t"/>
          <a:lstStyle/>
          <a:p>
            <a:pPr indent="0" marL="0">
              <a:lnSpc>
                <a:spcPct val="120000"/>
              </a:lnSpc>
              <a:buNone/>
            </a:pPr>
            <a:r>
              <a:rPr lang="en-US" sz="1050" i="1" dirty="0">
                <a:solidFill>
                  <a:srgbClr val="F3F6FB"/>
                </a:solidFill>
                <a:latin typeface="Calibri" pitchFamily="34" charset="0"/>
                <a:ea typeface="Calibri" pitchFamily="34" charset="-122"/>
                <a:cs typeface="Calibri" pitchFamily="34" charset="-120"/>
              </a:rPr>
              <a:t>Which tests passed/failed, execution duration, failure details, screenshots/traces where configured.</a:t>
            </a:r>
            <a:endParaRPr lang="en-US" sz="1050" dirty="0"/>
          </a:p>
        </p:txBody>
      </p:sp>
      <p:sp>
        <p:nvSpPr>
          <p:cNvPr id="53" name="Text 51"/>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54" name="Text 52"/>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55" name="Text 53"/>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AI Agent — Components, Controls &amp; Mapping Validation</a:t>
            </a:r>
            <a:endParaRPr lang="en-US" sz="3000" dirty="0"/>
          </a:p>
        </p:txBody>
      </p:sp>
      <p:sp>
        <p:nvSpPr>
          <p:cNvPr id="7" name="Shape 5"/>
          <p:cNvSpPr/>
          <p:nvPr/>
        </p:nvSpPr>
        <p:spPr>
          <a:xfrm>
            <a:off x="457200" y="1691640"/>
            <a:ext cx="5212080" cy="4297680"/>
          </a:xfrm>
          <a:prstGeom prst="roundRect">
            <a:avLst>
              <a:gd name="adj" fmla="val 1702"/>
            </a:avLst>
          </a:prstGeom>
          <a:solidFill>
            <a:srgbClr val="18233F"/>
          </a:solidFill>
          <a:ln w="16510">
            <a:solidFill>
              <a:srgbClr val="B18CF5"/>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685800" y="1847088"/>
            <a:ext cx="4754880" cy="292608"/>
          </a:xfrm>
          <a:prstGeom prst="rect">
            <a:avLst/>
          </a:prstGeom>
          <a:noFill/>
          <a:ln/>
        </p:spPr>
        <p:txBody>
          <a:bodyPr wrap="square" rtlCol="0" anchor="ctr"/>
          <a:lstStyle/>
          <a:p>
            <a:pPr indent="0" marL="0">
              <a:buNone/>
            </a:pPr>
            <a:r>
              <a:rPr lang="en-US" sz="1200" b="1" spc="100" kern="0" dirty="0">
                <a:solidFill>
                  <a:srgbClr val="B18CF5"/>
                </a:solidFill>
                <a:latin typeface="Calibri" pitchFamily="34" charset="0"/>
                <a:ea typeface="Calibri" pitchFamily="34" charset="-122"/>
                <a:cs typeface="Calibri" pitchFamily="34" charset="-120"/>
              </a:rPr>
              <a:t>AI AGENT COMPONENTS</a:t>
            </a:r>
            <a:endParaRPr lang="en-US" sz="1200" dirty="0"/>
          </a:p>
        </p:txBody>
      </p:sp>
      <p:sp>
        <p:nvSpPr>
          <p:cNvPr id="9" name="Shape 7"/>
          <p:cNvSpPr/>
          <p:nvPr/>
        </p:nvSpPr>
        <p:spPr>
          <a:xfrm>
            <a:off x="722376" y="2295144"/>
            <a:ext cx="329184" cy="329184"/>
          </a:xfrm>
          <a:prstGeom prst="ellipse">
            <a:avLst/>
          </a:prstGeom>
          <a:solidFill>
            <a:srgbClr val="101A30"/>
          </a:solidFill>
          <a:ln w="19050">
            <a:solidFill>
              <a:srgbClr val="B18CF5"/>
            </a:solidFill>
            <a:prstDash val="solid"/>
          </a:ln>
        </p:spPr>
      </p:sp>
      <p:sp>
        <p:nvSpPr>
          <p:cNvPr id="10" name="Text 8"/>
          <p:cNvSpPr/>
          <p:nvPr/>
        </p:nvSpPr>
        <p:spPr>
          <a:xfrm>
            <a:off x="722376" y="229514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11" name="Text 9"/>
          <p:cNvSpPr/>
          <p:nvPr/>
        </p:nvSpPr>
        <p:spPr>
          <a:xfrm>
            <a:off x="1143000" y="2240280"/>
            <a:ext cx="1783080" cy="5715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System Prompt</a:t>
            </a:r>
            <a:endParaRPr lang="en-US" sz="1150" dirty="0"/>
          </a:p>
        </p:txBody>
      </p:sp>
      <p:sp>
        <p:nvSpPr>
          <p:cNvPr id="12" name="Shape 10"/>
          <p:cNvSpPr/>
          <p:nvPr/>
        </p:nvSpPr>
        <p:spPr>
          <a:xfrm>
            <a:off x="3236976" y="2295144"/>
            <a:ext cx="329184" cy="329184"/>
          </a:xfrm>
          <a:prstGeom prst="ellipse">
            <a:avLst/>
          </a:prstGeom>
          <a:solidFill>
            <a:srgbClr val="101A30"/>
          </a:solidFill>
          <a:ln w="19050">
            <a:solidFill>
              <a:srgbClr val="B18CF5"/>
            </a:solidFill>
            <a:prstDash val="solid"/>
          </a:ln>
        </p:spPr>
      </p:sp>
      <p:sp>
        <p:nvSpPr>
          <p:cNvPr id="13" name="Text 11"/>
          <p:cNvSpPr/>
          <p:nvPr/>
        </p:nvSpPr>
        <p:spPr>
          <a:xfrm>
            <a:off x="3236976" y="229514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14" name="Text 12"/>
          <p:cNvSpPr/>
          <p:nvPr/>
        </p:nvSpPr>
        <p:spPr>
          <a:xfrm>
            <a:off x="3657600" y="2240280"/>
            <a:ext cx="1783080" cy="5715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Guardrails</a:t>
            </a:r>
            <a:endParaRPr lang="en-US" sz="1150" dirty="0"/>
          </a:p>
        </p:txBody>
      </p:sp>
      <p:sp>
        <p:nvSpPr>
          <p:cNvPr id="15" name="Shape 13"/>
          <p:cNvSpPr/>
          <p:nvPr/>
        </p:nvSpPr>
        <p:spPr>
          <a:xfrm>
            <a:off x="722376" y="2866644"/>
            <a:ext cx="329184" cy="329184"/>
          </a:xfrm>
          <a:prstGeom prst="ellipse">
            <a:avLst/>
          </a:prstGeom>
          <a:solidFill>
            <a:srgbClr val="101A30"/>
          </a:solidFill>
          <a:ln w="19050">
            <a:solidFill>
              <a:srgbClr val="B18CF5"/>
            </a:solidFill>
            <a:prstDash val="solid"/>
          </a:ln>
        </p:spPr>
      </p:sp>
      <p:sp>
        <p:nvSpPr>
          <p:cNvPr id="16" name="Text 14"/>
          <p:cNvSpPr/>
          <p:nvPr/>
        </p:nvSpPr>
        <p:spPr>
          <a:xfrm>
            <a:off x="722376" y="286664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17" name="Text 15"/>
          <p:cNvSpPr/>
          <p:nvPr/>
        </p:nvSpPr>
        <p:spPr>
          <a:xfrm>
            <a:off x="1143000" y="2811780"/>
            <a:ext cx="1783080" cy="5715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Rules</a:t>
            </a:r>
            <a:endParaRPr lang="en-US" sz="1150" dirty="0"/>
          </a:p>
        </p:txBody>
      </p:sp>
      <p:sp>
        <p:nvSpPr>
          <p:cNvPr id="18" name="Shape 16"/>
          <p:cNvSpPr/>
          <p:nvPr/>
        </p:nvSpPr>
        <p:spPr>
          <a:xfrm>
            <a:off x="3236976" y="2866644"/>
            <a:ext cx="329184" cy="329184"/>
          </a:xfrm>
          <a:prstGeom prst="ellipse">
            <a:avLst/>
          </a:prstGeom>
          <a:solidFill>
            <a:srgbClr val="101A30"/>
          </a:solidFill>
          <a:ln w="19050">
            <a:solidFill>
              <a:srgbClr val="B18CF5"/>
            </a:solidFill>
            <a:prstDash val="solid"/>
          </a:ln>
        </p:spPr>
      </p:sp>
      <p:sp>
        <p:nvSpPr>
          <p:cNvPr id="19" name="Text 17"/>
          <p:cNvSpPr/>
          <p:nvPr/>
        </p:nvSpPr>
        <p:spPr>
          <a:xfrm>
            <a:off x="3236976" y="286664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20" name="Text 18"/>
          <p:cNvSpPr/>
          <p:nvPr/>
        </p:nvSpPr>
        <p:spPr>
          <a:xfrm>
            <a:off x="3657600" y="2811780"/>
            <a:ext cx="1783080" cy="5715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Acceptance Criteria</a:t>
            </a:r>
            <a:endParaRPr lang="en-US" sz="1150" dirty="0"/>
          </a:p>
        </p:txBody>
      </p:sp>
      <p:sp>
        <p:nvSpPr>
          <p:cNvPr id="21" name="Shape 19"/>
          <p:cNvSpPr/>
          <p:nvPr/>
        </p:nvSpPr>
        <p:spPr>
          <a:xfrm>
            <a:off x="722376" y="3438144"/>
            <a:ext cx="329184" cy="329184"/>
          </a:xfrm>
          <a:prstGeom prst="ellipse">
            <a:avLst/>
          </a:prstGeom>
          <a:solidFill>
            <a:srgbClr val="101A30"/>
          </a:solidFill>
          <a:ln w="19050">
            <a:solidFill>
              <a:srgbClr val="B18CF5"/>
            </a:solidFill>
            <a:prstDash val="solid"/>
          </a:ln>
        </p:spPr>
      </p:sp>
      <p:sp>
        <p:nvSpPr>
          <p:cNvPr id="22" name="Text 20"/>
          <p:cNvSpPr/>
          <p:nvPr/>
        </p:nvSpPr>
        <p:spPr>
          <a:xfrm>
            <a:off x="722376" y="343814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23" name="Text 21"/>
          <p:cNvSpPr/>
          <p:nvPr/>
        </p:nvSpPr>
        <p:spPr>
          <a:xfrm>
            <a:off x="1143000" y="3383280"/>
            <a:ext cx="1783080" cy="5715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Knowledge Base</a:t>
            </a:r>
            <a:endParaRPr lang="en-US" sz="1150" dirty="0"/>
          </a:p>
        </p:txBody>
      </p:sp>
      <p:sp>
        <p:nvSpPr>
          <p:cNvPr id="24" name="Shape 22"/>
          <p:cNvSpPr/>
          <p:nvPr/>
        </p:nvSpPr>
        <p:spPr>
          <a:xfrm>
            <a:off x="3236976" y="3438144"/>
            <a:ext cx="329184" cy="329184"/>
          </a:xfrm>
          <a:prstGeom prst="ellipse">
            <a:avLst/>
          </a:prstGeom>
          <a:solidFill>
            <a:srgbClr val="101A30"/>
          </a:solidFill>
          <a:ln w="19050">
            <a:solidFill>
              <a:srgbClr val="B18CF5"/>
            </a:solidFill>
            <a:prstDash val="solid"/>
          </a:ln>
        </p:spPr>
      </p:sp>
      <p:sp>
        <p:nvSpPr>
          <p:cNvPr id="25" name="Text 23"/>
          <p:cNvSpPr/>
          <p:nvPr/>
        </p:nvSpPr>
        <p:spPr>
          <a:xfrm>
            <a:off x="3236976" y="343814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26" name="Text 24"/>
          <p:cNvSpPr/>
          <p:nvPr/>
        </p:nvSpPr>
        <p:spPr>
          <a:xfrm>
            <a:off x="3657600" y="3383280"/>
            <a:ext cx="1783080" cy="5715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Agent Files</a:t>
            </a:r>
            <a:endParaRPr lang="en-US" sz="1150" dirty="0"/>
          </a:p>
        </p:txBody>
      </p:sp>
      <p:sp>
        <p:nvSpPr>
          <p:cNvPr id="27" name="Shape 25"/>
          <p:cNvSpPr/>
          <p:nvPr/>
        </p:nvSpPr>
        <p:spPr>
          <a:xfrm>
            <a:off x="722376" y="4009644"/>
            <a:ext cx="329184" cy="329184"/>
          </a:xfrm>
          <a:prstGeom prst="ellipse">
            <a:avLst/>
          </a:prstGeom>
          <a:solidFill>
            <a:srgbClr val="101A30"/>
          </a:solidFill>
          <a:ln w="19050">
            <a:solidFill>
              <a:srgbClr val="B18CF5"/>
            </a:solidFill>
            <a:prstDash val="solid"/>
          </a:ln>
        </p:spPr>
      </p:sp>
      <p:sp>
        <p:nvSpPr>
          <p:cNvPr id="28" name="Text 26"/>
          <p:cNvSpPr/>
          <p:nvPr/>
        </p:nvSpPr>
        <p:spPr>
          <a:xfrm>
            <a:off x="722376" y="4009644"/>
            <a:ext cx="329184" cy="329184"/>
          </a:xfrm>
          <a:prstGeom prst="rect">
            <a:avLst/>
          </a:prstGeom>
          <a:noFill/>
          <a:ln/>
        </p:spPr>
        <p:txBody>
          <a:bodyPr wrap="square" rtlCol="0" anchor="ctr"/>
          <a:lstStyle/>
          <a:p>
            <a:pPr algn="ctr" indent="0" marL="0">
              <a:buNone/>
            </a:pPr>
            <a:r>
              <a:rPr lang="en-US" sz="936" b="1" dirty="0">
                <a:solidFill>
                  <a:srgbClr val="B18CF5"/>
                </a:solidFill>
                <a:latin typeface="Calibri" pitchFamily="34" charset="0"/>
                <a:ea typeface="Calibri" pitchFamily="34" charset="-122"/>
                <a:cs typeface="Calibri" pitchFamily="34" charset="-120"/>
              </a:rPr>
              <a:t>✓</a:t>
            </a:r>
            <a:endParaRPr lang="en-US" sz="936" dirty="0"/>
          </a:p>
        </p:txBody>
      </p:sp>
      <p:sp>
        <p:nvSpPr>
          <p:cNvPr id="29" name="Text 27"/>
          <p:cNvSpPr/>
          <p:nvPr/>
        </p:nvSpPr>
        <p:spPr>
          <a:xfrm>
            <a:off x="1143000" y="3954780"/>
            <a:ext cx="1783080" cy="571500"/>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Tools / Extensions</a:t>
            </a:r>
            <a:endParaRPr lang="en-US" sz="1150" dirty="0"/>
          </a:p>
        </p:txBody>
      </p:sp>
      <p:sp>
        <p:nvSpPr>
          <p:cNvPr id="30" name="Shape 28"/>
          <p:cNvSpPr/>
          <p:nvPr/>
        </p:nvSpPr>
        <p:spPr>
          <a:xfrm>
            <a:off x="685800" y="4709160"/>
            <a:ext cx="4754880" cy="1188720"/>
          </a:xfrm>
          <a:prstGeom prst="roundRect">
            <a:avLst>
              <a:gd name="adj" fmla="val 6154"/>
            </a:avLst>
          </a:prstGeom>
          <a:solidFill>
            <a:srgbClr val="101A30"/>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31" name="Text 29"/>
          <p:cNvSpPr/>
          <p:nvPr/>
        </p:nvSpPr>
        <p:spPr>
          <a:xfrm>
            <a:off x="868680" y="4818888"/>
            <a:ext cx="4389120" cy="960120"/>
          </a:xfrm>
          <a:prstGeom prst="rect">
            <a:avLst/>
          </a:prstGeom>
          <a:noFill/>
          <a:ln/>
        </p:spPr>
        <p:txBody>
          <a:bodyPr wrap="square" rtlCol="0" anchor="ctr"/>
          <a:lstStyle/>
          <a:p>
            <a:pPr indent="0" marL="0">
              <a:buNone/>
            </a:pPr>
            <a:r>
              <a:rPr lang="en-US" sz="1100" i="1" dirty="0">
                <a:solidFill>
                  <a:srgbClr val="F5B942"/>
                </a:solidFill>
                <a:latin typeface="Calibri" pitchFamily="34" charset="0"/>
                <a:ea typeface="Calibri" pitchFamily="34" charset="-122"/>
                <a:cs typeface="Calibri" pitchFamily="34" charset="-120"/>
              </a:rPr>
              <a:t>Temperature: higher = more variation; lower = more controlled output, reducing hallucination.</a:t>
            </a:r>
            <a:endParaRPr lang="en-US" sz="1100" dirty="0"/>
          </a:p>
        </p:txBody>
      </p:sp>
      <p:sp>
        <p:nvSpPr>
          <p:cNvPr id="32" name="Shape 30"/>
          <p:cNvSpPr/>
          <p:nvPr/>
        </p:nvSpPr>
        <p:spPr>
          <a:xfrm>
            <a:off x="6035040" y="1627632"/>
            <a:ext cx="2651760" cy="457200"/>
          </a:xfrm>
          <a:prstGeom prst="roundRect">
            <a:avLst>
              <a:gd name="adj" fmla="val 16000"/>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3" name="Text 31"/>
          <p:cNvSpPr/>
          <p:nvPr/>
        </p:nvSpPr>
        <p:spPr>
          <a:xfrm>
            <a:off x="6080760" y="1627632"/>
            <a:ext cx="2560320" cy="457200"/>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Mapping</a:t>
            </a:r>
            <a:endParaRPr lang="en-US" sz="950" dirty="0"/>
          </a:p>
          <a:p>
            <a:pPr algn="ctr" indent="0" marL="0">
              <a:buNone/>
            </a:pPr>
            <a:r>
              <a:rPr lang="en-US" sz="950" b="1" dirty="0">
                <a:solidFill>
                  <a:srgbClr val="F3F6FB"/>
                </a:solidFill>
                <a:latin typeface="Calibri" pitchFamily="34" charset="0"/>
                <a:ea typeface="Calibri" pitchFamily="34" charset="-122"/>
                <a:cs typeface="Calibri" pitchFamily="34" charset="-120"/>
              </a:rPr>
              <a:t>Document</a:t>
            </a:r>
            <a:endParaRPr lang="en-US" sz="950" dirty="0"/>
          </a:p>
        </p:txBody>
      </p:sp>
      <p:sp>
        <p:nvSpPr>
          <p:cNvPr id="34" name="Shape 32"/>
          <p:cNvSpPr/>
          <p:nvPr/>
        </p:nvSpPr>
        <p:spPr>
          <a:xfrm>
            <a:off x="8869680" y="1627632"/>
            <a:ext cx="2651760" cy="457200"/>
          </a:xfrm>
          <a:prstGeom prst="roundRect">
            <a:avLst>
              <a:gd name="adj" fmla="val 16000"/>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5" name="Text 33"/>
          <p:cNvSpPr/>
          <p:nvPr/>
        </p:nvSpPr>
        <p:spPr>
          <a:xfrm>
            <a:off x="8915400" y="1627632"/>
            <a:ext cx="2560320" cy="457200"/>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JSON / XML</a:t>
            </a:r>
            <a:endParaRPr lang="en-US" sz="950" dirty="0"/>
          </a:p>
          <a:p>
            <a:pPr algn="ctr" indent="0" marL="0">
              <a:buNone/>
            </a:pPr>
            <a:r>
              <a:rPr lang="en-US" sz="950" b="1" dirty="0">
                <a:solidFill>
                  <a:srgbClr val="F3F6FB"/>
                </a:solidFill>
                <a:latin typeface="Calibri" pitchFamily="34" charset="0"/>
                <a:ea typeface="Calibri" pitchFamily="34" charset="-122"/>
                <a:cs typeface="Calibri" pitchFamily="34" charset="-120"/>
              </a:rPr>
              <a:t>Response</a:t>
            </a:r>
            <a:endParaRPr lang="en-US" sz="950" dirty="0"/>
          </a:p>
        </p:txBody>
      </p:sp>
      <p:sp>
        <p:nvSpPr>
          <p:cNvPr id="36" name="Shape 34"/>
          <p:cNvSpPr/>
          <p:nvPr/>
        </p:nvSpPr>
        <p:spPr>
          <a:xfrm>
            <a:off x="7360920" y="2084832"/>
            <a:ext cx="2788920" cy="91"/>
          </a:xfrm>
          <a:prstGeom prst="line">
            <a:avLst/>
          </a:prstGeom>
          <a:noFill/>
          <a:ln w="16510">
            <a:solidFill>
              <a:srgbClr val="B18CF5"/>
            </a:solidFill>
            <a:prstDash val="solid"/>
          </a:ln>
        </p:spPr>
      </p:sp>
      <p:sp>
        <p:nvSpPr>
          <p:cNvPr id="37" name="Shape 35"/>
          <p:cNvSpPr/>
          <p:nvPr/>
        </p:nvSpPr>
        <p:spPr>
          <a:xfrm>
            <a:off x="8755380" y="2084832"/>
            <a:ext cx="914" cy="137160"/>
          </a:xfrm>
          <a:prstGeom prst="line">
            <a:avLst/>
          </a:prstGeom>
          <a:noFill/>
          <a:ln w="25400">
            <a:solidFill>
              <a:srgbClr val="B18CF5"/>
            </a:solidFill>
            <a:prstDash val="solid"/>
            <a:tailEnd type="triangle"/>
          </a:ln>
        </p:spPr>
      </p:sp>
      <p:sp>
        <p:nvSpPr>
          <p:cNvPr id="38" name="Shape 36"/>
          <p:cNvSpPr/>
          <p:nvPr/>
        </p:nvSpPr>
        <p:spPr>
          <a:xfrm>
            <a:off x="6949440" y="2221992"/>
            <a:ext cx="3611880" cy="384048"/>
          </a:xfrm>
          <a:prstGeom prst="roundRect">
            <a:avLst>
              <a:gd name="adj" fmla="val 19048"/>
            </a:avLst>
          </a:prstGeom>
          <a:solidFill>
            <a:srgbClr val="18233F"/>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9" name="Text 37"/>
          <p:cNvSpPr/>
          <p:nvPr/>
        </p:nvSpPr>
        <p:spPr>
          <a:xfrm>
            <a:off x="6995160" y="2221992"/>
            <a:ext cx="3520440" cy="384048"/>
          </a:xfrm>
          <a:prstGeom prst="rect">
            <a:avLst/>
          </a:prstGeom>
          <a:noFill/>
          <a:ln/>
        </p:spPr>
        <p:txBody>
          <a:bodyPr wrap="square" rtlCol="0" anchor="ctr"/>
          <a:lstStyle/>
          <a:p>
            <a:pPr algn="ctr" indent="0" marL="0">
              <a:buNone/>
            </a:pPr>
            <a:r>
              <a:rPr lang="en-US" sz="1150" b="1" dirty="0">
                <a:solidFill>
                  <a:srgbClr val="B18CF5"/>
                </a:solidFill>
                <a:latin typeface="Calibri" pitchFamily="34" charset="0"/>
                <a:ea typeface="Calibri" pitchFamily="34" charset="-122"/>
                <a:cs typeface="Calibri" pitchFamily="34" charset="-120"/>
              </a:rPr>
              <a:t>AI Agent</a:t>
            </a:r>
            <a:endParaRPr lang="en-US" sz="1150" dirty="0"/>
          </a:p>
        </p:txBody>
      </p:sp>
      <p:sp>
        <p:nvSpPr>
          <p:cNvPr id="40" name="Shape 38"/>
          <p:cNvSpPr/>
          <p:nvPr/>
        </p:nvSpPr>
        <p:spPr>
          <a:xfrm>
            <a:off x="8755380" y="2606040"/>
            <a:ext cx="914" cy="109728"/>
          </a:xfrm>
          <a:prstGeom prst="line">
            <a:avLst/>
          </a:prstGeom>
          <a:noFill/>
          <a:ln w="25400">
            <a:solidFill>
              <a:srgbClr val="B18CF5"/>
            </a:solidFill>
            <a:prstDash val="solid"/>
            <a:tailEnd type="triangle"/>
          </a:ln>
        </p:spPr>
      </p:sp>
      <p:sp>
        <p:nvSpPr>
          <p:cNvPr id="41" name="Shape 39"/>
          <p:cNvSpPr/>
          <p:nvPr/>
        </p:nvSpPr>
        <p:spPr>
          <a:xfrm>
            <a:off x="6492240" y="2715768"/>
            <a:ext cx="4526280" cy="365760"/>
          </a:xfrm>
          <a:prstGeom prst="roundRect">
            <a:avLst>
              <a:gd name="adj" fmla="val 20000"/>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42" name="Text 40"/>
          <p:cNvSpPr/>
          <p:nvPr/>
        </p:nvSpPr>
        <p:spPr>
          <a:xfrm>
            <a:off x="6537960" y="2715768"/>
            <a:ext cx="4434840" cy="365760"/>
          </a:xfrm>
          <a:prstGeom prst="rect">
            <a:avLst/>
          </a:prstGeom>
          <a:noFill/>
          <a:ln/>
        </p:spPr>
        <p:txBody>
          <a:bodyPr wrap="square" rtlCol="0" anchor="ctr"/>
          <a:lstStyle/>
          <a:p>
            <a:pPr algn="ctr" indent="0" marL="0">
              <a:buNone/>
            </a:pPr>
            <a:r>
              <a:rPr lang="en-US" sz="1050" b="1" dirty="0">
                <a:solidFill>
                  <a:srgbClr val="F3F6FB"/>
                </a:solidFill>
                <a:latin typeface="Calibri" pitchFamily="34" charset="0"/>
                <a:ea typeface="Calibri" pitchFamily="34" charset="-122"/>
                <a:cs typeface="Calibri" pitchFamily="34" charset="-120"/>
              </a:rPr>
              <a:t>Field-by-Field Comparison</a:t>
            </a:r>
            <a:endParaRPr lang="en-US" sz="1050" dirty="0"/>
          </a:p>
        </p:txBody>
      </p:sp>
      <p:sp>
        <p:nvSpPr>
          <p:cNvPr id="43" name="Shape 41"/>
          <p:cNvSpPr/>
          <p:nvPr/>
        </p:nvSpPr>
        <p:spPr>
          <a:xfrm>
            <a:off x="8755380" y="3081528"/>
            <a:ext cx="914" cy="109728"/>
          </a:xfrm>
          <a:prstGeom prst="line">
            <a:avLst/>
          </a:prstGeom>
          <a:noFill/>
          <a:ln w="25400">
            <a:solidFill>
              <a:srgbClr val="B18CF5"/>
            </a:solidFill>
            <a:prstDash val="solid"/>
            <a:tailEnd type="triangle"/>
          </a:ln>
        </p:spPr>
      </p:sp>
      <p:sp>
        <p:nvSpPr>
          <p:cNvPr id="44" name="Shape 42"/>
          <p:cNvSpPr/>
          <p:nvPr/>
        </p:nvSpPr>
        <p:spPr>
          <a:xfrm>
            <a:off x="6172200" y="3191256"/>
            <a:ext cx="5212080" cy="914400"/>
          </a:xfrm>
          <a:prstGeom prst="roundRect">
            <a:avLst>
              <a:gd name="adj" fmla="val 8000"/>
            </a:avLst>
          </a:prstGeom>
          <a:solidFill>
            <a:srgbClr val="101A30"/>
          </a:solidFill>
          <a:ln w="13970">
            <a:solidFill>
              <a:srgbClr val="F5B942"/>
            </a:solidFill>
            <a:prstDash val="solid"/>
          </a:ln>
          <a:effectLst>
            <a:outerShdw sx="100000" sy="100000" kx="0" ky="0" algn="bl" rotWithShape="0" blurRad="101600" dist="38100" dir="5400000">
              <a:srgbClr val="000000">
                <a:alpha val="45000"/>
              </a:srgbClr>
            </a:outerShdw>
          </a:effectLst>
        </p:spPr>
      </p:sp>
      <p:sp>
        <p:nvSpPr>
          <p:cNvPr id="45" name="Text 43"/>
          <p:cNvSpPr/>
          <p:nvPr/>
        </p:nvSpPr>
        <p:spPr>
          <a:xfrm>
            <a:off x="6309360" y="3255264"/>
            <a:ext cx="2468880" cy="365760"/>
          </a:xfrm>
          <a:prstGeom prst="rect">
            <a:avLst/>
          </a:prstGeom>
          <a:noFill/>
          <a:ln/>
        </p:spPr>
        <p:txBody>
          <a:bodyPr wrap="square" rtlCol="0" anchor="ctr"/>
          <a:lstStyle/>
          <a:p>
            <a:pPr algn="ctr" indent="0" marL="0">
              <a:buNone/>
            </a:pPr>
            <a:r>
              <a:rPr lang="en-US" sz="950" b="1" dirty="0">
                <a:solidFill>
                  <a:srgbClr val="F5B942"/>
                </a:solidFill>
                <a:latin typeface="Calibri" pitchFamily="34" charset="0"/>
                <a:ea typeface="Calibri" pitchFamily="34" charset="-122"/>
                <a:cs typeface="Calibri" pitchFamily="34" charset="-120"/>
              </a:rPr>
              <a:t>MATCH</a:t>
            </a:r>
            <a:endParaRPr lang="en-US" sz="950" dirty="0"/>
          </a:p>
        </p:txBody>
      </p:sp>
      <p:sp>
        <p:nvSpPr>
          <p:cNvPr id="46" name="Text 44"/>
          <p:cNvSpPr/>
          <p:nvPr/>
        </p:nvSpPr>
        <p:spPr>
          <a:xfrm>
            <a:off x="8915400" y="3255264"/>
            <a:ext cx="2468880" cy="365760"/>
          </a:xfrm>
          <a:prstGeom prst="rect">
            <a:avLst/>
          </a:prstGeom>
          <a:noFill/>
          <a:ln/>
        </p:spPr>
        <p:txBody>
          <a:bodyPr wrap="square" rtlCol="0" anchor="ctr"/>
          <a:lstStyle/>
          <a:p>
            <a:pPr algn="ctr" indent="0" marL="0">
              <a:buNone/>
            </a:pPr>
            <a:r>
              <a:rPr lang="en-US" sz="950" b="1" dirty="0">
                <a:solidFill>
                  <a:srgbClr val="F5B942"/>
                </a:solidFill>
                <a:latin typeface="Calibri" pitchFamily="34" charset="0"/>
                <a:ea typeface="Calibri" pitchFamily="34" charset="-122"/>
                <a:cs typeface="Calibri" pitchFamily="34" charset="-120"/>
              </a:rPr>
              <a:t>NEAR MATCH</a:t>
            </a:r>
            <a:endParaRPr lang="en-US" sz="950" dirty="0"/>
          </a:p>
        </p:txBody>
      </p:sp>
      <p:sp>
        <p:nvSpPr>
          <p:cNvPr id="47" name="Text 45"/>
          <p:cNvSpPr/>
          <p:nvPr/>
        </p:nvSpPr>
        <p:spPr>
          <a:xfrm>
            <a:off x="6309360" y="3666744"/>
            <a:ext cx="2468880" cy="365760"/>
          </a:xfrm>
          <a:prstGeom prst="rect">
            <a:avLst/>
          </a:prstGeom>
          <a:noFill/>
          <a:ln/>
        </p:spPr>
        <p:txBody>
          <a:bodyPr wrap="square" rtlCol="0" anchor="ctr"/>
          <a:lstStyle/>
          <a:p>
            <a:pPr algn="ctr" indent="0" marL="0">
              <a:buNone/>
            </a:pPr>
            <a:r>
              <a:rPr lang="en-US" sz="950" b="1" dirty="0">
                <a:solidFill>
                  <a:srgbClr val="F5B942"/>
                </a:solidFill>
                <a:latin typeface="Calibri" pitchFamily="34" charset="0"/>
                <a:ea typeface="Calibri" pitchFamily="34" charset="-122"/>
                <a:cs typeface="Calibri" pitchFamily="34" charset="-120"/>
              </a:rPr>
              <a:t>MISSING FROM JSON/XML</a:t>
            </a:r>
            <a:endParaRPr lang="en-US" sz="950" dirty="0"/>
          </a:p>
        </p:txBody>
      </p:sp>
      <p:sp>
        <p:nvSpPr>
          <p:cNvPr id="48" name="Text 46"/>
          <p:cNvSpPr/>
          <p:nvPr/>
        </p:nvSpPr>
        <p:spPr>
          <a:xfrm>
            <a:off x="8915400" y="3666744"/>
            <a:ext cx="2468880" cy="365760"/>
          </a:xfrm>
          <a:prstGeom prst="rect">
            <a:avLst/>
          </a:prstGeom>
          <a:noFill/>
          <a:ln/>
        </p:spPr>
        <p:txBody>
          <a:bodyPr wrap="square" rtlCol="0" anchor="ctr"/>
          <a:lstStyle/>
          <a:p>
            <a:pPr algn="ctr" indent="0" marL="0">
              <a:buNone/>
            </a:pPr>
            <a:r>
              <a:rPr lang="en-US" sz="950" b="1" dirty="0">
                <a:solidFill>
                  <a:srgbClr val="F5B942"/>
                </a:solidFill>
                <a:latin typeface="Calibri" pitchFamily="34" charset="0"/>
                <a:ea typeface="Calibri" pitchFamily="34" charset="-122"/>
                <a:cs typeface="Calibri" pitchFamily="34" charset="-120"/>
              </a:rPr>
              <a:t>MISSING FROM MAPPING</a:t>
            </a:r>
            <a:endParaRPr lang="en-US" sz="950" dirty="0"/>
          </a:p>
        </p:txBody>
      </p:sp>
      <p:sp>
        <p:nvSpPr>
          <p:cNvPr id="49" name="Shape 47"/>
          <p:cNvSpPr/>
          <p:nvPr/>
        </p:nvSpPr>
        <p:spPr>
          <a:xfrm>
            <a:off x="8755380" y="4105656"/>
            <a:ext cx="914" cy="91440"/>
          </a:xfrm>
          <a:prstGeom prst="line">
            <a:avLst/>
          </a:prstGeom>
          <a:noFill/>
          <a:ln w="25400">
            <a:solidFill>
              <a:srgbClr val="B18CF5"/>
            </a:solidFill>
            <a:prstDash val="solid"/>
            <a:tailEnd type="triangle"/>
          </a:ln>
        </p:spPr>
      </p:sp>
      <p:sp>
        <p:nvSpPr>
          <p:cNvPr id="50" name="Shape 48"/>
          <p:cNvSpPr/>
          <p:nvPr/>
        </p:nvSpPr>
        <p:spPr>
          <a:xfrm>
            <a:off x="6949440" y="4197096"/>
            <a:ext cx="3611880" cy="347472"/>
          </a:xfrm>
          <a:prstGeom prst="roundRect">
            <a:avLst>
              <a:gd name="adj" fmla="val 21053"/>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51" name="Text 49"/>
          <p:cNvSpPr/>
          <p:nvPr/>
        </p:nvSpPr>
        <p:spPr>
          <a:xfrm>
            <a:off x="6995160" y="4197096"/>
            <a:ext cx="3520440" cy="347472"/>
          </a:xfrm>
          <a:prstGeom prst="rect">
            <a:avLst/>
          </a:prstGeom>
          <a:noFill/>
          <a:ln/>
        </p:spPr>
        <p:txBody>
          <a:bodyPr wrap="square" rtlCol="0" anchor="ctr"/>
          <a:lstStyle/>
          <a:p>
            <a:pPr algn="ctr" indent="0" marL="0">
              <a:buNone/>
            </a:pPr>
            <a:r>
              <a:rPr lang="en-US" sz="1050" b="1" dirty="0">
                <a:solidFill>
                  <a:srgbClr val="F3F6FB"/>
                </a:solidFill>
                <a:latin typeface="Calibri" pitchFamily="34" charset="0"/>
                <a:ea typeface="Calibri" pitchFamily="34" charset="-122"/>
                <a:cs typeface="Calibri" pitchFamily="34" charset="-120"/>
              </a:rPr>
              <a:t>Validation Report</a:t>
            </a:r>
            <a:endParaRPr lang="en-US" sz="1050" dirty="0"/>
          </a:p>
        </p:txBody>
      </p:sp>
      <p:sp>
        <p:nvSpPr>
          <p:cNvPr id="52" name="Shape 50"/>
          <p:cNvSpPr/>
          <p:nvPr/>
        </p:nvSpPr>
        <p:spPr>
          <a:xfrm>
            <a:off x="8755380" y="4544568"/>
            <a:ext cx="914" cy="91440"/>
          </a:xfrm>
          <a:prstGeom prst="line">
            <a:avLst/>
          </a:prstGeom>
          <a:noFill/>
          <a:ln w="25400">
            <a:solidFill>
              <a:srgbClr val="B18CF5"/>
            </a:solidFill>
            <a:prstDash val="solid"/>
            <a:tailEnd type="triangle"/>
          </a:ln>
        </p:spPr>
      </p:sp>
      <p:sp>
        <p:nvSpPr>
          <p:cNvPr id="53" name="Shape 51"/>
          <p:cNvSpPr/>
          <p:nvPr/>
        </p:nvSpPr>
        <p:spPr>
          <a:xfrm>
            <a:off x="6949440" y="4636008"/>
            <a:ext cx="3611880" cy="347472"/>
          </a:xfrm>
          <a:prstGeom prst="roundRect">
            <a:avLst>
              <a:gd name="adj" fmla="val 21053"/>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54" name="Text 52"/>
          <p:cNvSpPr/>
          <p:nvPr/>
        </p:nvSpPr>
        <p:spPr>
          <a:xfrm>
            <a:off x="6995160" y="4636008"/>
            <a:ext cx="3520440" cy="347472"/>
          </a:xfrm>
          <a:prstGeom prst="rect">
            <a:avLst/>
          </a:prstGeom>
          <a:noFill/>
          <a:ln/>
        </p:spPr>
        <p:txBody>
          <a:bodyPr wrap="square" rtlCol="0" anchor="ctr"/>
          <a:lstStyle/>
          <a:p>
            <a:pPr algn="ctr" indent="0" marL="0">
              <a:buNone/>
            </a:pPr>
            <a:r>
              <a:rPr lang="en-US" sz="1050" b="1" dirty="0">
                <a:solidFill>
                  <a:srgbClr val="F3F6FB"/>
                </a:solidFill>
                <a:latin typeface="Calibri" pitchFamily="34" charset="0"/>
                <a:ea typeface="Calibri" pitchFamily="34" charset="-122"/>
                <a:cs typeface="Calibri" pitchFamily="34" charset="-120"/>
              </a:rPr>
              <a:t>Tester Review</a:t>
            </a:r>
            <a:endParaRPr lang="en-US" sz="1050" dirty="0"/>
          </a:p>
        </p:txBody>
      </p:sp>
      <p:sp>
        <p:nvSpPr>
          <p:cNvPr id="55" name="Shape 53"/>
          <p:cNvSpPr/>
          <p:nvPr/>
        </p:nvSpPr>
        <p:spPr>
          <a:xfrm>
            <a:off x="8755380" y="4983480"/>
            <a:ext cx="914" cy="91440"/>
          </a:xfrm>
          <a:prstGeom prst="line">
            <a:avLst/>
          </a:prstGeom>
          <a:noFill/>
          <a:ln w="25400">
            <a:solidFill>
              <a:srgbClr val="B18CF5"/>
            </a:solidFill>
            <a:prstDash val="solid"/>
            <a:tailEnd type="triangle"/>
          </a:ln>
        </p:spPr>
      </p:sp>
      <p:sp>
        <p:nvSpPr>
          <p:cNvPr id="56" name="Shape 54"/>
          <p:cNvSpPr/>
          <p:nvPr/>
        </p:nvSpPr>
        <p:spPr>
          <a:xfrm>
            <a:off x="6949440" y="5074920"/>
            <a:ext cx="3611880" cy="347472"/>
          </a:xfrm>
          <a:prstGeom prst="roundRect">
            <a:avLst>
              <a:gd name="adj" fmla="val 21053"/>
            </a:avLst>
          </a:prstGeom>
          <a:solidFill>
            <a:srgbClr val="101A30"/>
          </a:solidFill>
          <a:ln w="12700">
            <a:solidFill>
              <a:srgbClr val="F5B942"/>
            </a:solidFill>
            <a:prstDash val="solid"/>
          </a:ln>
          <a:effectLst>
            <a:outerShdw sx="100000" sy="100000" kx="0" ky="0" algn="bl" rotWithShape="0" blurRad="101600" dist="38100" dir="5400000">
              <a:srgbClr val="000000">
                <a:alpha val="45000"/>
              </a:srgbClr>
            </a:outerShdw>
          </a:effectLst>
        </p:spPr>
      </p:sp>
      <p:sp>
        <p:nvSpPr>
          <p:cNvPr id="57" name="Text 55"/>
          <p:cNvSpPr/>
          <p:nvPr/>
        </p:nvSpPr>
        <p:spPr>
          <a:xfrm>
            <a:off x="6995160" y="5074920"/>
            <a:ext cx="3520440" cy="347472"/>
          </a:xfrm>
          <a:prstGeom prst="rect">
            <a:avLst/>
          </a:prstGeom>
          <a:noFill/>
          <a:ln/>
        </p:spPr>
        <p:txBody>
          <a:bodyPr wrap="square" rtlCol="0" anchor="ctr"/>
          <a:lstStyle/>
          <a:p>
            <a:pPr algn="ctr" indent="0" marL="0">
              <a:buNone/>
            </a:pPr>
            <a:r>
              <a:rPr lang="en-US" sz="1050" b="1" dirty="0">
                <a:solidFill>
                  <a:srgbClr val="F5B942"/>
                </a:solidFill>
                <a:latin typeface="Calibri" pitchFamily="34" charset="0"/>
                <a:ea typeface="Calibri" pitchFamily="34" charset="-122"/>
                <a:cs typeface="Calibri" pitchFamily="34" charset="-120"/>
              </a:rPr>
              <a:t>Final Validation</a:t>
            </a:r>
            <a:endParaRPr lang="en-US" sz="1050" dirty="0"/>
          </a:p>
        </p:txBody>
      </p:sp>
      <p:sp>
        <p:nvSpPr>
          <p:cNvPr id="58" name="Shape 56"/>
          <p:cNvSpPr/>
          <p:nvPr/>
        </p:nvSpPr>
        <p:spPr>
          <a:xfrm>
            <a:off x="6035040" y="5559552"/>
            <a:ext cx="5486400" cy="502920"/>
          </a:xfrm>
          <a:prstGeom prst="roundRect">
            <a:avLst>
              <a:gd name="adj" fmla="val 14545"/>
            </a:avLst>
          </a:prstGeom>
          <a:solidFill>
            <a:srgbClr val="101A30"/>
          </a:solidFill>
          <a:ln w="12700">
            <a:solidFill>
              <a:srgbClr val="B18CF5"/>
            </a:solidFill>
            <a:prstDash val="solid"/>
          </a:ln>
        </p:spPr>
      </p:sp>
      <p:sp>
        <p:nvSpPr>
          <p:cNvPr id="59" name="Text 57"/>
          <p:cNvSpPr/>
          <p:nvPr/>
        </p:nvSpPr>
        <p:spPr>
          <a:xfrm>
            <a:off x="6217920" y="5559552"/>
            <a:ext cx="5120640" cy="502920"/>
          </a:xfrm>
          <a:prstGeom prst="rect">
            <a:avLst/>
          </a:prstGeom>
          <a:noFill/>
          <a:ln/>
        </p:spPr>
        <p:txBody>
          <a:bodyPr wrap="square" rtlCol="0" anchor="ctr"/>
          <a:lstStyle/>
          <a:p>
            <a:pPr indent="0" marL="0">
              <a:buNone/>
            </a:pPr>
            <a:r>
              <a:rPr lang="en-US" sz="1050" i="1" dirty="0">
                <a:solidFill>
                  <a:srgbClr val="97A3BE"/>
                </a:solidFill>
                <a:latin typeface="Calibri" pitchFamily="34" charset="0"/>
                <a:ea typeface="Calibri" pitchFamily="34" charset="-122"/>
                <a:cs typeface="Calibri" pitchFamily="34" charset="-120"/>
              </a:rPr>
              <a:t>AI assists field-level comparison; tester reviews and confirms the result.</a:t>
            </a:r>
            <a:endParaRPr lang="en-US" sz="1050" dirty="0"/>
          </a:p>
        </p:txBody>
      </p:sp>
      <p:sp>
        <p:nvSpPr>
          <p:cNvPr id="60" name="Text 58"/>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61" name="Text 59"/>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62" name="Text 60"/>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11612880" y="-1463040"/>
            <a:ext cx="2926080" cy="2926080"/>
          </a:xfrm>
          <a:prstGeom prst="ellipse">
            <a:avLst/>
          </a:prstGeom>
          <a:solidFill>
            <a:srgbClr val="B18CF5">
              <a:alpha val="12000"/>
            </a:srgbClr>
          </a:solidFill>
          <a:ln/>
        </p:spPr>
      </p:sp>
      <p:sp>
        <p:nvSpPr>
          <p:cNvPr id="3" name="Shape 1"/>
          <p:cNvSpPr/>
          <p:nvPr/>
        </p:nvSpPr>
        <p:spPr>
          <a:xfrm>
            <a:off x="-1280160" y="6035040"/>
            <a:ext cx="2377440" cy="2377440"/>
          </a:xfrm>
          <a:prstGeom prst="ellipse">
            <a:avLst/>
          </a:prstGeom>
          <a:solidFill>
            <a:srgbClr val="B18CF5">
              <a:alpha val="8000"/>
            </a:srgbClr>
          </a:solidFill>
          <a:ln/>
        </p:spPr>
      </p:sp>
      <p:sp>
        <p:nvSpPr>
          <p:cNvPr id="4" name="Shape 2"/>
          <p:cNvSpPr/>
          <p:nvPr/>
        </p:nvSpPr>
        <p:spPr>
          <a:xfrm>
            <a:off x="457200" y="384048"/>
            <a:ext cx="146304" cy="146304"/>
          </a:xfrm>
          <a:prstGeom prst="roundRect">
            <a:avLst>
              <a:gd name="adj" fmla="val 50000"/>
            </a:avLst>
          </a:prstGeom>
          <a:solidFill>
            <a:srgbClr val="B18CF5"/>
          </a:solidFill>
          <a:ln/>
        </p:spPr>
      </p:sp>
      <p:sp>
        <p:nvSpPr>
          <p:cNvPr id="5" name="Text 3"/>
          <p:cNvSpPr/>
          <p:nvPr/>
        </p:nvSpPr>
        <p:spPr>
          <a:xfrm>
            <a:off x="676656" y="310896"/>
            <a:ext cx="7315200" cy="292608"/>
          </a:xfrm>
          <a:prstGeom prst="rect">
            <a:avLst/>
          </a:prstGeom>
          <a:noFill/>
          <a:ln/>
        </p:spPr>
        <p:txBody>
          <a:bodyPr wrap="square" rtlCol="0" anchor="ctr"/>
          <a:lstStyle/>
          <a:p>
            <a:pPr indent="0" marL="0">
              <a:buNone/>
            </a:pPr>
            <a:r>
              <a:rPr lang="en-US" sz="1250" b="1" spc="200" kern="0" dirty="0">
                <a:solidFill>
                  <a:srgbClr val="B18CF5"/>
                </a:solidFill>
                <a:latin typeface="Calibri" pitchFamily="34" charset="0"/>
                <a:ea typeface="Calibri" pitchFamily="34" charset="-122"/>
                <a:cs typeface="Calibri" pitchFamily="34" charset="-120"/>
              </a:rPr>
              <a:t>AUTOMATION &amp; AI — SUMMARY</a:t>
            </a:r>
            <a:endParaRPr lang="en-US" sz="1250" dirty="0"/>
          </a:p>
        </p:txBody>
      </p:sp>
      <p:sp>
        <p:nvSpPr>
          <p:cNvPr id="6" name="Text 4"/>
          <p:cNvSpPr/>
          <p:nvPr/>
        </p:nvSpPr>
        <p:spPr>
          <a:xfrm>
            <a:off x="457200" y="621792"/>
            <a:ext cx="9875520" cy="685800"/>
          </a:xfrm>
          <a:prstGeom prst="rect">
            <a:avLst/>
          </a:prstGeom>
          <a:noFill/>
          <a:ln/>
        </p:spPr>
        <p:txBody>
          <a:bodyPr wrap="square" rtlCol="0" anchor="ctr"/>
          <a:lstStyle/>
          <a:p>
            <a:pPr algn="l" indent="0" marL="0">
              <a:buNone/>
            </a:pPr>
            <a:r>
              <a:rPr lang="en-US" sz="3000" b="1" dirty="0">
                <a:solidFill>
                  <a:srgbClr val="F3F6FB"/>
                </a:solidFill>
                <a:latin typeface="Cambria" pitchFamily="34" charset="0"/>
                <a:ea typeface="Cambria" pitchFamily="34" charset="-122"/>
                <a:cs typeface="Cambria" pitchFamily="34" charset="-120"/>
              </a:rPr>
              <a:t>End-to-End Allianz Automation Flow</a:t>
            </a:r>
            <a:endParaRPr lang="en-US" sz="3000" dirty="0"/>
          </a:p>
        </p:txBody>
      </p:sp>
      <p:sp>
        <p:nvSpPr>
          <p:cNvPr id="7" name="Shape 5"/>
          <p:cNvSpPr/>
          <p:nvPr/>
        </p:nvSpPr>
        <p:spPr>
          <a:xfrm>
            <a:off x="457200" y="1572768"/>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8" name="Text 6"/>
          <p:cNvSpPr/>
          <p:nvPr/>
        </p:nvSpPr>
        <p:spPr>
          <a:xfrm>
            <a:off x="594360" y="1572768"/>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Stakeholder Requirements</a:t>
            </a:r>
            <a:endParaRPr lang="en-US" sz="950" dirty="0"/>
          </a:p>
        </p:txBody>
      </p:sp>
      <p:sp>
        <p:nvSpPr>
          <p:cNvPr id="9" name="Shape 7"/>
          <p:cNvSpPr/>
          <p:nvPr/>
        </p:nvSpPr>
        <p:spPr>
          <a:xfrm>
            <a:off x="3657600" y="1856232"/>
            <a:ext cx="914" cy="4572"/>
          </a:xfrm>
          <a:prstGeom prst="line">
            <a:avLst/>
          </a:prstGeom>
          <a:noFill/>
          <a:ln w="25400">
            <a:solidFill>
              <a:srgbClr val="B18CF5"/>
            </a:solidFill>
            <a:prstDash val="solid"/>
            <a:tailEnd type="triangle"/>
          </a:ln>
        </p:spPr>
      </p:sp>
      <p:sp>
        <p:nvSpPr>
          <p:cNvPr id="10" name="Shape 8"/>
          <p:cNvSpPr/>
          <p:nvPr/>
        </p:nvSpPr>
        <p:spPr>
          <a:xfrm>
            <a:off x="457200" y="1888236"/>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1" name="Text 9"/>
          <p:cNvSpPr/>
          <p:nvPr/>
        </p:nvSpPr>
        <p:spPr>
          <a:xfrm>
            <a:off x="594360" y="1888236"/>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Mapping Document</a:t>
            </a:r>
            <a:endParaRPr lang="en-US" sz="950" dirty="0"/>
          </a:p>
        </p:txBody>
      </p:sp>
      <p:sp>
        <p:nvSpPr>
          <p:cNvPr id="12" name="Shape 10"/>
          <p:cNvSpPr/>
          <p:nvPr/>
        </p:nvSpPr>
        <p:spPr>
          <a:xfrm>
            <a:off x="3657600" y="2171700"/>
            <a:ext cx="914" cy="4572"/>
          </a:xfrm>
          <a:prstGeom prst="line">
            <a:avLst/>
          </a:prstGeom>
          <a:noFill/>
          <a:ln w="25400">
            <a:solidFill>
              <a:srgbClr val="B18CF5"/>
            </a:solidFill>
            <a:prstDash val="solid"/>
            <a:tailEnd type="triangle"/>
          </a:ln>
        </p:spPr>
      </p:sp>
      <p:sp>
        <p:nvSpPr>
          <p:cNvPr id="13" name="Shape 11"/>
          <p:cNvSpPr/>
          <p:nvPr/>
        </p:nvSpPr>
        <p:spPr>
          <a:xfrm>
            <a:off x="457200" y="2203704"/>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4" name="Text 12"/>
          <p:cNvSpPr/>
          <p:nvPr/>
        </p:nvSpPr>
        <p:spPr>
          <a:xfrm>
            <a:off x="594360" y="2203704"/>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Test Case Design</a:t>
            </a:r>
            <a:endParaRPr lang="en-US" sz="950" dirty="0"/>
          </a:p>
        </p:txBody>
      </p:sp>
      <p:sp>
        <p:nvSpPr>
          <p:cNvPr id="15" name="Shape 13"/>
          <p:cNvSpPr/>
          <p:nvPr/>
        </p:nvSpPr>
        <p:spPr>
          <a:xfrm>
            <a:off x="3657600" y="2487168"/>
            <a:ext cx="914" cy="4572"/>
          </a:xfrm>
          <a:prstGeom prst="line">
            <a:avLst/>
          </a:prstGeom>
          <a:noFill/>
          <a:ln w="25400">
            <a:solidFill>
              <a:srgbClr val="B18CF5"/>
            </a:solidFill>
            <a:prstDash val="solid"/>
            <a:tailEnd type="triangle"/>
          </a:ln>
        </p:spPr>
      </p:sp>
      <p:sp>
        <p:nvSpPr>
          <p:cNvPr id="16" name="Shape 14"/>
          <p:cNvSpPr/>
          <p:nvPr/>
        </p:nvSpPr>
        <p:spPr>
          <a:xfrm>
            <a:off x="457200" y="2519172"/>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17" name="Text 15"/>
          <p:cNvSpPr/>
          <p:nvPr/>
        </p:nvSpPr>
        <p:spPr>
          <a:xfrm>
            <a:off x="594360" y="2519172"/>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API / SOAP Validation</a:t>
            </a:r>
            <a:endParaRPr lang="en-US" sz="950" dirty="0"/>
          </a:p>
        </p:txBody>
      </p:sp>
      <p:sp>
        <p:nvSpPr>
          <p:cNvPr id="18" name="Shape 16"/>
          <p:cNvSpPr/>
          <p:nvPr/>
        </p:nvSpPr>
        <p:spPr>
          <a:xfrm>
            <a:off x="3657600" y="2802636"/>
            <a:ext cx="914" cy="4572"/>
          </a:xfrm>
          <a:prstGeom prst="line">
            <a:avLst/>
          </a:prstGeom>
          <a:noFill/>
          <a:ln w="25400">
            <a:solidFill>
              <a:srgbClr val="B18CF5"/>
            </a:solidFill>
            <a:prstDash val="solid"/>
            <a:tailEnd type="triangle"/>
          </a:ln>
        </p:spPr>
      </p:sp>
      <p:sp>
        <p:nvSpPr>
          <p:cNvPr id="19" name="Shape 17"/>
          <p:cNvSpPr/>
          <p:nvPr/>
        </p:nvSpPr>
        <p:spPr>
          <a:xfrm>
            <a:off x="457200" y="2834640"/>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0" name="Text 18"/>
          <p:cNvSpPr/>
          <p:nvPr/>
        </p:nvSpPr>
        <p:spPr>
          <a:xfrm>
            <a:off x="594360" y="2834640"/>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Quote ID / MQS ID</a:t>
            </a:r>
            <a:endParaRPr lang="en-US" sz="950" dirty="0"/>
          </a:p>
        </p:txBody>
      </p:sp>
      <p:sp>
        <p:nvSpPr>
          <p:cNvPr id="21" name="Shape 19"/>
          <p:cNvSpPr/>
          <p:nvPr/>
        </p:nvSpPr>
        <p:spPr>
          <a:xfrm>
            <a:off x="3657600" y="3118104"/>
            <a:ext cx="914" cy="4572"/>
          </a:xfrm>
          <a:prstGeom prst="line">
            <a:avLst/>
          </a:prstGeom>
          <a:noFill/>
          <a:ln w="25400">
            <a:solidFill>
              <a:srgbClr val="B18CF5"/>
            </a:solidFill>
            <a:prstDash val="solid"/>
            <a:tailEnd type="triangle"/>
          </a:ln>
        </p:spPr>
      </p:sp>
      <p:sp>
        <p:nvSpPr>
          <p:cNvPr id="22" name="Shape 20"/>
          <p:cNvSpPr/>
          <p:nvPr/>
        </p:nvSpPr>
        <p:spPr>
          <a:xfrm>
            <a:off x="457200" y="3150108"/>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3" name="Text 21"/>
          <p:cNvSpPr/>
          <p:nvPr/>
        </p:nvSpPr>
        <p:spPr>
          <a:xfrm>
            <a:off x="594360" y="3150108"/>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Outbound Request</a:t>
            </a:r>
            <a:endParaRPr lang="en-US" sz="950" dirty="0"/>
          </a:p>
        </p:txBody>
      </p:sp>
      <p:sp>
        <p:nvSpPr>
          <p:cNvPr id="24" name="Shape 22"/>
          <p:cNvSpPr/>
          <p:nvPr/>
        </p:nvSpPr>
        <p:spPr>
          <a:xfrm>
            <a:off x="3657600" y="3433572"/>
            <a:ext cx="914" cy="4572"/>
          </a:xfrm>
          <a:prstGeom prst="line">
            <a:avLst/>
          </a:prstGeom>
          <a:noFill/>
          <a:ln w="25400">
            <a:solidFill>
              <a:srgbClr val="B18CF5"/>
            </a:solidFill>
            <a:prstDash val="solid"/>
            <a:tailEnd type="triangle"/>
          </a:ln>
        </p:spPr>
      </p:sp>
      <p:sp>
        <p:nvSpPr>
          <p:cNvPr id="25" name="Shape 23"/>
          <p:cNvSpPr/>
          <p:nvPr/>
        </p:nvSpPr>
        <p:spPr>
          <a:xfrm>
            <a:off x="457200" y="3465576"/>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6" name="Text 24"/>
          <p:cNvSpPr/>
          <p:nvPr/>
        </p:nvSpPr>
        <p:spPr>
          <a:xfrm>
            <a:off x="594360" y="3465576"/>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Backend</a:t>
            </a:r>
            <a:endParaRPr lang="en-US" sz="950" dirty="0"/>
          </a:p>
        </p:txBody>
      </p:sp>
      <p:sp>
        <p:nvSpPr>
          <p:cNvPr id="27" name="Shape 25"/>
          <p:cNvSpPr/>
          <p:nvPr/>
        </p:nvSpPr>
        <p:spPr>
          <a:xfrm>
            <a:off x="3657600" y="3749040"/>
            <a:ext cx="914" cy="4572"/>
          </a:xfrm>
          <a:prstGeom prst="line">
            <a:avLst/>
          </a:prstGeom>
          <a:noFill/>
          <a:ln w="25400">
            <a:solidFill>
              <a:srgbClr val="B18CF5"/>
            </a:solidFill>
            <a:prstDash val="solid"/>
            <a:tailEnd type="triangle"/>
          </a:ln>
        </p:spPr>
      </p:sp>
      <p:sp>
        <p:nvSpPr>
          <p:cNvPr id="28" name="Shape 26"/>
          <p:cNvSpPr/>
          <p:nvPr/>
        </p:nvSpPr>
        <p:spPr>
          <a:xfrm>
            <a:off x="457200" y="3781044"/>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29" name="Text 27"/>
          <p:cNvSpPr/>
          <p:nvPr/>
        </p:nvSpPr>
        <p:spPr>
          <a:xfrm>
            <a:off x="594360" y="3781044"/>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Inbound Response / Logs</a:t>
            </a:r>
            <a:endParaRPr lang="en-US" sz="950" dirty="0"/>
          </a:p>
        </p:txBody>
      </p:sp>
      <p:sp>
        <p:nvSpPr>
          <p:cNvPr id="30" name="Shape 28"/>
          <p:cNvSpPr/>
          <p:nvPr/>
        </p:nvSpPr>
        <p:spPr>
          <a:xfrm>
            <a:off x="3657600" y="4064508"/>
            <a:ext cx="914" cy="4572"/>
          </a:xfrm>
          <a:prstGeom prst="line">
            <a:avLst/>
          </a:prstGeom>
          <a:noFill/>
          <a:ln w="25400">
            <a:solidFill>
              <a:srgbClr val="B18CF5"/>
            </a:solidFill>
            <a:prstDash val="solid"/>
            <a:tailEnd type="triangle"/>
          </a:ln>
        </p:spPr>
      </p:sp>
      <p:sp>
        <p:nvSpPr>
          <p:cNvPr id="31" name="Shape 29"/>
          <p:cNvSpPr/>
          <p:nvPr/>
        </p:nvSpPr>
        <p:spPr>
          <a:xfrm>
            <a:off x="457200" y="4096512"/>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2" name="Text 30"/>
          <p:cNvSpPr/>
          <p:nvPr/>
        </p:nvSpPr>
        <p:spPr>
          <a:xfrm>
            <a:off x="594360" y="4096512"/>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JSON / XML Response</a:t>
            </a:r>
            <a:endParaRPr lang="en-US" sz="950" dirty="0"/>
          </a:p>
        </p:txBody>
      </p:sp>
      <p:sp>
        <p:nvSpPr>
          <p:cNvPr id="33" name="Shape 31"/>
          <p:cNvSpPr/>
          <p:nvPr/>
        </p:nvSpPr>
        <p:spPr>
          <a:xfrm>
            <a:off x="3657600" y="4379976"/>
            <a:ext cx="914" cy="4572"/>
          </a:xfrm>
          <a:prstGeom prst="line">
            <a:avLst/>
          </a:prstGeom>
          <a:noFill/>
          <a:ln w="25400">
            <a:solidFill>
              <a:srgbClr val="B18CF5"/>
            </a:solidFill>
            <a:prstDash val="solid"/>
            <a:tailEnd type="triangle"/>
          </a:ln>
        </p:spPr>
      </p:sp>
      <p:sp>
        <p:nvSpPr>
          <p:cNvPr id="34" name="Shape 32"/>
          <p:cNvSpPr/>
          <p:nvPr/>
        </p:nvSpPr>
        <p:spPr>
          <a:xfrm>
            <a:off x="457200" y="4411980"/>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5" name="Text 33"/>
          <p:cNvSpPr/>
          <p:nvPr/>
        </p:nvSpPr>
        <p:spPr>
          <a:xfrm>
            <a:off x="594360" y="4411980"/>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Field / Data Validation</a:t>
            </a:r>
            <a:endParaRPr lang="en-US" sz="950" dirty="0"/>
          </a:p>
        </p:txBody>
      </p:sp>
      <p:sp>
        <p:nvSpPr>
          <p:cNvPr id="36" name="Shape 34"/>
          <p:cNvSpPr/>
          <p:nvPr/>
        </p:nvSpPr>
        <p:spPr>
          <a:xfrm>
            <a:off x="3657600" y="4695444"/>
            <a:ext cx="914" cy="4572"/>
          </a:xfrm>
          <a:prstGeom prst="line">
            <a:avLst/>
          </a:prstGeom>
          <a:noFill/>
          <a:ln w="25400">
            <a:solidFill>
              <a:srgbClr val="B18CF5"/>
            </a:solidFill>
            <a:prstDash val="solid"/>
            <a:tailEnd type="triangle"/>
          </a:ln>
        </p:spPr>
      </p:sp>
      <p:sp>
        <p:nvSpPr>
          <p:cNvPr id="37" name="Shape 35"/>
          <p:cNvSpPr/>
          <p:nvPr/>
        </p:nvSpPr>
        <p:spPr>
          <a:xfrm>
            <a:off x="457200" y="4727448"/>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38" name="Text 36"/>
          <p:cNvSpPr/>
          <p:nvPr/>
        </p:nvSpPr>
        <p:spPr>
          <a:xfrm>
            <a:off x="594360" y="4727448"/>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AI-Assisted Mapping Validation</a:t>
            </a:r>
            <a:endParaRPr lang="en-US" sz="950" dirty="0"/>
          </a:p>
        </p:txBody>
      </p:sp>
      <p:sp>
        <p:nvSpPr>
          <p:cNvPr id="39" name="Shape 37"/>
          <p:cNvSpPr/>
          <p:nvPr/>
        </p:nvSpPr>
        <p:spPr>
          <a:xfrm>
            <a:off x="3657600" y="5010912"/>
            <a:ext cx="914" cy="4572"/>
          </a:xfrm>
          <a:prstGeom prst="line">
            <a:avLst/>
          </a:prstGeom>
          <a:noFill/>
          <a:ln w="25400">
            <a:solidFill>
              <a:srgbClr val="B18CF5"/>
            </a:solidFill>
            <a:prstDash val="solid"/>
            <a:tailEnd type="triangle"/>
          </a:ln>
        </p:spPr>
      </p:sp>
      <p:sp>
        <p:nvSpPr>
          <p:cNvPr id="40" name="Shape 38"/>
          <p:cNvSpPr/>
          <p:nvPr/>
        </p:nvSpPr>
        <p:spPr>
          <a:xfrm>
            <a:off x="457200" y="5042916"/>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41" name="Text 39"/>
          <p:cNvSpPr/>
          <p:nvPr/>
        </p:nvSpPr>
        <p:spPr>
          <a:xfrm>
            <a:off x="594360" y="5042916"/>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Playwright UI Tests</a:t>
            </a:r>
            <a:endParaRPr lang="en-US" sz="950" dirty="0"/>
          </a:p>
        </p:txBody>
      </p:sp>
      <p:sp>
        <p:nvSpPr>
          <p:cNvPr id="42" name="Shape 40"/>
          <p:cNvSpPr/>
          <p:nvPr/>
        </p:nvSpPr>
        <p:spPr>
          <a:xfrm>
            <a:off x="3657600" y="5326380"/>
            <a:ext cx="914" cy="4572"/>
          </a:xfrm>
          <a:prstGeom prst="line">
            <a:avLst/>
          </a:prstGeom>
          <a:noFill/>
          <a:ln w="25400">
            <a:solidFill>
              <a:srgbClr val="B18CF5"/>
            </a:solidFill>
            <a:prstDash val="solid"/>
            <a:tailEnd type="triangle"/>
          </a:ln>
        </p:spPr>
      </p:sp>
      <p:sp>
        <p:nvSpPr>
          <p:cNvPr id="43" name="Shape 41"/>
          <p:cNvSpPr/>
          <p:nvPr/>
        </p:nvSpPr>
        <p:spPr>
          <a:xfrm>
            <a:off x="457200" y="5358384"/>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44" name="Text 42"/>
          <p:cNvSpPr/>
          <p:nvPr/>
        </p:nvSpPr>
        <p:spPr>
          <a:xfrm>
            <a:off x="594360" y="5358384"/>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Test Execution</a:t>
            </a:r>
            <a:endParaRPr lang="en-US" sz="950" dirty="0"/>
          </a:p>
        </p:txBody>
      </p:sp>
      <p:sp>
        <p:nvSpPr>
          <p:cNvPr id="45" name="Shape 43"/>
          <p:cNvSpPr/>
          <p:nvPr/>
        </p:nvSpPr>
        <p:spPr>
          <a:xfrm>
            <a:off x="3657600" y="5641848"/>
            <a:ext cx="914" cy="4572"/>
          </a:xfrm>
          <a:prstGeom prst="line">
            <a:avLst/>
          </a:prstGeom>
          <a:noFill/>
          <a:ln w="25400">
            <a:solidFill>
              <a:srgbClr val="B18CF5"/>
            </a:solidFill>
            <a:prstDash val="solid"/>
            <a:tailEnd type="triangle"/>
          </a:ln>
        </p:spPr>
      </p:sp>
      <p:sp>
        <p:nvSpPr>
          <p:cNvPr id="46" name="Shape 44"/>
          <p:cNvSpPr/>
          <p:nvPr/>
        </p:nvSpPr>
        <p:spPr>
          <a:xfrm>
            <a:off x="457200" y="5673852"/>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47" name="Text 45"/>
          <p:cNvSpPr/>
          <p:nvPr/>
        </p:nvSpPr>
        <p:spPr>
          <a:xfrm>
            <a:off x="594360" y="5673852"/>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Test Report</a:t>
            </a:r>
            <a:endParaRPr lang="en-US" sz="950" dirty="0"/>
          </a:p>
        </p:txBody>
      </p:sp>
      <p:sp>
        <p:nvSpPr>
          <p:cNvPr id="48" name="Shape 46"/>
          <p:cNvSpPr/>
          <p:nvPr/>
        </p:nvSpPr>
        <p:spPr>
          <a:xfrm>
            <a:off x="3657600" y="5957316"/>
            <a:ext cx="914" cy="4572"/>
          </a:xfrm>
          <a:prstGeom prst="line">
            <a:avLst/>
          </a:prstGeom>
          <a:noFill/>
          <a:ln w="25400">
            <a:solidFill>
              <a:srgbClr val="B18CF5"/>
            </a:solidFill>
            <a:prstDash val="solid"/>
            <a:tailEnd type="triangle"/>
          </a:ln>
        </p:spPr>
      </p:sp>
      <p:sp>
        <p:nvSpPr>
          <p:cNvPr id="49" name="Shape 47"/>
          <p:cNvSpPr/>
          <p:nvPr/>
        </p:nvSpPr>
        <p:spPr>
          <a:xfrm>
            <a:off x="457200" y="5989320"/>
            <a:ext cx="6400800" cy="256032"/>
          </a:xfrm>
          <a:prstGeom prst="roundRect">
            <a:avLst>
              <a:gd name="adj" fmla="val 28571"/>
            </a:avLst>
          </a:prstGeom>
          <a:solidFill>
            <a:srgbClr val="141F38"/>
          </a:solidFill>
          <a:ln w="12700">
            <a:solidFill>
              <a:srgbClr val="B18CF5"/>
            </a:solidFill>
            <a:prstDash val="solid"/>
          </a:ln>
          <a:effectLst>
            <a:outerShdw sx="100000" sy="100000" kx="0" ky="0" algn="bl" rotWithShape="0" blurRad="101600" dist="38100" dir="5400000">
              <a:srgbClr val="000000">
                <a:alpha val="45000"/>
              </a:srgbClr>
            </a:outerShdw>
          </a:effectLst>
        </p:spPr>
      </p:sp>
      <p:sp>
        <p:nvSpPr>
          <p:cNvPr id="50" name="Text 48"/>
          <p:cNvSpPr/>
          <p:nvPr/>
        </p:nvSpPr>
        <p:spPr>
          <a:xfrm>
            <a:off x="594360" y="5989320"/>
            <a:ext cx="6126480" cy="256032"/>
          </a:xfrm>
          <a:prstGeom prst="rect">
            <a:avLst/>
          </a:prstGeom>
          <a:noFill/>
          <a:ln/>
        </p:spPr>
        <p:txBody>
          <a:bodyPr wrap="square" rtlCol="0" anchor="ctr"/>
          <a:lstStyle/>
          <a:p>
            <a:pPr algn="ctr" indent="0" marL="0">
              <a:buNone/>
            </a:pPr>
            <a:r>
              <a:rPr lang="en-US" sz="950" b="1" dirty="0">
                <a:solidFill>
                  <a:srgbClr val="F3F6FB"/>
                </a:solidFill>
                <a:latin typeface="Calibri" pitchFamily="34" charset="0"/>
                <a:ea typeface="Calibri" pitchFamily="34" charset="-122"/>
                <a:cs typeface="Calibri" pitchFamily="34" charset="-120"/>
              </a:rPr>
              <a:t>Defect / Result Sharing</a:t>
            </a:r>
            <a:endParaRPr lang="en-US" sz="950" dirty="0"/>
          </a:p>
        </p:txBody>
      </p:sp>
      <p:sp>
        <p:nvSpPr>
          <p:cNvPr id="51" name="Shape 49"/>
          <p:cNvSpPr/>
          <p:nvPr/>
        </p:nvSpPr>
        <p:spPr>
          <a:xfrm>
            <a:off x="7086600" y="1572768"/>
            <a:ext cx="4480560" cy="4617720"/>
          </a:xfrm>
          <a:prstGeom prst="roundRect">
            <a:avLst>
              <a:gd name="adj" fmla="val 1633"/>
            </a:avLst>
          </a:prstGeom>
          <a:solidFill>
            <a:srgbClr val="101A30"/>
          </a:solidFill>
          <a:ln w="16510">
            <a:solidFill>
              <a:srgbClr val="F5B942"/>
            </a:solidFill>
            <a:prstDash val="solid"/>
          </a:ln>
          <a:effectLst>
            <a:outerShdw sx="100000" sy="100000" kx="0" ky="0" algn="bl" rotWithShape="0" blurRad="101600" dist="38100" dir="5400000">
              <a:srgbClr val="000000">
                <a:alpha val="45000"/>
              </a:srgbClr>
            </a:outerShdw>
          </a:effectLst>
        </p:spPr>
      </p:sp>
      <p:sp>
        <p:nvSpPr>
          <p:cNvPr id="52" name="Text 50"/>
          <p:cNvSpPr/>
          <p:nvPr/>
        </p:nvSpPr>
        <p:spPr>
          <a:xfrm>
            <a:off x="7315200" y="1709928"/>
            <a:ext cx="4023360" cy="292608"/>
          </a:xfrm>
          <a:prstGeom prst="rect">
            <a:avLst/>
          </a:prstGeom>
          <a:noFill/>
          <a:ln/>
        </p:spPr>
        <p:txBody>
          <a:bodyPr wrap="square" rtlCol="0" anchor="ctr"/>
          <a:lstStyle/>
          <a:p>
            <a:pPr indent="0" marL="0">
              <a:buNone/>
            </a:pPr>
            <a:r>
              <a:rPr lang="en-US" sz="1200" b="1" spc="100" kern="0" dirty="0">
                <a:solidFill>
                  <a:srgbClr val="F5B942"/>
                </a:solidFill>
                <a:latin typeface="Calibri" pitchFamily="34" charset="0"/>
                <a:ea typeface="Calibri" pitchFamily="34" charset="-122"/>
                <a:cs typeface="Calibri" pitchFamily="34" charset="-120"/>
              </a:rPr>
              <a:t>MY UNDERSTANDING</a:t>
            </a:r>
            <a:endParaRPr lang="en-US" sz="1200" dirty="0"/>
          </a:p>
        </p:txBody>
      </p:sp>
      <p:sp>
        <p:nvSpPr>
          <p:cNvPr id="53" name="Shape 51"/>
          <p:cNvSpPr/>
          <p:nvPr/>
        </p:nvSpPr>
        <p:spPr>
          <a:xfrm>
            <a:off x="7351776" y="2130552"/>
            <a:ext cx="329184" cy="329184"/>
          </a:xfrm>
          <a:prstGeom prst="ellipse">
            <a:avLst/>
          </a:prstGeom>
          <a:solidFill>
            <a:srgbClr val="101A30"/>
          </a:solidFill>
          <a:ln w="19050">
            <a:solidFill>
              <a:srgbClr val="F5B942"/>
            </a:solidFill>
            <a:prstDash val="solid"/>
          </a:ln>
        </p:spPr>
      </p:sp>
      <p:sp>
        <p:nvSpPr>
          <p:cNvPr id="54" name="Text 52"/>
          <p:cNvSpPr/>
          <p:nvPr/>
        </p:nvSpPr>
        <p:spPr>
          <a:xfrm>
            <a:off x="7351776" y="2130552"/>
            <a:ext cx="329184" cy="329184"/>
          </a:xfrm>
          <a:prstGeom prst="rect">
            <a:avLst/>
          </a:prstGeom>
          <a:noFill/>
          <a:ln/>
        </p:spPr>
        <p:txBody>
          <a:bodyPr wrap="square" rtlCol="0" anchor="ctr"/>
          <a:lstStyle/>
          <a:p>
            <a:pPr algn="ctr" indent="0" marL="0">
              <a:buNone/>
            </a:pPr>
            <a:r>
              <a:rPr lang="en-US" sz="936" b="1" dirty="0">
                <a:solidFill>
                  <a:srgbClr val="F5B942"/>
                </a:solidFill>
                <a:latin typeface="Calibri" pitchFamily="34" charset="0"/>
                <a:ea typeface="Calibri" pitchFamily="34" charset="-122"/>
                <a:cs typeface="Calibri" pitchFamily="34" charset="-120"/>
              </a:rPr>
              <a:t>✓</a:t>
            </a:r>
            <a:endParaRPr lang="en-US" sz="936" dirty="0"/>
          </a:p>
        </p:txBody>
      </p:sp>
      <p:sp>
        <p:nvSpPr>
          <p:cNvPr id="55" name="Text 53"/>
          <p:cNvSpPr/>
          <p:nvPr/>
        </p:nvSpPr>
        <p:spPr>
          <a:xfrm>
            <a:off x="7772400" y="2075688"/>
            <a:ext cx="3566160" cy="497205"/>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Backend service validation ensures correct data flow between services.</a:t>
            </a:r>
            <a:endParaRPr lang="en-US" sz="1150" dirty="0"/>
          </a:p>
        </p:txBody>
      </p:sp>
      <p:sp>
        <p:nvSpPr>
          <p:cNvPr id="56" name="Shape 54"/>
          <p:cNvSpPr/>
          <p:nvPr/>
        </p:nvSpPr>
        <p:spPr>
          <a:xfrm>
            <a:off x="7351776" y="2627757"/>
            <a:ext cx="329184" cy="329184"/>
          </a:xfrm>
          <a:prstGeom prst="ellipse">
            <a:avLst/>
          </a:prstGeom>
          <a:solidFill>
            <a:srgbClr val="101A30"/>
          </a:solidFill>
          <a:ln w="19050">
            <a:solidFill>
              <a:srgbClr val="F5B942"/>
            </a:solidFill>
            <a:prstDash val="solid"/>
          </a:ln>
        </p:spPr>
      </p:sp>
      <p:sp>
        <p:nvSpPr>
          <p:cNvPr id="57" name="Text 55"/>
          <p:cNvSpPr/>
          <p:nvPr/>
        </p:nvSpPr>
        <p:spPr>
          <a:xfrm>
            <a:off x="7351776" y="2627757"/>
            <a:ext cx="329184" cy="329184"/>
          </a:xfrm>
          <a:prstGeom prst="rect">
            <a:avLst/>
          </a:prstGeom>
          <a:noFill/>
          <a:ln/>
        </p:spPr>
        <p:txBody>
          <a:bodyPr wrap="square" rtlCol="0" anchor="ctr"/>
          <a:lstStyle/>
          <a:p>
            <a:pPr algn="ctr" indent="0" marL="0">
              <a:buNone/>
            </a:pPr>
            <a:r>
              <a:rPr lang="en-US" sz="936" b="1" dirty="0">
                <a:solidFill>
                  <a:srgbClr val="F5B942"/>
                </a:solidFill>
                <a:latin typeface="Calibri" pitchFamily="34" charset="0"/>
                <a:ea typeface="Calibri" pitchFamily="34" charset="-122"/>
                <a:cs typeface="Calibri" pitchFamily="34" charset="-120"/>
              </a:rPr>
              <a:t>✓</a:t>
            </a:r>
            <a:endParaRPr lang="en-US" sz="936" dirty="0"/>
          </a:p>
        </p:txBody>
      </p:sp>
      <p:sp>
        <p:nvSpPr>
          <p:cNvPr id="58" name="Text 56"/>
          <p:cNvSpPr/>
          <p:nvPr/>
        </p:nvSpPr>
        <p:spPr>
          <a:xfrm>
            <a:off x="7772400" y="2572893"/>
            <a:ext cx="3566160" cy="497205"/>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Mapping documents define expected data.</a:t>
            </a:r>
            <a:endParaRPr lang="en-US" sz="1150" dirty="0"/>
          </a:p>
        </p:txBody>
      </p:sp>
      <p:sp>
        <p:nvSpPr>
          <p:cNvPr id="59" name="Shape 57"/>
          <p:cNvSpPr/>
          <p:nvPr/>
        </p:nvSpPr>
        <p:spPr>
          <a:xfrm>
            <a:off x="7351776" y="3124962"/>
            <a:ext cx="329184" cy="329184"/>
          </a:xfrm>
          <a:prstGeom prst="ellipse">
            <a:avLst/>
          </a:prstGeom>
          <a:solidFill>
            <a:srgbClr val="101A30"/>
          </a:solidFill>
          <a:ln w="19050">
            <a:solidFill>
              <a:srgbClr val="F5B942"/>
            </a:solidFill>
            <a:prstDash val="solid"/>
          </a:ln>
        </p:spPr>
      </p:sp>
      <p:sp>
        <p:nvSpPr>
          <p:cNvPr id="60" name="Text 58"/>
          <p:cNvSpPr/>
          <p:nvPr/>
        </p:nvSpPr>
        <p:spPr>
          <a:xfrm>
            <a:off x="7351776" y="3124962"/>
            <a:ext cx="329184" cy="329184"/>
          </a:xfrm>
          <a:prstGeom prst="rect">
            <a:avLst/>
          </a:prstGeom>
          <a:noFill/>
          <a:ln/>
        </p:spPr>
        <p:txBody>
          <a:bodyPr wrap="square" rtlCol="0" anchor="ctr"/>
          <a:lstStyle/>
          <a:p>
            <a:pPr algn="ctr" indent="0" marL="0">
              <a:buNone/>
            </a:pPr>
            <a:r>
              <a:rPr lang="en-US" sz="936" b="1" dirty="0">
                <a:solidFill>
                  <a:srgbClr val="F5B942"/>
                </a:solidFill>
                <a:latin typeface="Calibri" pitchFamily="34" charset="0"/>
                <a:ea typeface="Calibri" pitchFamily="34" charset="-122"/>
                <a:cs typeface="Calibri" pitchFamily="34" charset="-120"/>
              </a:rPr>
              <a:t>✓</a:t>
            </a:r>
            <a:endParaRPr lang="en-US" sz="936" dirty="0"/>
          </a:p>
        </p:txBody>
      </p:sp>
      <p:sp>
        <p:nvSpPr>
          <p:cNvPr id="61" name="Text 59"/>
          <p:cNvSpPr/>
          <p:nvPr/>
        </p:nvSpPr>
        <p:spPr>
          <a:xfrm>
            <a:off x="7772400" y="3070098"/>
            <a:ext cx="3566160" cy="497205"/>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Positive and negative validations ensure data quality.</a:t>
            </a:r>
            <a:endParaRPr lang="en-US" sz="1150" dirty="0"/>
          </a:p>
        </p:txBody>
      </p:sp>
      <p:sp>
        <p:nvSpPr>
          <p:cNvPr id="62" name="Shape 60"/>
          <p:cNvSpPr/>
          <p:nvPr/>
        </p:nvSpPr>
        <p:spPr>
          <a:xfrm>
            <a:off x="7351776" y="3622167"/>
            <a:ext cx="329184" cy="329184"/>
          </a:xfrm>
          <a:prstGeom prst="ellipse">
            <a:avLst/>
          </a:prstGeom>
          <a:solidFill>
            <a:srgbClr val="101A30"/>
          </a:solidFill>
          <a:ln w="19050">
            <a:solidFill>
              <a:srgbClr val="F5B942"/>
            </a:solidFill>
            <a:prstDash val="solid"/>
          </a:ln>
        </p:spPr>
      </p:sp>
      <p:sp>
        <p:nvSpPr>
          <p:cNvPr id="63" name="Text 61"/>
          <p:cNvSpPr/>
          <p:nvPr/>
        </p:nvSpPr>
        <p:spPr>
          <a:xfrm>
            <a:off x="7351776" y="3622167"/>
            <a:ext cx="329184" cy="329184"/>
          </a:xfrm>
          <a:prstGeom prst="rect">
            <a:avLst/>
          </a:prstGeom>
          <a:noFill/>
          <a:ln/>
        </p:spPr>
        <p:txBody>
          <a:bodyPr wrap="square" rtlCol="0" anchor="ctr"/>
          <a:lstStyle/>
          <a:p>
            <a:pPr algn="ctr" indent="0" marL="0">
              <a:buNone/>
            </a:pPr>
            <a:r>
              <a:rPr lang="en-US" sz="936" b="1" dirty="0">
                <a:solidFill>
                  <a:srgbClr val="F5B942"/>
                </a:solidFill>
                <a:latin typeface="Calibri" pitchFamily="34" charset="0"/>
                <a:ea typeface="Calibri" pitchFamily="34" charset="-122"/>
                <a:cs typeface="Calibri" pitchFamily="34" charset="-120"/>
              </a:rPr>
              <a:t>✓</a:t>
            </a:r>
            <a:endParaRPr lang="en-US" sz="936" dirty="0"/>
          </a:p>
        </p:txBody>
      </p:sp>
      <p:sp>
        <p:nvSpPr>
          <p:cNvPr id="64" name="Text 62"/>
          <p:cNvSpPr/>
          <p:nvPr/>
        </p:nvSpPr>
        <p:spPr>
          <a:xfrm>
            <a:off x="7772400" y="3567303"/>
            <a:ext cx="3566160" cy="497205"/>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Playwright automates UI scenarios; POM improves maintainability.</a:t>
            </a:r>
            <a:endParaRPr lang="en-US" sz="1150" dirty="0"/>
          </a:p>
        </p:txBody>
      </p:sp>
      <p:sp>
        <p:nvSpPr>
          <p:cNvPr id="65" name="Shape 63"/>
          <p:cNvSpPr/>
          <p:nvPr/>
        </p:nvSpPr>
        <p:spPr>
          <a:xfrm>
            <a:off x="7351776" y="4119372"/>
            <a:ext cx="329184" cy="329184"/>
          </a:xfrm>
          <a:prstGeom prst="ellipse">
            <a:avLst/>
          </a:prstGeom>
          <a:solidFill>
            <a:srgbClr val="101A30"/>
          </a:solidFill>
          <a:ln w="19050">
            <a:solidFill>
              <a:srgbClr val="F5B942"/>
            </a:solidFill>
            <a:prstDash val="solid"/>
          </a:ln>
        </p:spPr>
      </p:sp>
      <p:sp>
        <p:nvSpPr>
          <p:cNvPr id="66" name="Text 64"/>
          <p:cNvSpPr/>
          <p:nvPr/>
        </p:nvSpPr>
        <p:spPr>
          <a:xfrm>
            <a:off x="7351776" y="4119372"/>
            <a:ext cx="329184" cy="329184"/>
          </a:xfrm>
          <a:prstGeom prst="rect">
            <a:avLst/>
          </a:prstGeom>
          <a:noFill/>
          <a:ln/>
        </p:spPr>
        <p:txBody>
          <a:bodyPr wrap="square" rtlCol="0" anchor="ctr"/>
          <a:lstStyle/>
          <a:p>
            <a:pPr algn="ctr" indent="0" marL="0">
              <a:buNone/>
            </a:pPr>
            <a:r>
              <a:rPr lang="en-US" sz="936" b="1" dirty="0">
                <a:solidFill>
                  <a:srgbClr val="F5B942"/>
                </a:solidFill>
                <a:latin typeface="Calibri" pitchFamily="34" charset="0"/>
                <a:ea typeface="Calibri" pitchFamily="34" charset="-122"/>
                <a:cs typeface="Calibri" pitchFamily="34" charset="-120"/>
              </a:rPr>
              <a:t>✓</a:t>
            </a:r>
            <a:endParaRPr lang="en-US" sz="936" dirty="0"/>
          </a:p>
        </p:txBody>
      </p:sp>
      <p:sp>
        <p:nvSpPr>
          <p:cNvPr id="67" name="Text 65"/>
          <p:cNvSpPr/>
          <p:nvPr/>
        </p:nvSpPr>
        <p:spPr>
          <a:xfrm>
            <a:off x="7772400" y="4064508"/>
            <a:ext cx="3566160" cy="497205"/>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Reports help identify failures quickly.</a:t>
            </a:r>
            <a:endParaRPr lang="en-US" sz="1150" dirty="0"/>
          </a:p>
        </p:txBody>
      </p:sp>
      <p:sp>
        <p:nvSpPr>
          <p:cNvPr id="68" name="Shape 66"/>
          <p:cNvSpPr/>
          <p:nvPr/>
        </p:nvSpPr>
        <p:spPr>
          <a:xfrm>
            <a:off x="7351776" y="4616577"/>
            <a:ext cx="329184" cy="329184"/>
          </a:xfrm>
          <a:prstGeom prst="ellipse">
            <a:avLst/>
          </a:prstGeom>
          <a:solidFill>
            <a:srgbClr val="101A30"/>
          </a:solidFill>
          <a:ln w="19050">
            <a:solidFill>
              <a:srgbClr val="F5B942"/>
            </a:solidFill>
            <a:prstDash val="solid"/>
          </a:ln>
        </p:spPr>
      </p:sp>
      <p:sp>
        <p:nvSpPr>
          <p:cNvPr id="69" name="Text 67"/>
          <p:cNvSpPr/>
          <p:nvPr/>
        </p:nvSpPr>
        <p:spPr>
          <a:xfrm>
            <a:off x="7351776" y="4616577"/>
            <a:ext cx="329184" cy="329184"/>
          </a:xfrm>
          <a:prstGeom prst="rect">
            <a:avLst/>
          </a:prstGeom>
          <a:noFill/>
          <a:ln/>
        </p:spPr>
        <p:txBody>
          <a:bodyPr wrap="square" rtlCol="0" anchor="ctr"/>
          <a:lstStyle/>
          <a:p>
            <a:pPr algn="ctr" indent="0" marL="0">
              <a:buNone/>
            </a:pPr>
            <a:r>
              <a:rPr lang="en-US" sz="936" b="1" dirty="0">
                <a:solidFill>
                  <a:srgbClr val="F5B942"/>
                </a:solidFill>
                <a:latin typeface="Calibri" pitchFamily="34" charset="0"/>
                <a:ea typeface="Calibri" pitchFamily="34" charset="-122"/>
                <a:cs typeface="Calibri" pitchFamily="34" charset="-120"/>
              </a:rPr>
              <a:t>✓</a:t>
            </a:r>
            <a:endParaRPr lang="en-US" sz="936" dirty="0"/>
          </a:p>
        </p:txBody>
      </p:sp>
      <p:sp>
        <p:nvSpPr>
          <p:cNvPr id="70" name="Text 68"/>
          <p:cNvSpPr/>
          <p:nvPr/>
        </p:nvSpPr>
        <p:spPr>
          <a:xfrm>
            <a:off x="7772400" y="4561713"/>
            <a:ext cx="3566160" cy="497205"/>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AI agents can support mapping/XML validation.</a:t>
            </a:r>
            <a:endParaRPr lang="en-US" sz="1150" dirty="0"/>
          </a:p>
        </p:txBody>
      </p:sp>
      <p:sp>
        <p:nvSpPr>
          <p:cNvPr id="71" name="Shape 69"/>
          <p:cNvSpPr/>
          <p:nvPr/>
        </p:nvSpPr>
        <p:spPr>
          <a:xfrm>
            <a:off x="7351776" y="5113782"/>
            <a:ext cx="329184" cy="329184"/>
          </a:xfrm>
          <a:prstGeom prst="ellipse">
            <a:avLst/>
          </a:prstGeom>
          <a:solidFill>
            <a:srgbClr val="101A30"/>
          </a:solidFill>
          <a:ln w="19050">
            <a:solidFill>
              <a:srgbClr val="F5B942"/>
            </a:solidFill>
            <a:prstDash val="solid"/>
          </a:ln>
        </p:spPr>
      </p:sp>
      <p:sp>
        <p:nvSpPr>
          <p:cNvPr id="72" name="Text 70"/>
          <p:cNvSpPr/>
          <p:nvPr/>
        </p:nvSpPr>
        <p:spPr>
          <a:xfrm>
            <a:off x="7351776" y="5113782"/>
            <a:ext cx="329184" cy="329184"/>
          </a:xfrm>
          <a:prstGeom prst="rect">
            <a:avLst/>
          </a:prstGeom>
          <a:noFill/>
          <a:ln/>
        </p:spPr>
        <p:txBody>
          <a:bodyPr wrap="square" rtlCol="0" anchor="ctr"/>
          <a:lstStyle/>
          <a:p>
            <a:pPr algn="ctr" indent="0" marL="0">
              <a:buNone/>
            </a:pPr>
            <a:r>
              <a:rPr lang="en-US" sz="936" b="1" dirty="0">
                <a:solidFill>
                  <a:srgbClr val="F5B942"/>
                </a:solidFill>
                <a:latin typeface="Calibri" pitchFamily="34" charset="0"/>
                <a:ea typeface="Calibri" pitchFamily="34" charset="-122"/>
                <a:cs typeface="Calibri" pitchFamily="34" charset="-120"/>
              </a:rPr>
              <a:t>✓</a:t>
            </a:r>
            <a:endParaRPr lang="en-US" sz="936" dirty="0"/>
          </a:p>
        </p:txBody>
      </p:sp>
      <p:sp>
        <p:nvSpPr>
          <p:cNvPr id="73" name="Text 71"/>
          <p:cNvSpPr/>
          <p:nvPr/>
        </p:nvSpPr>
        <p:spPr>
          <a:xfrm>
            <a:off x="7772400" y="5058918"/>
            <a:ext cx="3566160" cy="497205"/>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AI assists mapping / JSON / XML field comparison.</a:t>
            </a:r>
            <a:endParaRPr lang="en-US" sz="1150" dirty="0"/>
          </a:p>
        </p:txBody>
      </p:sp>
      <p:sp>
        <p:nvSpPr>
          <p:cNvPr id="74" name="Shape 72"/>
          <p:cNvSpPr/>
          <p:nvPr/>
        </p:nvSpPr>
        <p:spPr>
          <a:xfrm>
            <a:off x="7351776" y="5610987"/>
            <a:ext cx="329184" cy="329184"/>
          </a:xfrm>
          <a:prstGeom prst="ellipse">
            <a:avLst/>
          </a:prstGeom>
          <a:solidFill>
            <a:srgbClr val="101A30"/>
          </a:solidFill>
          <a:ln w="19050">
            <a:solidFill>
              <a:srgbClr val="F5B942"/>
            </a:solidFill>
            <a:prstDash val="solid"/>
          </a:ln>
        </p:spPr>
      </p:sp>
      <p:sp>
        <p:nvSpPr>
          <p:cNvPr id="75" name="Text 73"/>
          <p:cNvSpPr/>
          <p:nvPr/>
        </p:nvSpPr>
        <p:spPr>
          <a:xfrm>
            <a:off x="7351776" y="5610987"/>
            <a:ext cx="329184" cy="329184"/>
          </a:xfrm>
          <a:prstGeom prst="rect">
            <a:avLst/>
          </a:prstGeom>
          <a:noFill/>
          <a:ln/>
        </p:spPr>
        <p:txBody>
          <a:bodyPr wrap="square" rtlCol="0" anchor="ctr"/>
          <a:lstStyle/>
          <a:p>
            <a:pPr algn="ctr" indent="0" marL="0">
              <a:buNone/>
            </a:pPr>
            <a:r>
              <a:rPr lang="en-US" sz="936" b="1" dirty="0">
                <a:solidFill>
                  <a:srgbClr val="F5B942"/>
                </a:solidFill>
                <a:latin typeface="Calibri" pitchFamily="34" charset="0"/>
                <a:ea typeface="Calibri" pitchFamily="34" charset="-122"/>
                <a:cs typeface="Calibri" pitchFamily="34" charset="-120"/>
              </a:rPr>
              <a:t>✓</a:t>
            </a:r>
            <a:endParaRPr lang="en-US" sz="936" dirty="0"/>
          </a:p>
        </p:txBody>
      </p:sp>
      <p:sp>
        <p:nvSpPr>
          <p:cNvPr id="76" name="Text 74"/>
          <p:cNvSpPr/>
          <p:nvPr/>
        </p:nvSpPr>
        <p:spPr>
          <a:xfrm>
            <a:off x="7772400" y="5556123"/>
            <a:ext cx="3566160" cy="497205"/>
          </a:xfrm>
          <a:prstGeom prst="rect">
            <a:avLst/>
          </a:prstGeom>
          <a:noFill/>
          <a:ln/>
        </p:spPr>
        <p:txBody>
          <a:bodyPr wrap="square" rtlCol="0" anchor="ctr"/>
          <a:lstStyle/>
          <a:p>
            <a:pPr indent="0" marL="0">
              <a:lnSpc>
                <a:spcPct val="110000"/>
              </a:lnSpc>
              <a:buNone/>
            </a:pPr>
            <a:r>
              <a:rPr lang="en-US" sz="1150" dirty="0">
                <a:solidFill>
                  <a:srgbClr val="F3F6FB"/>
                </a:solidFill>
                <a:latin typeface="Calibri" pitchFamily="34" charset="0"/>
                <a:ea typeface="Calibri" pitchFamily="34" charset="-122"/>
                <a:cs typeface="Calibri" pitchFamily="34" charset="-120"/>
              </a:rPr>
              <a:t>Tester reviews AI-generated validation results.</a:t>
            </a:r>
            <a:endParaRPr lang="en-US" sz="1150" dirty="0"/>
          </a:p>
        </p:txBody>
      </p:sp>
      <p:sp>
        <p:nvSpPr>
          <p:cNvPr id="77" name="Text 75"/>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78" name="Text 76"/>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79" name="Text 77"/>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7863840" y="-2194560"/>
            <a:ext cx="6400800" cy="6400800"/>
          </a:xfrm>
          <a:prstGeom prst="ellipse">
            <a:avLst/>
          </a:prstGeom>
          <a:solidFill>
            <a:srgbClr val="B18CF5">
              <a:alpha val="10000"/>
            </a:srgbClr>
          </a:solidFill>
          <a:ln/>
        </p:spPr>
      </p:sp>
      <p:sp>
        <p:nvSpPr>
          <p:cNvPr id="3" name="Shape 1"/>
          <p:cNvSpPr/>
          <p:nvPr/>
        </p:nvSpPr>
        <p:spPr>
          <a:xfrm>
            <a:off x="-2377440" y="3291840"/>
            <a:ext cx="5486400" cy="5486400"/>
          </a:xfrm>
          <a:prstGeom prst="ellipse">
            <a:avLst/>
          </a:prstGeom>
          <a:solidFill>
            <a:srgbClr val="2DD4BF">
              <a:alpha val="9000"/>
            </a:srgbClr>
          </a:solidFill>
          <a:ln/>
        </p:spPr>
      </p:sp>
      <p:sp>
        <p:nvSpPr>
          <p:cNvPr id="4" name="Shape 2"/>
          <p:cNvSpPr/>
          <p:nvPr/>
        </p:nvSpPr>
        <p:spPr>
          <a:xfrm>
            <a:off x="9692640" y="4206240"/>
            <a:ext cx="3657600" cy="3657600"/>
          </a:xfrm>
          <a:prstGeom prst="ellipse">
            <a:avLst/>
          </a:prstGeom>
          <a:solidFill>
            <a:srgbClr val="5FA8F5">
              <a:alpha val="10000"/>
            </a:srgbClr>
          </a:solidFill>
          <a:ln/>
        </p:spPr>
      </p:sp>
      <p:sp>
        <p:nvSpPr>
          <p:cNvPr id="5" name="Text 3"/>
          <p:cNvSpPr/>
          <p:nvPr/>
        </p:nvSpPr>
        <p:spPr>
          <a:xfrm>
            <a:off x="457200" y="2423160"/>
            <a:ext cx="11247120" cy="365760"/>
          </a:xfrm>
          <a:prstGeom prst="rect">
            <a:avLst/>
          </a:prstGeom>
          <a:noFill/>
          <a:ln/>
        </p:spPr>
        <p:txBody>
          <a:bodyPr wrap="square" rtlCol="0" anchor="ctr"/>
          <a:lstStyle/>
          <a:p>
            <a:pPr algn="ctr" indent="0" marL="0">
              <a:buNone/>
            </a:pPr>
            <a:r>
              <a:rPr lang="en-US" sz="1300" b="1" spc="300" kern="0" dirty="0">
                <a:solidFill>
                  <a:srgbClr val="2DD4BF"/>
                </a:solidFill>
                <a:latin typeface="Calibri" pitchFamily="34" charset="0"/>
                <a:ea typeface="Calibri" pitchFamily="34" charset="-122"/>
                <a:cs typeface="Calibri" pitchFamily="34" charset="-120"/>
              </a:rPr>
              <a:t>GI PRICING  •  REVERSE KNOWLEDGE TRANSFER</a:t>
            </a:r>
            <a:endParaRPr lang="en-US" sz="1300" dirty="0"/>
          </a:p>
        </p:txBody>
      </p:sp>
      <p:sp>
        <p:nvSpPr>
          <p:cNvPr id="6" name="Text 4"/>
          <p:cNvSpPr/>
          <p:nvPr/>
        </p:nvSpPr>
        <p:spPr>
          <a:xfrm>
            <a:off x="457200" y="2788920"/>
            <a:ext cx="11247120" cy="1097280"/>
          </a:xfrm>
          <a:prstGeom prst="rect">
            <a:avLst/>
          </a:prstGeom>
          <a:noFill/>
          <a:ln/>
        </p:spPr>
        <p:txBody>
          <a:bodyPr wrap="square" rtlCol="0" anchor="ctr"/>
          <a:lstStyle/>
          <a:p>
            <a:pPr algn="ctr" indent="0" marL="0">
              <a:buNone/>
            </a:pPr>
            <a:r>
              <a:rPr lang="en-US" sz="5400" b="1" dirty="0">
                <a:solidFill>
                  <a:srgbClr val="F3F6FB"/>
                </a:solidFill>
                <a:latin typeface="Cambria" pitchFamily="34" charset="0"/>
                <a:ea typeface="Cambria" pitchFamily="34" charset="-122"/>
                <a:cs typeface="Cambria" pitchFamily="34" charset="-120"/>
              </a:rPr>
              <a:t>Thank You</a:t>
            </a:r>
            <a:endParaRPr lang="en-US" sz="5400" dirty="0"/>
          </a:p>
        </p:txBody>
      </p:sp>
      <p:sp>
        <p:nvSpPr>
          <p:cNvPr id="7" name="Shape 5"/>
          <p:cNvSpPr/>
          <p:nvPr/>
        </p:nvSpPr>
        <p:spPr>
          <a:xfrm>
            <a:off x="5367528" y="3977640"/>
            <a:ext cx="1463040" cy="0"/>
          </a:xfrm>
          <a:prstGeom prst="line">
            <a:avLst/>
          </a:prstGeom>
          <a:noFill/>
          <a:ln w="19050">
            <a:solidFill>
              <a:srgbClr val="26324E"/>
            </a:solidFill>
            <a:prstDash val="solid"/>
          </a:ln>
        </p:spPr>
      </p:sp>
      <p:sp>
        <p:nvSpPr>
          <p:cNvPr id="8" name="Shape 6"/>
          <p:cNvSpPr/>
          <p:nvPr/>
        </p:nvSpPr>
        <p:spPr>
          <a:xfrm>
            <a:off x="2619756" y="5074920"/>
            <a:ext cx="128016" cy="128016"/>
          </a:xfrm>
          <a:prstGeom prst="roundRect">
            <a:avLst>
              <a:gd name="adj" fmla="val 50000"/>
            </a:avLst>
          </a:prstGeom>
          <a:solidFill>
            <a:srgbClr val="5FA8F5"/>
          </a:solidFill>
          <a:ln/>
        </p:spPr>
      </p:sp>
      <p:sp>
        <p:nvSpPr>
          <p:cNvPr id="9" name="Text 7"/>
          <p:cNvSpPr/>
          <p:nvPr/>
        </p:nvSpPr>
        <p:spPr>
          <a:xfrm>
            <a:off x="2839212" y="5001768"/>
            <a:ext cx="1463040" cy="274320"/>
          </a:xfrm>
          <a:prstGeom prst="rect">
            <a:avLst/>
          </a:prstGeom>
          <a:noFill/>
          <a:ln/>
        </p:spPr>
        <p:txBody>
          <a:bodyPr wrap="square" rtlCol="0" anchor="ctr"/>
          <a:lstStyle/>
          <a:p>
            <a:pPr indent="0" marL="0">
              <a:buNone/>
            </a:pPr>
            <a:r>
              <a:rPr lang="en-US" sz="950" spc="100" kern="0" dirty="0">
                <a:solidFill>
                  <a:srgbClr val="97A3BE"/>
                </a:solidFill>
                <a:latin typeface="Calibri" pitchFamily="34" charset="0"/>
                <a:ea typeface="Calibri" pitchFamily="34" charset="-122"/>
                <a:cs typeface="Calibri" pitchFamily="34" charset="-120"/>
              </a:rPr>
              <a:t>LV LEGACY</a:t>
            </a:r>
            <a:endParaRPr lang="en-US" sz="950" dirty="0"/>
          </a:p>
        </p:txBody>
      </p:sp>
      <p:sp>
        <p:nvSpPr>
          <p:cNvPr id="10" name="Shape 8"/>
          <p:cNvSpPr/>
          <p:nvPr/>
        </p:nvSpPr>
        <p:spPr>
          <a:xfrm>
            <a:off x="4357116" y="5074920"/>
            <a:ext cx="128016" cy="128016"/>
          </a:xfrm>
          <a:prstGeom prst="roundRect">
            <a:avLst>
              <a:gd name="adj" fmla="val 50000"/>
            </a:avLst>
          </a:prstGeom>
          <a:solidFill>
            <a:srgbClr val="2DD4BF"/>
          </a:solidFill>
          <a:ln/>
        </p:spPr>
      </p:sp>
      <p:sp>
        <p:nvSpPr>
          <p:cNvPr id="11" name="Text 9"/>
          <p:cNvSpPr/>
          <p:nvPr/>
        </p:nvSpPr>
        <p:spPr>
          <a:xfrm>
            <a:off x="4576572" y="5001768"/>
            <a:ext cx="1463040" cy="274320"/>
          </a:xfrm>
          <a:prstGeom prst="rect">
            <a:avLst/>
          </a:prstGeom>
          <a:noFill/>
          <a:ln/>
        </p:spPr>
        <p:txBody>
          <a:bodyPr wrap="square" rtlCol="0" anchor="ctr"/>
          <a:lstStyle/>
          <a:p>
            <a:pPr indent="0" marL="0">
              <a:buNone/>
            </a:pPr>
            <a:r>
              <a:rPr lang="en-US" sz="950" spc="100" kern="0" dirty="0">
                <a:solidFill>
                  <a:srgbClr val="97A3BE"/>
                </a:solidFill>
                <a:latin typeface="Calibri" pitchFamily="34" charset="0"/>
                <a:ea typeface="Calibri" pitchFamily="34" charset="-122"/>
                <a:cs typeface="Calibri" pitchFamily="34" charset="-120"/>
              </a:rPr>
              <a:t>ALLIANZ HOME</a:t>
            </a:r>
            <a:endParaRPr lang="en-US" sz="950" dirty="0"/>
          </a:p>
        </p:txBody>
      </p:sp>
      <p:sp>
        <p:nvSpPr>
          <p:cNvPr id="12" name="Shape 10"/>
          <p:cNvSpPr/>
          <p:nvPr/>
        </p:nvSpPr>
        <p:spPr>
          <a:xfrm>
            <a:off x="6094476" y="5074920"/>
            <a:ext cx="128016" cy="128016"/>
          </a:xfrm>
          <a:prstGeom prst="roundRect">
            <a:avLst>
              <a:gd name="adj" fmla="val 50000"/>
            </a:avLst>
          </a:prstGeom>
          <a:solidFill>
            <a:srgbClr val="FB923C"/>
          </a:solidFill>
          <a:ln/>
        </p:spPr>
      </p:sp>
      <p:sp>
        <p:nvSpPr>
          <p:cNvPr id="13" name="Text 11"/>
          <p:cNvSpPr/>
          <p:nvPr/>
        </p:nvSpPr>
        <p:spPr>
          <a:xfrm>
            <a:off x="6313932" y="5001768"/>
            <a:ext cx="1463040" cy="274320"/>
          </a:xfrm>
          <a:prstGeom prst="rect">
            <a:avLst/>
          </a:prstGeom>
          <a:noFill/>
          <a:ln/>
        </p:spPr>
        <p:txBody>
          <a:bodyPr wrap="square" rtlCol="0" anchor="ctr"/>
          <a:lstStyle/>
          <a:p>
            <a:pPr indent="0" marL="0">
              <a:buNone/>
            </a:pPr>
            <a:r>
              <a:rPr lang="en-US" sz="950" spc="100" kern="0" dirty="0">
                <a:solidFill>
                  <a:srgbClr val="97A3BE"/>
                </a:solidFill>
                <a:latin typeface="Calibri" pitchFamily="34" charset="0"/>
                <a:ea typeface="Calibri" pitchFamily="34" charset="-122"/>
                <a:cs typeface="Calibri" pitchFamily="34" charset="-120"/>
              </a:rPr>
              <a:t>ALLIANZ MOTOR</a:t>
            </a:r>
            <a:endParaRPr lang="en-US" sz="950" dirty="0"/>
          </a:p>
        </p:txBody>
      </p:sp>
      <p:sp>
        <p:nvSpPr>
          <p:cNvPr id="14" name="Shape 12"/>
          <p:cNvSpPr/>
          <p:nvPr/>
        </p:nvSpPr>
        <p:spPr>
          <a:xfrm>
            <a:off x="7831836" y="5074920"/>
            <a:ext cx="128016" cy="128016"/>
          </a:xfrm>
          <a:prstGeom prst="roundRect">
            <a:avLst>
              <a:gd name="adj" fmla="val 50000"/>
            </a:avLst>
          </a:prstGeom>
          <a:solidFill>
            <a:srgbClr val="B18CF5"/>
          </a:solidFill>
          <a:ln/>
        </p:spPr>
      </p:sp>
      <p:sp>
        <p:nvSpPr>
          <p:cNvPr id="15" name="Text 13"/>
          <p:cNvSpPr/>
          <p:nvPr/>
        </p:nvSpPr>
        <p:spPr>
          <a:xfrm>
            <a:off x="8051292" y="5001768"/>
            <a:ext cx="1463040" cy="274320"/>
          </a:xfrm>
          <a:prstGeom prst="rect">
            <a:avLst/>
          </a:prstGeom>
          <a:noFill/>
          <a:ln/>
        </p:spPr>
        <p:txBody>
          <a:bodyPr wrap="square" rtlCol="0" anchor="ctr"/>
          <a:lstStyle/>
          <a:p>
            <a:pPr indent="0" marL="0">
              <a:buNone/>
            </a:pPr>
            <a:r>
              <a:rPr lang="en-US" sz="950" spc="100" kern="0" dirty="0">
                <a:solidFill>
                  <a:srgbClr val="97A3BE"/>
                </a:solidFill>
                <a:latin typeface="Calibri" pitchFamily="34" charset="0"/>
                <a:ea typeface="Calibri" pitchFamily="34" charset="-122"/>
                <a:cs typeface="Calibri" pitchFamily="34" charset="-120"/>
              </a:rPr>
              <a:t>AUTOMATION &amp; AI</a:t>
            </a:r>
            <a:endParaRPr lang="en-US" sz="950" dirty="0"/>
          </a:p>
        </p:txBody>
      </p:sp>
      <p:sp>
        <p:nvSpPr>
          <p:cNvPr id="16" name="Text 14"/>
          <p:cNvSpPr/>
          <p:nvPr/>
        </p:nvSpPr>
        <p:spPr>
          <a:xfrm>
            <a:off x="457200" y="6519672"/>
            <a:ext cx="5486400" cy="274320"/>
          </a:xfrm>
          <a:prstGeom prst="rect">
            <a:avLst/>
          </a:prstGeom>
          <a:noFill/>
          <a:ln/>
        </p:spPr>
        <p:txBody>
          <a:bodyPr wrap="square" rtlCol="0" anchor="ctr"/>
          <a:lstStyle/>
          <a:p>
            <a:pPr algn="l" indent="0" marL="0">
              <a:buNone/>
            </a:pPr>
            <a:r>
              <a:rPr lang="en-US" sz="900" spc="200" kern="0" dirty="0">
                <a:solidFill>
                  <a:srgbClr val="6B7690"/>
                </a:solidFill>
                <a:latin typeface="Calibri" pitchFamily="34" charset="0"/>
                <a:ea typeface="Calibri" pitchFamily="34" charset="-122"/>
                <a:cs typeface="Calibri" pitchFamily="34" charset="-120"/>
              </a:rPr>
              <a:t>AUTOMATION &amp; AI</a:t>
            </a:r>
            <a:endParaRPr lang="en-US" sz="900" dirty="0"/>
          </a:p>
        </p:txBody>
      </p:sp>
      <p:sp>
        <p:nvSpPr>
          <p:cNvPr id="17" name="Text 15"/>
          <p:cNvSpPr/>
          <p:nvPr/>
        </p:nvSpPr>
        <p:spPr>
          <a:xfrm>
            <a:off x="5029200" y="6519672"/>
            <a:ext cx="3931920" cy="274320"/>
          </a:xfrm>
          <a:prstGeom prst="rect">
            <a:avLst/>
          </a:prstGeom>
          <a:noFill/>
          <a:ln/>
        </p:spPr>
        <p:txBody>
          <a:bodyPr wrap="square" rtlCol="0" anchor="ctr"/>
          <a:lstStyle/>
          <a:p>
            <a:pPr algn="ctr" indent="0" marL="0">
              <a:buNone/>
            </a:pPr>
            <a:r>
              <a:rPr lang="en-US" sz="900" spc="100" kern="0" dirty="0">
                <a:solidFill>
                  <a:srgbClr val="6B7690"/>
                </a:solidFill>
                <a:latin typeface="Calibri" pitchFamily="34" charset="0"/>
                <a:ea typeface="Calibri" pitchFamily="34" charset="-122"/>
                <a:cs typeface="Calibri" pitchFamily="34" charset="-120"/>
              </a:rPr>
              <a:t>ALLIANZ GI PRICING — REVERSE KT</a:t>
            </a:r>
            <a:endParaRPr lang="en-US" sz="900" dirty="0"/>
          </a:p>
        </p:txBody>
      </p:sp>
      <p:sp>
        <p:nvSpPr>
          <p:cNvPr id="18" name="Text 16"/>
          <p:cNvSpPr/>
          <p:nvPr/>
        </p:nvSpPr>
        <p:spPr>
          <a:xfrm>
            <a:off x="11247120" y="6519672"/>
            <a:ext cx="548640" cy="274320"/>
          </a:xfrm>
          <a:prstGeom prst="rect">
            <a:avLst/>
          </a:prstGeom>
          <a:noFill/>
          <a:ln/>
        </p:spPr>
        <p:txBody>
          <a:bodyPr wrap="square" rtlCol="0" anchor="ctr"/>
          <a:lstStyle/>
          <a:p>
            <a:pPr algn="r" indent="0" marL="0">
              <a:buNone/>
            </a:pPr>
            <a:r>
              <a:rPr lang="en-US" sz="900" dirty="0">
                <a:solidFill>
                  <a:srgbClr val="6B7690"/>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Allianz UK Insurance — GI Pricing Reverse KT</dc:title>
  <dc:subject>PptxGenJS Presentation</dc:subject>
  <dc:creator>GI Pricing Test Team</dc:creator>
  <cp:lastModifiedBy>GI Pricing Test Team</cp:lastModifiedBy>
  <cp:revision>1</cp:revision>
  <dcterms:created xsi:type="dcterms:W3CDTF">2026-08-25T14:21:34Z</dcterms:created>
  <dcterms:modified xsi:type="dcterms:W3CDTF">2026-08-25T14:21:34Z</dcterms:modified>
</cp:coreProperties>
</file>